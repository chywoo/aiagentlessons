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Lst>
  <p:sldSz cx="12191999" cy="6858000" type="screen4x3"/>
  <p:notesSz cx="6858000" cy="9144000"/>
  <p:custShowLst>
    <p:custShow name="60분 핵심 15장" id="1">
      <p:sldLst>
        <p:sld r:id="rId7"/>
        <p:sld r:id="rId9"/>
        <p:sld r:id="rId12"/>
        <p:sld r:id="rId15"/>
        <p:sld r:id="rId18"/>
        <p:sld r:id="rId21"/>
        <p:sld r:id="rId28"/>
        <p:sld r:id="rId31"/>
        <p:sld r:id="rId36"/>
        <p:sld r:id="rId39"/>
        <p:sld r:id="rId41"/>
        <p:sld r:id="rId50"/>
        <p:sld r:id="rId55"/>
        <p:sld r:id="rId62"/>
        <p:sld r:id="rId66"/>
      </p:sldLst>
    </p:custShow>
    <p:custShow name="1회차 원리와 구조" id="2">
      <p:sldLst>
        <p:sld r:id="rId7"/>
        <p:sld r:id="rId8"/>
        <p:sld r:id="rId9"/>
        <p:sld r:id="rId10"/>
        <p:sld r:id="rId11"/>
        <p:sld r:id="rId12"/>
        <p:sld r:id="rId13"/>
        <p:sld r:id="rId14"/>
        <p:sld r:id="rId15"/>
        <p:sld r:id="rId16"/>
        <p:sld r:id="rId17"/>
        <p:sld r:id="rId18"/>
        <p:sld r:id="rId19"/>
        <p:sld r:id="rId20"/>
        <p:sld r:id="rId21"/>
        <p:sld r:id="rId22"/>
        <p:sld r:id="rId23"/>
        <p:sld r:id="rId24"/>
        <p:sld r:id="rId25"/>
        <p:sld r:id="rId26"/>
      </p:sldLst>
    </p:custShow>
    <p:custShow name="2회차 근거와 복구" id="3">
      <p:sldLst>
        <p:sld r:id="rId27"/>
        <p:sld r:id="rId28"/>
        <p:sld r:id="rId29"/>
        <p:sld r:id="rId30"/>
        <p:sld r:id="rId31"/>
        <p:sld r:id="rId32"/>
        <p:sld r:id="rId33"/>
        <p:sld r:id="rId34"/>
        <p:sld r:id="rId35"/>
        <p:sld r:id="rId36"/>
        <p:sld r:id="rId37"/>
        <p:sld r:id="rId38"/>
        <p:sld r:id="rId39"/>
        <p:sld r:id="rId40"/>
        <p:sld r:id="rId41"/>
        <p:sld r:id="rId42"/>
        <p:sld r:id="rId43"/>
        <p:sld r:id="rId44"/>
        <p:sld r:id="rId45"/>
        <p:sld r:id="rId46"/>
      </p:sldLst>
    </p:custShow>
    <p:custShow name="3회차 검증과 운영" id="4">
      <p:sldLst>
        <p:sld r:id="rId47"/>
        <p:sld r:id="rId48"/>
        <p:sld r:id="rId49"/>
        <p:sld r:id="rId50"/>
        <p:sld r:id="rId51"/>
        <p:sld r:id="rId52"/>
        <p:sld r:id="rId53"/>
        <p:sld r:id="rId54"/>
        <p:sld r:id="rId55"/>
        <p:sld r:id="rId56"/>
        <p:sld r:id="rId57"/>
        <p:sld r:id="rId58"/>
        <p:sld r:id="rId59"/>
        <p:sld r:id="rId60"/>
        <p:sld r:id="rId61"/>
        <p:sld r:id="rId62"/>
        <p:sld r:id="rId63"/>
        <p:sld r:id="rId64"/>
        <p:sld r:id="rId65"/>
        <p:sld r:id="rId66"/>
      </p:sldLst>
    </p:custShow>
  </p:custShow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1 | AI Agent 개발 교육</a:t>
            </a:r>
          </a:p>
          <a:p>
            <a:r>
              <a:t>공통 개념: C01–C12 / Summary와 동일한 C ID</a:t>
            </a:r>
          </a:p>
          <a:p/>
          <a:p>
            <a:r>
              <a:t>[설명 의도]</a:t>
            </a:r>
          </a:p>
          <a:p>
            <a:r>
              <a:t>상태·도구·근거·승인·복구를 갖춘 Workflow를 설계하고 검증한다.</a:t>
            </a:r>
          </a:p>
          <a:p/>
          <a:p>
            <a:r>
              <a:t>[말로 풀어 줄 내용]</a:t>
            </a:r>
          </a:p>
          <a:p>
            <a:r>
              <a:t>청중은 Python과 HTTP API를 읽을 수 있는 개발자다. 모델 학습 수학 대신 Backend 개발자가 통제할 경계에 집중한다. 2시간씩 3회, 본문 60장과 선택 부록 12장이다. 60분 세미나는 표시된 핵심 15장을 이용한다. 실습은 별도 패키지의 Fake 모드로 진행한다.</a:t>
            </a:r>
          </a:p>
          <a:p/>
          <a:p>
            <a:r>
              <a:t>[예상 질문 / 토론]</a:t>
            </a:r>
          </a:p>
          <a:p>
            <a:r>
              <a:t>교육이 끝나면 어떤 업무의 Agent를 설계해 보고 싶은가?</a:t>
            </a:r>
          </a:p>
          <a:p/>
          <a:p>
            <a:r>
              <a:t>[오해 방지]</a:t>
            </a:r>
          </a:p>
          <a:p>
            <a:r>
              <a:t>본 과정은 모델 훈련 강의가 아니다. Day 26·27은 후속 예정 주제다.</a:t>
            </a:r>
          </a:p>
          <a:p/>
          <a:p>
            <a:r>
              <a:t>[시연 연결 / 활동]</a:t>
            </a:r>
          </a:p>
          <a:p>
            <a:r>
              <a:t>화면의 비교표·그림에서 책임 계층과 다음 처리 조건을 짚는다. 실제 외부 시스템 호출은 하지 않는다.</a:t>
            </a:r>
          </a:p>
          <a:p>
            <a:r>
              <a:t>코드 위치: 해당 없음. 설계 설명 또는 개념 그림.</a:t>
            </a:r>
          </a:p>
          <a:p/>
          <a:p>
            <a:r>
              <a:t>[시간 운영]</a:t>
            </a:r>
          </a:p>
          <a:p>
            <a:r>
              <a:t>4분 권장. 회차별 설명·시연 70분 + 실습 30분 + 휴식 10분 + 정리 10분 = 120분.</a:t>
            </a:r>
          </a:p>
          <a:p>
            <a:r>
              <a:t>60분 경로에 포함. 15장 경로: 1, 3, 6, 9, 12, 15, 22, 25, 30, 33, 35, 44, 49, 56, 60. 실습은 별도 진행.</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https://docs.langchain.com/oss/python/langgraph/persistence</a:t>
            </a:r>
          </a:p>
          <a:p>
            <a:r>
              <a:t>https://docs.langchain.com/oss/python/langgraph/interrupts</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2 | 장애 조사 업무</a:t>
            </a:r>
          </a:p>
          <a:p>
            <a:r>
              <a:t>공통 개념: C01 / Summary와 동일한 C ID</a:t>
            </a:r>
          </a:p>
          <a:p/>
          <a:p>
            <a:r>
              <a:t>[설명 의도]</a:t>
            </a:r>
          </a:p>
          <a:p>
            <a:r>
              <a:t>조회 결과를 해석하는 일과 운영 시스템을 바꾸는 일을 나눈다.</a:t>
            </a:r>
          </a:p>
          <a:p/>
          <a:p>
            <a:r>
              <a:t>[말로 풀어 줄 내용]</a:t>
            </a:r>
          </a:p>
          <a:p>
            <a:r>
              <a:t>공통 사례의 Incident ID는 INC-042다. 수치는 실제 장애 측정값이 아니라 교육용 입력이다. 개발자가 여러 화면을 오가며 하던 조회는 도구로 자동화할 수 있지만, 어떤 조치를 실행할지의 허용 조건은 별도 설계해야 한다.</a:t>
            </a:r>
          </a:p>
          <a:p/>
          <a:p>
            <a:r>
              <a:t>[예상 질문 / 토론]</a:t>
            </a:r>
          </a:p>
          <a:p>
            <a:r>
              <a:t>지표 조회와 서비스 재시작에 같은 권한을 부여해도 되는가?</a:t>
            </a:r>
          </a:p>
          <a:p/>
          <a:p>
            <a:r>
              <a:t>[오해 방지]</a:t>
            </a:r>
          </a:p>
          <a:p>
            <a:r>
              <a:t>HTTP 503이라는 관측 하나로 원인을 확정하지 않는다.</a:t>
            </a:r>
          </a:p>
          <a:p/>
          <a:p>
            <a:r>
              <a:t>[시연 연결 / 활동]</a:t>
            </a:r>
          </a:p>
          <a:p>
            <a:r>
              <a:t>화면의 비교표·그림에서 책임 계층과 다음 처리 조건을 짚는다. 실제 외부 시스템 호출은 하지 않는다.</a:t>
            </a:r>
          </a:p>
          <a:p>
            <a:r>
              <a:t>코드 위치: 해당 없음. 설계 설명 또는 개념 그림.</a:t>
            </a:r>
          </a:p>
          <a:p/>
          <a:p>
            <a:r>
              <a:t>[시간 운영]</a:t>
            </a:r>
          </a:p>
          <a:p>
            <a:r>
              <a:t>4분 권장. 회차별 설명·시연 70분 + 실습 30분 + 휴식 10분 + 정리 10분 = 120분.</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https://docs.langchain.com/oss/python/langgraph/graph-api</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3 | Incident Copilot 전체 구조</a:t>
            </a:r>
          </a:p>
          <a:p>
            <a:r>
              <a:t>공통 개념: C11 / Summary와 동일한 C ID</a:t>
            </a:r>
          </a:p>
          <a:p/>
          <a:p>
            <a:r>
              <a:t>[설명 의도]</a:t>
            </a:r>
          </a:p>
          <a:p>
            <a:r>
              <a:t>Agent는 조사하고, Graph와 정책 코드는 실행을 통제한다.</a:t>
            </a:r>
          </a:p>
          <a:p/>
          <a:p>
            <a:r>
              <a:t>[말로 풀어 줄 내용]</a:t>
            </a:r>
          </a:p>
          <a:p>
            <a:r>
              <a:t>그림을 왼쪽부터 읽는다. 접수한 서비스와 시간 범위가 두 독립 조사로 전달된다. Metrics Agent는 Metrics·Logs, Runbook Agent는 검색 도구를 사용한다. 둘의 완료 뒤 Gate가 증거를 검사하고 필요하면 중단하여 승인받는다. 마지막 변경은 실제 운영이 아닌 시뮬레이션이다. Checkpoint는 실행 상태를 보존한다.</a:t>
            </a:r>
          </a:p>
          <a:p/>
          <a:p>
            <a:r>
              <a:t>[예상 질문 / 토론]</a:t>
            </a:r>
          </a:p>
          <a:p>
            <a:r>
              <a:t>어느 상자가 모델 판단이며 어느 상자가 코드로 강제되는가?</a:t>
            </a:r>
          </a:p>
          <a:p/>
          <a:p>
            <a:r>
              <a:t>[오해 방지]</a:t>
            </a:r>
          </a:p>
          <a:p>
            <a:r>
              <a:t>병렬 Runbook 조사는 Metrics 분석 결과를 직접 입력받지 않는다. 원인별 조치 선택에는 후속 종합이 필요할 수 있다.</a:t>
            </a:r>
          </a:p>
          <a:p/>
          <a:p>
            <a:r>
              <a:t>[시연 연결 / 활동]</a:t>
            </a:r>
          </a:p>
          <a:p>
            <a:r>
              <a:t>화면의 비교표·그림에서 책임 계층과 다음 처리 조건을 짚는다. 실제 외부 시스템 호출은 하지 않는다.</a:t>
            </a:r>
          </a:p>
          <a:p>
            <a:r>
              <a:t>코드 위치: 해당 없음. 설계 설명 또는 개념 그림.</a:t>
            </a:r>
          </a:p>
          <a:p/>
          <a:p>
            <a:r>
              <a:t>[시간 운영]</a:t>
            </a:r>
          </a:p>
          <a:p>
            <a:r>
              <a:t>4분 권장. 회차별 설명·시연 70분 + 실습 30분 + 휴식 10분 + 정리 10분 = 120분.</a:t>
            </a:r>
          </a:p>
          <a:p>
            <a:r>
              <a:t>60분 경로에 포함. 15장 경로: 1, 3, 6, 9, 12, 15, 22, 25, 30, 33, 35, 44, 49, 56, 60. 실습은 별도 진행.</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https://docs.langchain.com/oss/python/langgraph/graph-api</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4 | 이번 교육의 완료 기준</a:t>
            </a:r>
          </a:p>
          <a:p>
            <a:r>
              <a:t>공통 개념: C12 / Summary와 동일한 C ID</a:t>
            </a:r>
          </a:p>
          <a:p/>
          <a:p>
            <a:r>
              <a:t>[설명 의도]</a:t>
            </a:r>
          </a:p>
          <a:p>
            <a:r>
              <a:t>정상 경로뿐 아니라 차단·거부·실패·재개를 설명한다.</a:t>
            </a:r>
          </a:p>
          <a:p/>
          <a:p>
            <a:r>
              <a:t>[말로 풀어 줄 내용]</a:t>
            </a:r>
          </a:p>
          <a:p>
            <a:r>
              <a:t>세 실습은 각 30분이다. 회차별 설명·시연 70분, 휴식 10분, 정리 10분을 더해 120분으로 운영한다. 산출물은 긴 코드보다 책임 경계를 드러내야 한다. 실제 모델이 없어도 모든 기본 실습을 완료하도록 구성했다.</a:t>
            </a:r>
          </a:p>
          <a:p/>
          <a:p>
            <a:r>
              <a:t>[예상 질문 / 토론]</a:t>
            </a:r>
          </a:p>
          <a:p>
            <a:r>
              <a:t>성공 응답 하나만으로 실행 정책을 검증했다고 할 수 있는가?</a:t>
            </a:r>
          </a:p>
          <a:p/>
          <a:p>
            <a:r>
              <a:t>[오해 방지]</a:t>
            </a:r>
          </a:p>
          <a:p>
            <a:r>
              <a:t>수료 점수와 실제 운영 준비 완료는 다르다.</a:t>
            </a:r>
          </a:p>
          <a:p/>
          <a:p>
            <a:r>
              <a:t>[시연 연결 / 활동]</a:t>
            </a:r>
          </a:p>
          <a:p>
            <a:r>
              <a:t>화면의 비교표·그림에서 책임 계층과 다음 처리 조건을 짚는다. 실제 외부 시스템 호출은 하지 않는다.</a:t>
            </a:r>
          </a:p>
          <a:p>
            <a:r>
              <a:t>코드 위치: 해당 없음. 설계 설명 또는 개념 그림.</a:t>
            </a:r>
          </a:p>
          <a:p/>
          <a:p>
            <a:r>
              <a:t>[시간 운영]</a:t>
            </a:r>
          </a:p>
          <a:p>
            <a:r>
              <a:t>4분 권장. 회차별 설명·시연 70분 + 실습 30분 + 휴식 10분 + 정리 10분 = 120분.</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https://docs.langchain.com/oss/python/langgraph/persistence</a:t>
            </a:r>
          </a:p>
          <a:p>
            <a:r>
              <a:t>https://docs.langchain.com/oss/python/langgraph/interrupts</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5 | LLM 요청과 응답</a:t>
            </a:r>
          </a:p>
          <a:p>
            <a:r>
              <a:t>공통 개념: C01 / Summary와 동일한 C ID</a:t>
            </a:r>
          </a:p>
          <a:p/>
          <a:p>
            <a:r>
              <a:t>[설명 의도]</a:t>
            </a:r>
          </a:p>
          <a:p>
            <a:r>
              <a:t>모델은 전달받은 Context를 바탕으로 출력을 생성한다.</a:t>
            </a:r>
          </a:p>
          <a:p/>
          <a:p>
            <a:r>
              <a:t>[말로 풀어 줄 내용]</a:t>
            </a:r>
          </a:p>
          <a:p>
            <a:r>
              <a:t>모델이 답변을 생성하는 과정과 애플리케이션이 실제 네트워크 호출을 수행하는 과정을 구분한다. 서버 상태를 읽을 Tool이나 입력 자료가 없다면 모델은 현재 checkout-api의 상태를 관측한 것이 아니다. 최신 사실은 실행 시점의 외부 관측과 연결해야 한다.</a:t>
            </a:r>
          </a:p>
          <a:p/>
          <a:p>
            <a:r>
              <a:t>[예상 질문 / 토론]</a:t>
            </a:r>
          </a:p>
          <a:p>
            <a:r>
              <a:t>모델이 “현재 서비스가 정상”이라고 쓰면 실제 조회가 이루어진 것인가?</a:t>
            </a:r>
          </a:p>
          <a:p/>
          <a:p>
            <a:r>
              <a:t>[오해 방지]</a:t>
            </a:r>
          </a:p>
          <a:p>
            <a:r>
              <a:t>답변의 확신이나 문장 품질을 관측의 증거로 쓰지 않는다.</a:t>
            </a:r>
          </a:p>
          <a:p/>
          <a:p>
            <a:r>
              <a:t>[시연 연결 / 활동]</a:t>
            </a:r>
          </a:p>
          <a:p>
            <a:r>
              <a:t>화면의 비교표·그림에서 책임 계층과 다음 처리 조건을 짚는다. 실제 외부 시스템 호출은 하지 않는다.</a:t>
            </a:r>
          </a:p>
          <a:p>
            <a:r>
              <a:t>코드 위치: 해당 없음. 설계 설명 또는 개념 그림.</a:t>
            </a:r>
          </a:p>
          <a:p/>
          <a:p>
            <a:r>
              <a:t>[시간 운영]</a:t>
            </a:r>
          </a:p>
          <a:p>
            <a:r>
              <a:t>4분 권장. 회차별 설명·시연 70분 + 실습 30분 + 휴식 10분 + 정리 10분 = 120분.</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https://docs.langchain.com/oss/python/langgraph/graph-api</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6 | LLM 호출·Agent·Workflow</a:t>
            </a:r>
          </a:p>
          <a:p>
            <a:r>
              <a:t>공통 개념: C01 / Summary와 동일한 C ID</a:t>
            </a:r>
          </a:p>
          <a:p/>
          <a:p>
            <a:r>
              <a:t>[설명 의도]</a:t>
            </a:r>
          </a:p>
          <a:p>
            <a:r>
              <a:t>업무의 불확실성과 통제 요구에 맞는 구조를 고른다.</a:t>
            </a:r>
          </a:p>
          <a:p/>
          <a:p>
            <a:r>
              <a:t>[말로 풀어 줄 내용]</a:t>
            </a:r>
          </a:p>
          <a:p>
            <a:r>
              <a:t>분류 결과로 부서를 고르는 일은 모델 한 번과 허용 라벨 검사로 충분할 수 있다. 조사처럼 다음 조회가 불확실하면 Agent loop를 고려한다. 반드시 멈춰야 하는 조건과 승인 흐름은 명시적인 Graph가 유리하다. Agent도 Graph의 Node가 될 수 있다.</a:t>
            </a:r>
          </a:p>
          <a:p/>
          <a:p>
            <a:r>
              <a:t>[예상 질문 / 토론]</a:t>
            </a:r>
          </a:p>
          <a:p>
            <a:r>
              <a:t>단순 분류 업무에 Multi-Agent가 반드시 필요한가?</a:t>
            </a:r>
          </a:p>
          <a:p/>
          <a:p>
            <a:r>
              <a:t>[오해 방지]</a:t>
            </a:r>
          </a:p>
          <a:p>
            <a:r>
              <a:t>구조가 복잡할수록 지능이 높아진다는 전제를 버린다.</a:t>
            </a:r>
          </a:p>
          <a:p/>
          <a:p>
            <a:r>
              <a:t>[시연 연결 / 활동]</a:t>
            </a:r>
          </a:p>
          <a:p>
            <a:r>
              <a:t>화면의 비교표·그림에서 책임 계층과 다음 처리 조건을 짚는다. 실제 외부 시스템 호출은 하지 않는다.</a:t>
            </a:r>
          </a:p>
          <a:p>
            <a:r>
              <a:t>코드 위치: 해당 없음. 설계 설명 또는 개념 그림.</a:t>
            </a:r>
          </a:p>
          <a:p/>
          <a:p>
            <a:r>
              <a:t>[시간 운영]</a:t>
            </a:r>
          </a:p>
          <a:p>
            <a:r>
              <a:t>4분 권장. 회차별 설명·시연 70분 + 실습 30분 + 휴식 10분 + 정리 10분 = 120분.</a:t>
            </a:r>
          </a:p>
          <a:p>
            <a:r>
              <a:t>60분 경로에 포함. 15장 경로: 1, 3, 6, 9, 12, 15, 22, 25, 30, 33, 35, 44, 49, 56, 60. 실습은 별도 진행.</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https://docs.langchain.com/oss/python/langgraph/graph-api</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7 | Context와 지침의 경계</a:t>
            </a:r>
          </a:p>
          <a:p>
            <a:r>
              <a:t>공통 개념: C02 / Summary와 동일한 C ID</a:t>
            </a:r>
          </a:p>
          <a:p/>
          <a:p>
            <a:r>
              <a:t>[설명 의도]</a:t>
            </a:r>
          </a:p>
          <a:p>
            <a:r>
              <a:t>조회한 문서 속 명령을 실행 권한으로 승격하지 않는다.</a:t>
            </a:r>
          </a:p>
          <a:p/>
          <a:p>
            <a:r>
              <a:t>[말로 풀어 줄 내용]</a:t>
            </a:r>
          </a:p>
          <a:p>
            <a:r>
              <a:t>검색 문서는 업무의 근거가 될 수 있지만 애플리케이션의 상위 지침을 교체할 권한은 없다. Prompt로 경계를 알리고 코드의 허용 목록과 인자·권한 검사로 실행을 제한한다. Context를 줄일 때도 서비스·관측 시각·출처·불확실성을 유지한다.</a:t>
            </a:r>
          </a:p>
          <a:p/>
          <a:p>
            <a:r>
              <a:t>[예상 질문 / 토론]</a:t>
            </a:r>
          </a:p>
          <a:p>
            <a:r>
              <a:t>문서에 restart 지시가 있으면 Agent가 곧바로 실행해도 되는가?</a:t>
            </a:r>
          </a:p>
          <a:p/>
          <a:p>
            <a:r>
              <a:t>[오해 방지]</a:t>
            </a:r>
          </a:p>
          <a:p>
            <a:r>
              <a:t>Prompt 문구만으로 실행 정책이 강제되었다고 말하지 않는다.</a:t>
            </a:r>
          </a:p>
          <a:p/>
          <a:p>
            <a:r>
              <a:t>[시연 연결 / 활동]</a:t>
            </a:r>
          </a:p>
          <a:p>
            <a:r>
              <a:t>화면의 비교표·그림에서 책임 계층과 다음 처리 조건을 짚는다. 실제 외부 시스템 호출은 하지 않는다.</a:t>
            </a:r>
          </a:p>
          <a:p>
            <a:r>
              <a:t>코드 위치: 해당 없음. 설계 설명 또는 개념 그림.</a:t>
            </a:r>
          </a:p>
          <a:p/>
          <a:p>
            <a:r>
              <a:t>[시간 운영]</a:t>
            </a:r>
          </a:p>
          <a:p>
            <a:r>
              <a:t>4분 권장. 회차별 설명·시연 70분 + 실습 30분 + 휴식 10분 + 정리 10분 = 120분.</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https://docs.langchain.com/oss/python/langgraph/graph-api</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8 | Tool 계약</a:t>
            </a:r>
          </a:p>
          <a:p>
            <a:r>
              <a:t>공통 개념: C03 / Summary와 동일한 C ID</a:t>
            </a:r>
          </a:p>
          <a:p/>
          <a:p>
            <a:r>
              <a:t>[설명 의도]</a:t>
            </a:r>
          </a:p>
          <a:p>
            <a:r>
              <a:t>이름·설명·입력·출력으로 호출 경계를 정의한다.</a:t>
            </a:r>
          </a:p>
          <a:p/>
          <a:p>
            <a:r>
              <a:t>[말로 풀어 줄 내용]</a:t>
            </a:r>
          </a:p>
          <a:p>
            <a:r>
              <a:t>화면은 설명용 Tool 계약이며 실제 조회 결과가 아니다. 입력 Schema는 호출 인자를, 반환 Schema는 성공 상태·관측 시각·출처를 표현한다. Tool 설명은 모델의 선택을 돕지만 접근 권한은 실행기와 Backend가 확인해야 한다.</a:t>
            </a:r>
          </a:p>
          <a:p/>
          <a:p>
            <a:r>
              <a:t>[예상 질문 / 토론]</a:t>
            </a:r>
          </a:p>
          <a:p>
            <a:r>
              <a:t>Tool 결과가 빈 목록이면 조회 성공인가 실패인가?</a:t>
            </a:r>
          </a:p>
          <a:p/>
          <a:p>
            <a:r>
              <a:t>[오해 방지]</a:t>
            </a:r>
          </a:p>
          <a:p>
            <a:r>
              <a:t>빈 결과와 timeout은 같은 상태가 아니다. 반환 계약에 실패 정보를 남긴다.</a:t>
            </a:r>
          </a:p>
          <a:p/>
          <a:p>
            <a:r>
              <a:t>[시연 연결 / 활동]</a:t>
            </a:r>
          </a:p>
          <a:p>
            <a:r>
              <a:t>화면의 비교표·그림에서 책임 계층과 다음 처리 조건을 짚는다. 실제 외부 시스템 호출은 하지 않는다.</a:t>
            </a:r>
          </a:p>
          <a:p>
            <a:r>
              <a:t>전체 예제 위치: 설계용 계약 예시; 실습 대응: solution/workflow.py: metrics</a:t>
            </a:r>
          </a:p>
          <a:p/>
          <a:p>
            <a:r>
              <a:t>[시간 운영]</a:t>
            </a:r>
          </a:p>
          <a:p>
            <a:r>
              <a:t>4분 권장. 회차별 설명·시연 70분 + 실습 30분 + 휴식 10분 + 정리 10분 = 120분.</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https://docs.langchain.com/oss/python/langchain/structured-output</a:t>
            </a:r>
          </a:p>
          <a:p>
            <a:r>
              <a:t>https://docs.pydantic.dev/latest/concepts/models/</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9 | Tool 호출의 실행 단계</a:t>
            </a:r>
          </a:p>
          <a:p>
            <a:r>
              <a:t>공통 개념: C03 / Summary와 동일한 C ID</a:t>
            </a:r>
          </a:p>
          <a:p/>
          <a:p>
            <a:r>
              <a:t>[설명 의도]</a:t>
            </a:r>
          </a:p>
          <a:p>
            <a:r>
              <a:t>Tool 호출 요청은 실행 의도이며 실제 작업은 프로그램이 수행한다.</a:t>
            </a:r>
          </a:p>
          <a:p/>
          <a:p>
            <a:r>
              <a:t>[말로 풀어 줄 내용]</a:t>
            </a:r>
          </a:p>
          <a:p>
            <a:r>
              <a:t>call ID로 요청과 Tool 결과를 연결한다. 모델이 보낸 인자가 허용된 도구인지, 유효한 값인지, 해당 사용자가 실행 가능한지 먼저 검사한다. ToolMessage는 한 조회의 결과이고 최종 구조화 응답은 전체 조사 결과다.</a:t>
            </a:r>
          </a:p>
          <a:p/>
          <a:p>
            <a:r>
              <a:t>[예상 질문 / 토론]</a:t>
            </a:r>
          </a:p>
          <a:p>
            <a:r>
              <a:t>최종 답변에 “조회 완료”라고 쓰여 있으면 호출 기록 검사를 생략해도 되는가?</a:t>
            </a:r>
          </a:p>
          <a:p/>
          <a:p>
            <a:r>
              <a:t>[오해 방지]</a:t>
            </a:r>
          </a:p>
          <a:p>
            <a:r>
              <a:t>모델의 자기 보고를 실제 Tool 실행 이력으로 취급하지 않는다.</a:t>
            </a:r>
          </a:p>
          <a:p/>
          <a:p>
            <a:r>
              <a:t>[시연 연결 / 활동]</a:t>
            </a:r>
          </a:p>
          <a:p>
            <a:r>
              <a:t>화면의 비교표·그림에서 책임 계층과 다음 처리 조건을 짚는다. 실제 외부 시스템 호출은 하지 않는다.</a:t>
            </a:r>
          </a:p>
          <a:p>
            <a:r>
              <a:t>코드 위치: 해당 없음. 설계 설명 또는 개념 그림.</a:t>
            </a:r>
          </a:p>
          <a:p/>
          <a:p>
            <a:r>
              <a:t>[시간 운영]</a:t>
            </a:r>
          </a:p>
          <a:p>
            <a:r>
              <a:t>4분 권장. 회차별 설명·시연 70분 + 실습 30분 + 휴식 10분 + 정리 10분 = 120분.</a:t>
            </a:r>
          </a:p>
          <a:p>
            <a:r>
              <a:t>60분 경로에 포함. 15장 경로: 1, 3, 6, 9, 12, 15, 22, 25, 30, 33, 35, 44, 49, 56, 60. 실습은 별도 진행.</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https://docs.langchain.com/oss/python/langchain/structured-output</a:t>
            </a:r>
          </a:p>
          <a:p>
            <a:r>
              <a:t>https://docs.pydantic.dev/latest/concepts/models/</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10 | 구조화된 Agent 결과</a:t>
            </a:r>
          </a:p>
          <a:p>
            <a:r>
              <a:t>공통 개념: C03 / Summary와 동일한 C ID</a:t>
            </a:r>
          </a:p>
          <a:p/>
          <a:p>
            <a:r>
              <a:t>[설명 의도]</a:t>
            </a:r>
          </a:p>
          <a:p>
            <a:r>
              <a:t>Schema는 결과를 다루기 쉽게 만들지만 사실을 보증하지 않는다.</a:t>
            </a:r>
          </a:p>
          <a:p/>
          <a:p>
            <a:r>
              <a:t>[말로 풀어 줄 내용]</a:t>
            </a:r>
          </a:p>
          <a:p>
            <a:r>
              <a:t>실습 코드의 Finding과 같은 구조다. Pydantic으로 source_ids가 목록인지 검사하지만 ID가 실제 관측에서 나왔는지는 여기서 알 수 없다. ToolStrategy는 Tool Calling을 이용한 구조화 응답 방식이며 ProviderStrategy와 모델 지원 범위를 구분한다. 실제 모델 지원은 통합 테스트 대상이다.</a:t>
            </a:r>
          </a:p>
          <a:p/>
          <a:p>
            <a:r>
              <a:t>[예상 질문 / 토론]</a:t>
            </a:r>
          </a:p>
          <a:p>
            <a:r>
              <a:t>Pydantic 검증 성공이 주장 검증 성공을 뜻하는가?</a:t>
            </a:r>
          </a:p>
          <a:p/>
          <a:p>
            <a:r>
              <a:t>[오해 방지]</a:t>
            </a:r>
          </a:p>
          <a:p>
            <a:r>
              <a:t>ToolStrategy를 특정 Provider에서 항상 동작하는 방법으로 일반화하지 않는다.</a:t>
            </a:r>
          </a:p>
          <a:p/>
          <a:p>
            <a:r>
              <a:t>[시연 연결 / 활동]</a:t>
            </a:r>
          </a:p>
          <a:p>
            <a:r>
              <a:t>화면의 비교표·그림에서 책임 계층과 다음 처리 조건을 짚는다. 실제 외부 시스템 호출은 하지 않는다.</a:t>
            </a:r>
          </a:p>
          <a:p>
            <a:r>
              <a:t>전체 예제 위치: solution/workflow.py: Finding, metrics</a:t>
            </a:r>
          </a:p>
          <a:p/>
          <a:p>
            <a:r>
              <a:t>[시간 운영]</a:t>
            </a:r>
          </a:p>
          <a:p>
            <a:r>
              <a:t>4분 권장. 회차별 설명·시연 70분 + 실습 30분 + 휴식 10분 + 정리 10분 = 120분.</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https://docs.langchain.com/oss/python/langchain/structured-output</a:t>
            </a:r>
          </a:p>
          <a:p>
            <a:r>
              <a:t>https://docs.pydantic.dev/latest/concepts/models/</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11 | 형식 검증과 사실 검증</a:t>
            </a:r>
          </a:p>
          <a:p>
            <a:r>
              <a:t>공통 개념: C03 / Summary와 동일한 C ID</a:t>
            </a:r>
          </a:p>
          <a:p/>
          <a:p>
            <a:r>
              <a:t>[설명 의도]</a:t>
            </a:r>
          </a:p>
          <a:p>
            <a:r>
              <a:t>올바른 JSON 안에도 허위 근거가 들어갈 수 있다.</a:t>
            </a:r>
          </a:p>
          <a:p/>
          <a:p>
            <a:r>
              <a:t>[말로 풀어 줄 내용]</a:t>
            </a:r>
          </a:p>
          <a:p>
            <a:r>
              <a:t>왼쪽 예시는 타입과 필수 필드를 만족한다. 오른쪽은 관측 출처와의 대조에서 실패한다. 교집합 검사는 존재 확인의 일부일 뿐이고 의미·최신성·적용 범위까지 검증해야 한다. 이 슬라이드 뒤 회차 1의 휴식 10분을 배치한다.</a:t>
            </a:r>
          </a:p>
          <a:p/>
          <a:p>
            <a:r>
              <a:t>[예상 질문 / 토론]</a:t>
            </a:r>
          </a:p>
          <a:p>
            <a:r>
              <a:t>실제 존재하는 ID라면 권고 조치도 자동으로 타당한가?</a:t>
            </a:r>
          </a:p>
          <a:p/>
          <a:p>
            <a:r>
              <a:t>[오해 방지]</a:t>
            </a:r>
          </a:p>
          <a:p>
            <a:r>
              <a:t>Schema 통과, 출처 존재, 의미적 타당성은 서로 다른 수준의 검사다.</a:t>
            </a:r>
          </a:p>
          <a:p/>
          <a:p>
            <a:r>
              <a:t>[시연 연결 / 활동]</a:t>
            </a:r>
          </a:p>
          <a:p>
            <a:r>
              <a:t>실습 fixture invented_source와 no_runbook 비교</a:t>
            </a:r>
          </a:p>
          <a:p>
            <a:r>
              <a:t>코드 위치: 해당 없음. 설계 설명 또는 개념 그림.</a:t>
            </a:r>
          </a:p>
          <a:p/>
          <a:p>
            <a:r>
              <a:t>[시간 운영]</a:t>
            </a:r>
          </a:p>
          <a:p>
            <a:r>
              <a:t>4분 권장. 회차별 설명·시연 70분 + 실습 30분 + 휴식 10분 + 정리 10분 = 120분. 이 장 다음에 휴식 10분을 배치한다.</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https://docs.langchain.com/oss/python/langchain/structured-output</a:t>
            </a:r>
          </a:p>
          <a:p>
            <a:r>
              <a:t>https://docs.pydantic.dev/latest/concepts/models/</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12 | 업무 State</a:t>
            </a:r>
          </a:p>
          <a:p>
            <a:r>
              <a:t>공통 개념: C04 / Summary와 동일한 C ID</a:t>
            </a:r>
          </a:p>
          <a:p/>
          <a:p>
            <a:r>
              <a:t>[설명 의도]</a:t>
            </a:r>
          </a:p>
          <a:p>
            <a:r>
              <a:t>후속 단계의 결정과 재개에 필요한 정보를 명시적으로 저장한다.</a:t>
            </a:r>
          </a:p>
          <a:p/>
          <a:p>
            <a:r>
              <a:t>[말로 풀어 줄 내용]</a:t>
            </a:r>
          </a:p>
          <a:p>
            <a:r>
              <a:t>State는 대화 내용을 무조건 모두 복사하는 저장소가 아니다. 조사 결과의 성공·실패와 실제 출처가 있어야 Gate가 판단할 수 있다. 승인과 계획이 분리되어야 변경된 계획에 예전 승인을 재사용하지 않는다. 런타임 클라이언트는 State 밖에서 관리한다.</a:t>
            </a:r>
          </a:p>
          <a:p/>
          <a:p>
            <a:r>
              <a:t>[예상 질문 / 토론]</a:t>
            </a:r>
          </a:p>
          <a:p>
            <a:r>
              <a:t>모델 Client와 DB 연결을 State에 저장하면 어떤 문제가 생기는가?</a:t>
            </a:r>
          </a:p>
          <a:p/>
          <a:p>
            <a:r>
              <a:t>[오해 방지]</a:t>
            </a:r>
          </a:p>
          <a:p>
            <a:r>
              <a:t>TypedDict만 선언해도 런타임 값 검증이 강제되는 것은 아니다.</a:t>
            </a:r>
          </a:p>
          <a:p/>
          <a:p>
            <a:r>
              <a:t>[시연 연결 / 활동]</a:t>
            </a:r>
          </a:p>
          <a:p>
            <a:r>
              <a:t>화면의 비교표·그림에서 책임 계층과 다음 처리 조건을 짚는다. 실제 외부 시스템 호출은 하지 않는다.</a:t>
            </a:r>
          </a:p>
          <a:p>
            <a:r>
              <a:t>코드 위치: 해당 없음. 설계 설명 또는 개념 그림.</a:t>
            </a:r>
          </a:p>
          <a:p/>
          <a:p>
            <a:r>
              <a:t>[시간 운영]</a:t>
            </a:r>
          </a:p>
          <a:p>
            <a:r>
              <a:t>4분 권장. 회차별 설명·시연 70분 + 실습 30분 + 휴식 10분 + 정리 10분 = 120분.</a:t>
            </a:r>
          </a:p>
          <a:p>
            <a:r>
              <a:t>60분 경로에 포함. 15장 경로: 1, 3, 6, 9, 12, 15, 22, 25, 30, 33, 35, 44, 49, 56, 60. 실습은 별도 진행.</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https://docs.langchain.com/oss/python/langgraph/graph-api</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13 | Message와 업무 결과</a:t>
            </a:r>
          </a:p>
          <a:p>
            <a:r>
              <a:t>공통 개념: C04 / Summary와 동일한 C ID</a:t>
            </a:r>
          </a:p>
          <a:p/>
          <a:p>
            <a:r>
              <a:t>[설명 의도]</a:t>
            </a:r>
          </a:p>
          <a:p>
            <a:r>
              <a:t>대화 이력과 확정된 업무 State의 목적을 나눈다.</a:t>
            </a:r>
          </a:p>
          <a:p/>
          <a:p>
            <a:r>
              <a:t>[말로 풀어 줄 내용]</a:t>
            </a:r>
          </a:p>
          <a:p>
            <a:r>
              <a:t>같은 서비스명이 여러 메시지에 등장하면 최신 확정값이 무엇인지 모호하다. Graph가 판단할 값은 명시적인 업무 필드로 정한다. 이력이 필요 없는 것은 아니지만 저장 수명과 접근 목적이 다르다. 원문 전체 보관이 필요한 경우에도 비밀값과 개인정보를 처리한다.</a:t>
            </a:r>
          </a:p>
          <a:p/>
          <a:p>
            <a:r>
              <a:t>[예상 질문 / 토론]</a:t>
            </a:r>
          </a:p>
          <a:p>
            <a:r>
              <a:t>거부 여부를 마지막 메시지의 문자열 검색으로 판단해도 되는가?</a:t>
            </a:r>
          </a:p>
          <a:p/>
          <a:p>
            <a:r>
              <a:t>[오해 방지]</a:t>
            </a:r>
          </a:p>
          <a:p>
            <a:r>
              <a:t>messages를 없애라는 주장이 아니라 업무 판단과 Context를 분리하라는 뜻이다.</a:t>
            </a:r>
          </a:p>
          <a:p/>
          <a:p>
            <a:r>
              <a:t>[시연 연결 / 활동]</a:t>
            </a:r>
          </a:p>
          <a:p>
            <a:r>
              <a:t>화면의 비교표·그림에서 책임 계층과 다음 처리 조건을 짚는다. 실제 외부 시스템 호출은 하지 않는다.</a:t>
            </a:r>
          </a:p>
          <a:p>
            <a:r>
              <a:t>코드 위치: 해당 없음. 설계 설명 또는 개념 그림.</a:t>
            </a:r>
          </a:p>
          <a:p/>
          <a:p>
            <a:r>
              <a:t>[시간 운영]</a:t>
            </a:r>
          </a:p>
          <a:p>
            <a:r>
              <a:t>4분 권장. 회차별 설명·시연 70분 + 실습 30분 + 휴식 10분 + 정리 10분 = 120분.</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https://docs.langchain.com/oss/python/langgraph/graph-api</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14 | State 필드의 책임</a:t>
            </a:r>
          </a:p>
          <a:p>
            <a:r>
              <a:t>공통 개념: C04 / Summary와 동일한 C ID</a:t>
            </a:r>
          </a:p>
          <a:p/>
          <a:p>
            <a:r>
              <a:t>[설명 의도]</a:t>
            </a:r>
          </a:p>
          <a:p>
            <a:r>
              <a:t>필드마다 작성자·독자·갱신 규칙을 정한다.</a:t>
            </a:r>
          </a:p>
          <a:p/>
          <a:p>
            <a:r>
              <a:t>[말로 풀어 줄 내용]</a:t>
            </a:r>
          </a:p>
          <a:p>
            <a:r>
              <a:t>병렬 조사는 metrics와 runbook처럼 서로 다른 필드를 쓴다. status는 합류 후 순서가 정해진 Node들이 갱신하므로 이 예제에서는 병렬 충돌을 피한다. 공유 필드를 쓰려면 reducer를 정의하고 순서·중복·충돌 의미를 테스트해야 한다.</a:t>
            </a:r>
          </a:p>
          <a:p/>
          <a:p>
            <a:r>
              <a:t>[예상 질문 / 토론]</a:t>
            </a:r>
          </a:p>
          <a:p>
            <a:r>
              <a:t>병렬 조사 두 개가 모두 status=ok를 쓰면 무엇이 문제인가?</a:t>
            </a:r>
          </a:p>
          <a:p/>
          <a:p>
            <a:r>
              <a:t>[오해 방지]</a:t>
            </a:r>
          </a:p>
          <a:p>
            <a:r>
              <a:t>리스트 덧붙이기 reducer도 중복 제거와 순서를 자동 보장하지 않는다.</a:t>
            </a:r>
          </a:p>
          <a:p/>
          <a:p>
            <a:r>
              <a:t>[시연 연결 / 활동]</a:t>
            </a:r>
          </a:p>
          <a:p>
            <a:r>
              <a:t>화면의 비교표·그림에서 책임 계층과 다음 처리 조건을 짚는다. 실제 외부 시스템 호출은 하지 않는다.</a:t>
            </a:r>
          </a:p>
          <a:p>
            <a:r>
              <a:t>코드 위치: 해당 없음. 설계 설명 또는 개념 그림.</a:t>
            </a:r>
          </a:p>
          <a:p/>
          <a:p>
            <a:r>
              <a:t>[시간 운영]</a:t>
            </a:r>
          </a:p>
          <a:p>
            <a:r>
              <a:t>4분 권장. 회차별 설명·시연 70분 + 실습 30분 + 휴식 10분 + 정리 10분 = 120분.</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https://docs.langchain.com/oss/python/langgraph/graph-api</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15 | Node와 Edge</a:t>
            </a:r>
          </a:p>
          <a:p>
            <a:r>
              <a:t>공통 개념: C05 / Summary와 동일한 C ID</a:t>
            </a:r>
          </a:p>
          <a:p/>
          <a:p>
            <a:r>
              <a:t>[설명 의도]</a:t>
            </a:r>
          </a:p>
          <a:p>
            <a:r>
              <a:t>Node는 부분 갱신을 만들고 Edge는 다음 실행을 정한다.</a:t>
            </a:r>
          </a:p>
          <a:p/>
          <a:p>
            <a:r>
              <a:t>[말로 풀어 줄 내용]</a:t>
            </a:r>
          </a:p>
          <a:p>
            <a:r>
              <a:t>실습에서는 metrics가 metrics 키만, runbook이 runbook 키만 반환한다. Graph가 두 부분 갱신을 합친다. Gate가 awaiting_approval이면 approval Node로, 그렇지 않으면 END로 보낸다. 모델이 다음 노드를 임의로 선택하지 않게 고정한 경계다.</a:t>
            </a:r>
          </a:p>
          <a:p/>
          <a:p>
            <a:r>
              <a:t>[예상 질문 / 토론]</a:t>
            </a:r>
          </a:p>
          <a:p>
            <a:r>
              <a:t>Node가 전체 State를 복사해 반환하는 방식은 병렬 처리에 어떤 위험을 더하는가?</a:t>
            </a:r>
          </a:p>
          <a:p/>
          <a:p>
            <a:r>
              <a:t>[오해 방지]</a:t>
            </a:r>
          </a:p>
          <a:p>
            <a:r>
              <a:t>Node 함수와 Edge 조건의 책임을 섞어 숨은 분기를 만들지 않는다.</a:t>
            </a:r>
          </a:p>
          <a:p/>
          <a:p>
            <a:r>
              <a:t>[시연 연결 / 활동]</a:t>
            </a:r>
          </a:p>
          <a:p>
            <a:r>
              <a:t>화면의 비교표·그림에서 책임 계층과 다음 처리 조건을 짚는다. 실제 외부 시스템 호출은 하지 않는다.</a:t>
            </a:r>
          </a:p>
          <a:p>
            <a:r>
              <a:t>전체 예제 위치: solution/workflow.py: build_workflow</a:t>
            </a:r>
          </a:p>
          <a:p/>
          <a:p>
            <a:r>
              <a:t>[시간 운영]</a:t>
            </a:r>
          </a:p>
          <a:p>
            <a:r>
              <a:t>4분 권장. 회차별 설명·시연 70분 + 실습 30분 + 휴식 10분 + 정리 10분 = 120분.</a:t>
            </a:r>
          </a:p>
          <a:p>
            <a:r>
              <a:t>60분 경로에 포함. 15장 경로: 1, 3, 6, 9, 12, 15, 22, 25, 30, 33, 35, 44, 49, 56, 60. 실습은 별도 진행.</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https://docs.langchain.com/oss/python/langgraph/graph-api</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16 | 조건 분기</a:t>
            </a:r>
          </a:p>
          <a:p>
            <a:r>
              <a:t>공통 개념: C05 / Summary와 동일한 C ID</a:t>
            </a:r>
          </a:p>
          <a:p/>
          <a:p>
            <a:r>
              <a:t>[설명 의도]</a:t>
            </a:r>
          </a:p>
          <a:p>
            <a:r>
              <a:t>성공·근거 부족·실패를 같은 값으로 뭉개지 않는다.</a:t>
            </a:r>
          </a:p>
          <a:p/>
          <a:p>
            <a:r>
              <a:t>[말로 풀어 줄 내용]</a:t>
            </a:r>
          </a:p>
          <a:p>
            <a:r>
              <a:t>거부는 시스템 오류가 아니라 처리된 업무 결과일 수 있다. blocked의 reason에는 insufficient_evidence, approval_target_mismatch 같은 사유를 둔다. 외부 장애는 별도 error_code로 구분해 재시도 가능성을 판단한다.</a:t>
            </a:r>
          </a:p>
          <a:p/>
          <a:p>
            <a:r>
              <a:t>[예상 질문 / 토론]</a:t>
            </a:r>
          </a:p>
          <a:p>
            <a:r>
              <a:t>사용자가 거부한 요청을 서비스 실패율에 포함해야 하는가?</a:t>
            </a:r>
          </a:p>
          <a:p/>
          <a:p>
            <a:r>
              <a:t>[오해 방지]</a:t>
            </a:r>
          </a:p>
          <a:p>
            <a:r>
              <a:t>업무 결과와 기술 오류의 지표를 섞으면 운영 판단이 왜곡된다.</a:t>
            </a:r>
          </a:p>
          <a:p/>
          <a:p>
            <a:r>
              <a:t>[시연 연결 / 활동]</a:t>
            </a:r>
          </a:p>
          <a:p>
            <a:r>
              <a:t>화면의 비교표·그림에서 책임 계층과 다음 처리 조건을 짚는다. 실제 외부 시스템 호출은 하지 않는다.</a:t>
            </a:r>
          </a:p>
          <a:p>
            <a:r>
              <a:t>코드 위치: 해당 없음. 설계 설명 또는 개념 그림.</a:t>
            </a:r>
          </a:p>
          <a:p/>
          <a:p>
            <a:r>
              <a:t>[시간 운영]</a:t>
            </a:r>
          </a:p>
          <a:p>
            <a:r>
              <a:t>4분 권장. 회차별 설명·시연 70분 + 실습 30분 + 휴식 10분 + 정리 10분 = 120분.</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https://docs.langchain.com/oss/python/langgraph/graph-api</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17 | 병렬 조사와 합류</a:t>
            </a:r>
          </a:p>
          <a:p>
            <a:r>
              <a:t>공통 개념: C05 / Summary와 동일한 C ID</a:t>
            </a:r>
          </a:p>
          <a:p/>
          <a:p>
            <a:r>
              <a:t>[설명 의도]</a:t>
            </a:r>
          </a:p>
          <a:p>
            <a:r>
              <a:t>독립 입력은 병렬로 처리하고 필수 결과를 모두 기다린다.</a:t>
            </a:r>
          </a:p>
          <a:p/>
          <a:p>
            <a:r>
              <a:t>[말로 풀어 줄 내용]</a:t>
            </a:r>
          </a:p>
          <a:p>
            <a:r>
              <a:t>두 조사 Node는 같은 접수 입력을 읽고 다른 키에 결과를 기록한다. add_edge(["metrics", "runbook"], "gate")가 두 선행 결과를 기다리는 합류를 표현한다. 이상적인 지연은 두 시간의 합이 아니라 큰 값에 가까우나 제한된 자원·재시도·합류 비용이 추가된다.</a:t>
            </a:r>
          </a:p>
          <a:p/>
          <a:p>
            <a:r>
              <a:t>[예상 질문 / 토론]</a:t>
            </a:r>
          </a:p>
          <a:p>
            <a:r>
              <a:t>Runbook 검색이 Metrics 분석 결과를 필요로 한다면 여전히 병렬로 시작할 것인가?</a:t>
            </a:r>
          </a:p>
          <a:p/>
          <a:p>
            <a:r>
              <a:t>[오해 방지]</a:t>
            </a:r>
          </a:p>
          <a:p>
            <a:r>
              <a:t>병렬화 자체가 의미적 종합을 수행하지 않는다.</a:t>
            </a:r>
          </a:p>
          <a:p/>
          <a:p>
            <a:r>
              <a:t>[시연 연결 / 활동]</a:t>
            </a:r>
          </a:p>
          <a:p>
            <a:r>
              <a:t>화면의 비교표·그림에서 책임 계층과 다음 처리 조건을 짚는다. 실제 외부 시스템 호출은 하지 않는다.</a:t>
            </a:r>
          </a:p>
          <a:p>
            <a:r>
              <a:t>전체 예제 위치: solution/workflow.py: build_workflow, add_edge</a:t>
            </a:r>
          </a:p>
          <a:p/>
          <a:p>
            <a:r>
              <a:t>[시간 운영]</a:t>
            </a:r>
          </a:p>
          <a:p>
            <a:r>
              <a:t>3분 권장. 회차별 설명·시연 70분 + 실습 30분 + 휴식 10분 + 정리 10분 = 120분.</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https://docs.langchain.com/oss/python/langgraph/graph-api</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18 | Multi-Agent의 선택 기준</a:t>
            </a:r>
          </a:p>
          <a:p>
            <a:r>
              <a:t>공통 개념: C01 / Summary와 동일한 C ID</a:t>
            </a:r>
          </a:p>
          <a:p/>
          <a:p>
            <a:r>
              <a:t>[설명 의도]</a:t>
            </a:r>
          </a:p>
          <a:p>
            <a:r>
              <a:t>역할 분리의 이익이 호출·Context·합류 비용보다 큰지 판단한다.</a:t>
            </a:r>
          </a:p>
          <a:p/>
          <a:p>
            <a:r>
              <a:t>[말로 풀어 줄 내용]</a:t>
            </a:r>
          </a:p>
          <a:p>
            <a:r>
              <a:t>Metrics와 Runbook은 서로 다른 시스템과 증거를 다룬다는 점에서 분리의 이유가 있다. 같은 Context와 같은 권한을 쓰는 이름만 다른 Agent는 독립 검증이 아니다. 전문 Agent의 출력을 상위 State 계약으로 바꾸는 Adapter도 필요하다.</a:t>
            </a:r>
          </a:p>
          <a:p/>
          <a:p>
            <a:r>
              <a:t>[예상 질문 / 토론]</a:t>
            </a:r>
          </a:p>
          <a:p>
            <a:r>
              <a:t>전문 Agent들이 서로 반대 결론을 내리면 누가 조정해야 하는가?</a:t>
            </a:r>
          </a:p>
          <a:p/>
          <a:p>
            <a:r>
              <a:t>[오해 방지]</a:t>
            </a:r>
          </a:p>
          <a:p>
            <a:r>
              <a:t>Agent 수와 정확성의 상관관계를 근거 없이 주장하지 않는다.</a:t>
            </a:r>
          </a:p>
          <a:p/>
          <a:p>
            <a:r>
              <a:t>[시연 연결 / 활동]</a:t>
            </a:r>
          </a:p>
          <a:p>
            <a:r>
              <a:t>화면의 비교표·그림에서 책임 계층과 다음 처리 조건을 짚는다. 실제 외부 시스템 호출은 하지 않는다.</a:t>
            </a:r>
          </a:p>
          <a:p>
            <a:r>
              <a:t>코드 위치: 해당 없음. 설계 설명 또는 개념 그림.</a:t>
            </a:r>
          </a:p>
          <a:p/>
          <a:p>
            <a:r>
              <a:t>[시간 운영]</a:t>
            </a:r>
          </a:p>
          <a:p>
            <a:r>
              <a:t>3분 권장. 회차별 설명·시연 70분 + 실습 30분 + 휴식 10분 + 정리 10분 = 120분.</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https://docs.langchain.com/oss/python/langgraph/graph-api</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19 | 실습 1 · State 설계</a:t>
            </a:r>
          </a:p>
          <a:p>
            <a:r>
              <a:t>공통 개념: C04·C05 / Summary와 동일한 C ID</a:t>
            </a:r>
          </a:p>
          <a:p/>
          <a:p>
            <a:r>
              <a:t>[설명 의도]</a:t>
            </a:r>
          </a:p>
          <a:p>
            <a:r>
              <a:t>요구사항을 필드 계약과 5–7개 Node의 Graph로 바꾼다.</a:t>
            </a:r>
          </a:p>
          <a:p/>
          <a:p>
            <a:r>
              <a:t>[말로 풀어 줄 내용]</a:t>
            </a:r>
          </a:p>
          <a:p>
            <a:r>
              <a:t>starter/contracts.csv와 fixtures/normal.json을 제공한다. 수강생에게 전체 정답을 먼저 보여주지 않는다. 접수, metrics, runbook, gate, approval, execute의 6개 책임으로 그릴 수 있다. 실제 교육용 Graph에서 접수는 초기 입력 구성으로 구현되어 있다. 남은 시간에 다른 팀의 필드 소유권을 검토한다.</a:t>
            </a:r>
          </a:p>
          <a:p/>
          <a:p>
            <a:r>
              <a:t>[예상 질문 / 토론]</a:t>
            </a:r>
          </a:p>
          <a:p>
            <a:r>
              <a:t>가장 충돌하기 쉬운 필드는 무엇이며 어떻게 분리했는가?</a:t>
            </a:r>
          </a:p>
          <a:p/>
          <a:p>
            <a:r>
              <a:t>[오해 방지]</a:t>
            </a:r>
          </a:p>
          <a:p>
            <a:r>
              <a:t>실습 스케치의 Node 수와 정답 구현의 함수 수를 억지로 일치시키지 않는다.</a:t>
            </a:r>
          </a:p>
          <a:p/>
          <a:p>
            <a:r>
              <a:t>[시연 연결 / 활동]</a:t>
            </a:r>
          </a:p>
          <a:p>
            <a:r>
              <a:t>starter/TASKS_KO.md 실습 1; solution/workflow.py는 해설용</a:t>
            </a:r>
          </a:p>
          <a:p>
            <a:r>
              <a:t>코드 위치: 해당 없음. 설계 설명 또는 개념 그림.</a:t>
            </a:r>
          </a:p>
          <a:p/>
          <a:p>
            <a:r>
              <a:t>[시간 운영]</a:t>
            </a:r>
          </a:p>
          <a:p>
            <a:r>
              <a:t>30분 권장. 회차별 설명·시연 70분 + 실습 30분 + 휴식 10분 + 정리 10분 = 120분.</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https://docs.langchain.com/oss/python/langgraph/graph-api</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20 | 1회차 점검</a:t>
            </a:r>
          </a:p>
          <a:p>
            <a:r>
              <a:t>공통 개념: C01–C05 / Summary와 동일한 C ID</a:t>
            </a:r>
          </a:p>
          <a:p/>
          <a:p>
            <a:r>
              <a:t>[설명 의도]</a:t>
            </a:r>
          </a:p>
          <a:p>
            <a:r>
              <a:t>각 필드의 책임과 실행 통제 위치를 설명한다.</a:t>
            </a:r>
          </a:p>
          <a:p/>
          <a:p>
            <a:r>
              <a:t>[말로 풀어 줄 내용]</a:t>
            </a:r>
          </a:p>
          <a:p>
            <a:r>
              <a:t>해설 1: 요청은 모델의 의도, 실행은 허용 인자와 권한 검사 후 프로그램이 수행한다. 해설 2: 키를 분리하거나 의미가 명확한 reducer를 설계하고 합류 뒤 정책을 결정한다. 해설 3: TypedDict는 타입 계약이며 런타임 validation은 별도다. 10분 동안 서로의 설계를 설명하고 다음 회차의 근거 검증으로 연결한다.</a:t>
            </a:r>
          </a:p>
          <a:p/>
          <a:p>
            <a:r>
              <a:t>[예상 질문 / 토론]</a:t>
            </a:r>
          </a:p>
          <a:p>
            <a:r>
              <a:t>각 답을 자신의 State 표에 연결할 수 있는가?</a:t>
            </a:r>
          </a:p>
          <a:p/>
          <a:p>
            <a:r>
              <a:t>[오해 방지]</a:t>
            </a:r>
          </a:p>
          <a:p>
            <a:r>
              <a:t>정의 암기보다 어느 코드에서 강제할지를 답하도록 유도한다.</a:t>
            </a:r>
          </a:p>
          <a:p/>
          <a:p>
            <a:r>
              <a:t>[시연 연결 / 활동]</a:t>
            </a:r>
          </a:p>
          <a:p>
            <a:r>
              <a:t>화면의 비교표·그림에서 책임 계층과 다음 처리 조건을 짚는다. 실제 외부 시스템 호출은 하지 않는다.</a:t>
            </a:r>
          </a:p>
          <a:p>
            <a:r>
              <a:t>코드 위치: 해당 없음. 설계 설명 또는 개념 그림.</a:t>
            </a:r>
          </a:p>
          <a:p/>
          <a:p>
            <a:r>
              <a:t>[시간 운영]</a:t>
            </a:r>
          </a:p>
          <a:p>
            <a:r>
              <a:t>10분 권장. 회차별 설명·시연 70분 + 실습 30분 + 휴식 10분 + 정리 10분 = 120분.</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https://docs.langchain.com/oss/python/langgraph/graph-api</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21 | 업무 지식과 검색</a:t>
            </a:r>
          </a:p>
          <a:p>
            <a:r>
              <a:t>공통 개념: C06 / Summary와 동일한 C ID</a:t>
            </a:r>
          </a:p>
          <a:p/>
          <a:p>
            <a:r>
              <a:t>[설명 의도]</a:t>
            </a:r>
          </a:p>
          <a:p>
            <a:r>
              <a:t>모델이 모르는 현재 업무 근거를 외부 문서에서 찾는다.</a:t>
            </a:r>
          </a:p>
          <a:p/>
          <a:p>
            <a:r>
              <a:t>[말로 풀어 줄 내용]</a:t>
            </a:r>
          </a:p>
          <a:p>
            <a:r>
              <a:t>모델의 일반 지식은 사내 운영 지침의 최신 버전을 보증하지 않는다. 검색이 필요하다는 판단, 후보 문서 검색, 문서가 권고 조치를 지지하는지 판단하는 단계를 구분한다. 문서가 없으면 생성으로 사실을 메우지 않는다.</a:t>
            </a:r>
          </a:p>
          <a:p/>
          <a:p>
            <a:r>
              <a:t>[예상 질문 / 토론]</a:t>
            </a:r>
          </a:p>
          <a:p>
            <a:r>
              <a:t>검색 결과가 없는데 confidence가 높으면 조치를 진행할 수 있는가?</a:t>
            </a:r>
          </a:p>
          <a:p/>
          <a:p>
            <a:r>
              <a:t>[오해 방지]</a:t>
            </a:r>
          </a:p>
          <a:p>
            <a:r>
              <a:t>모델 확신은 검색 성공이나 최신성의 대체재가 아니다.</a:t>
            </a:r>
          </a:p>
          <a:p/>
          <a:p>
            <a:r>
              <a:t>[시연 연결 / 활동]</a:t>
            </a:r>
          </a:p>
          <a:p>
            <a:r>
              <a:t>화면의 비교표·그림에서 책임 계층과 다음 처리 조건을 짚는다. 실제 외부 시스템 호출은 하지 않는다.</a:t>
            </a:r>
          </a:p>
          <a:p>
            <a:r>
              <a:t>코드 위치: 해당 없음. 설계 설명 또는 개념 그림.</a:t>
            </a:r>
          </a:p>
          <a:p/>
          <a:p>
            <a:r>
              <a:t>[시간 운영]</a:t>
            </a:r>
          </a:p>
          <a:p>
            <a:r>
              <a:t>4분 권장. 회차별 설명·시연 70분 + 실습 30분 + 휴식 10분 + 정리 10분 = 120분.</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https://qdrant.tech/documentation/</a:t>
            </a:r>
          </a:p>
          <a:p>
            <a:r>
              <a:t>https://huggingface.co/BAAI/bge-m3</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22 | RAG 구성 요소</a:t>
            </a:r>
          </a:p>
          <a:p>
            <a:r>
              <a:t>공통 개념: C06 / Summary와 동일한 C ID</a:t>
            </a:r>
          </a:p>
          <a:p/>
          <a:p>
            <a:r>
              <a:t>[설명 의도]</a:t>
            </a:r>
          </a:p>
          <a:p>
            <a:r>
              <a:t>적재·검색·생성·근거 검증의 책임을 나눈다.</a:t>
            </a:r>
          </a:p>
          <a:p/>
          <a:p>
            <a:r>
              <a:t>[말로 풀어 줄 내용]</a:t>
            </a:r>
          </a:p>
          <a:p>
            <a:r>
              <a:t>적재는 문서 경계와 버전을 보존하고, Embedding은 표현을 바꾸고, Vector Store는 저장·검색한다. 생성은 검색 후보를 읽지만 검증은 주장과 출처의 관계를 확인해야 한다. 이 자료의 기본 실습은 합성 문서 결과를 사용하며 실제 BGE-M3·Qdrant 서버를 실행하지 않는다.</a:t>
            </a:r>
          </a:p>
          <a:p/>
          <a:p>
            <a:r>
              <a:t>[예상 질문 / 토론]</a:t>
            </a:r>
          </a:p>
          <a:p>
            <a:r>
              <a:t>Retrieval 성공이 Groundedness 성공을 뜻하는가?</a:t>
            </a:r>
          </a:p>
          <a:p/>
          <a:p>
            <a:r>
              <a:t>[오해 방지]</a:t>
            </a:r>
          </a:p>
          <a:p>
            <a:r>
              <a:t>서로 다른 단계의 성공을 하나로 묶어 RAG가 검증됐다고 말하지 않는다.</a:t>
            </a:r>
          </a:p>
          <a:p/>
          <a:p>
            <a:r>
              <a:t>[시연 연결 / 활동]</a:t>
            </a:r>
          </a:p>
          <a:p>
            <a:r>
              <a:t>화면의 비교표·그림에서 책임 계층과 다음 처리 조건을 짚는다. 실제 외부 시스템 호출은 하지 않는다.</a:t>
            </a:r>
          </a:p>
          <a:p>
            <a:r>
              <a:t>코드 위치: 해당 없음. 설계 설명 또는 개념 그림.</a:t>
            </a:r>
          </a:p>
          <a:p/>
          <a:p>
            <a:r>
              <a:t>[시간 운영]</a:t>
            </a:r>
          </a:p>
          <a:p>
            <a:r>
              <a:t>4분 권장. 회차별 설명·시연 70분 + 실습 30분 + 휴식 10분 + 정리 10분 = 120분.</a:t>
            </a:r>
          </a:p>
          <a:p>
            <a:r>
              <a:t>60분 경로에 포함. 15장 경로: 1, 3, 6, 9, 12, 15, 22, 25, 30, 33, 35, 44, 49, 56, 60. 실습은 별도 진행.</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https://qdrant.tech/documentation/</a:t>
            </a:r>
          </a:p>
          <a:p>
            <a:r>
              <a:t>https://huggingface.co/BAAI/bge-m3</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23 | Embedding과 Qdrant</a:t>
            </a:r>
          </a:p>
          <a:p>
            <a:r>
              <a:t>공통 개념: C06 / Summary와 동일한 C ID</a:t>
            </a:r>
          </a:p>
          <a:p/>
          <a:p>
            <a:r>
              <a:t>[설명 의도]</a:t>
            </a:r>
          </a:p>
          <a:p>
            <a:r>
              <a:t>벡터를 만드는 모델과 벡터를 저장·검색하는 시스템은 다르다.</a:t>
            </a:r>
          </a:p>
          <a:p/>
          <a:p>
            <a:r>
              <a:t>[말로 풀어 줄 내용]</a:t>
            </a:r>
          </a:p>
          <a:p>
            <a:r>
              <a:t>임베딩 모델을 바꿀 때 벡터 차원뿐 아니라 표현 공간이 바뀌는지 검토한다. 차원이 같아도 기존 문서 벡터와 새로운 질의 벡터가 같은 공간이라고 볼 수 없다. 재임베딩과 인덱스 버전 전환의 품질을 평가한다.</a:t>
            </a:r>
          </a:p>
          <a:p/>
          <a:p>
            <a:r>
              <a:t>[예상 질문 / 토론]</a:t>
            </a:r>
          </a:p>
          <a:p>
            <a:r>
              <a:t>임베딩 차원이 같으면 모델을 그대로 교체할 수 있는가?</a:t>
            </a:r>
          </a:p>
          <a:p/>
          <a:p>
            <a:r>
              <a:t>[오해 방지]</a:t>
            </a:r>
          </a:p>
          <a:p>
            <a:r>
              <a:t>Qdrant가 문서의 사실성을 검증해 주는 것은 아니다.</a:t>
            </a:r>
          </a:p>
          <a:p/>
          <a:p>
            <a:r>
              <a:t>[시연 연결 / 활동]</a:t>
            </a:r>
          </a:p>
          <a:p>
            <a:r>
              <a:t>화면의 비교표·그림에서 책임 계층과 다음 처리 조건을 짚는다. 실제 외부 시스템 호출은 하지 않는다.</a:t>
            </a:r>
          </a:p>
          <a:p>
            <a:r>
              <a:t>코드 위치: 해당 없음. 설계 설명 또는 개념 그림.</a:t>
            </a:r>
          </a:p>
          <a:p/>
          <a:p>
            <a:r>
              <a:t>[시간 운영]</a:t>
            </a:r>
          </a:p>
          <a:p>
            <a:r>
              <a:t>4분 권장. 회차별 설명·시연 70분 + 실습 30분 + 휴식 10분 + 정리 10분 = 120분.</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https://qdrant.tech/documentation/</a:t>
            </a:r>
          </a:p>
          <a:p>
            <a:r>
              <a:t>https://huggingface.co/BAAI/bge-m3</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24 | 문서 Metadata</a:t>
            </a:r>
          </a:p>
          <a:p>
            <a:r>
              <a:t>공통 개념: C06 / Summary와 동일한 C ID</a:t>
            </a:r>
          </a:p>
          <a:p/>
          <a:p>
            <a:r>
              <a:t>[설명 의도]</a:t>
            </a:r>
          </a:p>
          <a:p>
            <a:r>
              <a:t>문서의 버전·적용 범위·권한이 사용 가능성을 바꾼다.</a:t>
            </a:r>
          </a:p>
          <a:p/>
          <a:p>
            <a:r>
              <a:t>[말로 풀어 줄 내용]</a:t>
            </a:r>
          </a:p>
          <a:p>
            <a:r>
              <a:t>화면의 날짜와 범위는 합성 Metadata다. 관련성이 높은 문서라도 다른 환경의 지침이면 그대로 실행 근거로 삼지 않는다. 접근 필터를 검색 단계에 적용하고 최종 사용 시에도 업무 권한을 검토한다. 원문 위치나 Chunk 구간을 남기면 보고서 인용을 되짚기 쉽다.</a:t>
            </a:r>
          </a:p>
          <a:p/>
          <a:p>
            <a:r>
              <a:t>[예상 질문 / 토론]</a:t>
            </a:r>
          </a:p>
          <a:p>
            <a:r>
              <a:t>가장 최근 문서라면 항상 가장 적합한 문서인가?</a:t>
            </a:r>
          </a:p>
          <a:p/>
          <a:p>
            <a:r>
              <a:t>[오해 방지]</a:t>
            </a:r>
          </a:p>
          <a:p>
            <a:r>
              <a:t>최신성·관련성·서비스 적용 범위·권한은 독립된 판단 항목이다.</a:t>
            </a:r>
          </a:p>
          <a:p/>
          <a:p>
            <a:r>
              <a:t>[시연 연결 / 활동]</a:t>
            </a:r>
          </a:p>
          <a:p>
            <a:r>
              <a:t>화면의 비교표·그림에서 책임 계층과 다음 처리 조건을 짚는다. 실제 외부 시스템 호출은 하지 않는다.</a:t>
            </a:r>
          </a:p>
          <a:p>
            <a:r>
              <a:t>코드 위치: 해당 없음. 설계 설명 또는 개념 그림.</a:t>
            </a:r>
          </a:p>
          <a:p/>
          <a:p>
            <a:r>
              <a:t>[시간 운영]</a:t>
            </a:r>
          </a:p>
          <a:p>
            <a:r>
              <a:t>4분 권장. 회차별 설명·시연 70분 + 실습 30분 + 휴식 10분 + 정리 10분 = 120분.</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https://qdrant.tech/documentation/</a:t>
            </a:r>
          </a:p>
          <a:p>
            <a:r>
              <a:t>https://huggingface.co/BAAI/bge-m3</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25 | 인용 출처 검증</a:t>
            </a:r>
          </a:p>
          <a:p>
            <a:r>
              <a:t>공통 개념: C06 / Summary와 동일한 C ID</a:t>
            </a:r>
          </a:p>
          <a:p/>
          <a:p>
            <a:r>
              <a:t>[설명 의도]</a:t>
            </a:r>
          </a:p>
          <a:p>
            <a:r>
              <a:t>모델 인용 ID를 실제 Tool 응답에서 관측한 ID와 대조한다.</a:t>
            </a:r>
          </a:p>
          <a:p/>
          <a:p>
            <a:r>
              <a:t>[말로 풀어 줄 내용]</a:t>
            </a:r>
          </a:p>
          <a:p>
            <a:r>
              <a:t>실제 Tool 응답에서 observed={metric-7, runbook-12}를 얻고 모델이 {runbook-12, invented-9}를 인용했다고 가정한다. 교집합은 runbook-12이고 invented-9는 제외한다. 원래 Finding에는 제외된 ID가 남을 수 있으므로 검증된 근거와 분리해 보고한다.</a:t>
            </a:r>
          </a:p>
          <a:p/>
          <a:p>
            <a:r>
              <a:t>[예상 질문 / 토론]</a:t>
            </a:r>
          </a:p>
          <a:p>
            <a:r>
              <a:t>verified_sources가 하나라도 있으면 모든 권고를 승인해도 되는가?</a:t>
            </a:r>
          </a:p>
          <a:p/>
          <a:p>
            <a:r>
              <a:t>[오해 방지]</a:t>
            </a:r>
          </a:p>
          <a:p>
            <a:r>
              <a:t>교집합은 존재 확인의 일부다. 주장 의미와 최신성의 검증을 대신하지 않는다.</a:t>
            </a:r>
          </a:p>
          <a:p/>
          <a:p>
            <a:r>
              <a:t>[시연 연결 / 활동]</a:t>
            </a:r>
          </a:p>
          <a:p>
            <a:r>
              <a:t>solution/test_workflow.py: test_missing_evidence_blocks</a:t>
            </a:r>
          </a:p>
          <a:p>
            <a:r>
              <a:t>코드 위치: 해당 없음. 설계 설명 또는 개념 그림.</a:t>
            </a:r>
          </a:p>
          <a:p/>
          <a:p>
            <a:r>
              <a:t>[시간 운영]</a:t>
            </a:r>
          </a:p>
          <a:p>
            <a:r>
              <a:t>4분 권장. 회차별 설명·시연 70분 + 실습 30분 + 휴식 10분 + 정리 10분 = 120분.</a:t>
            </a:r>
          </a:p>
          <a:p>
            <a:r>
              <a:t>60분 경로에 포함. 15장 경로: 1, 3, 6, 9, 12, 15, 22, 25, 30, 33, 35, 44, 49, 56, 60. 실습은 별도 진행.</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https://qdrant.tech/documentation/</a:t>
            </a:r>
          </a:p>
          <a:p>
            <a:r>
              <a:t>https://huggingface.co/BAAI/bge-m3</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26 | 근거의 타당성</a:t>
            </a:r>
          </a:p>
          <a:p>
            <a:r>
              <a:t>공통 개념: C06 / Summary와 동일한 C ID</a:t>
            </a:r>
          </a:p>
          <a:p/>
          <a:p>
            <a:r>
              <a:t>[설명 의도]</a:t>
            </a:r>
          </a:p>
          <a:p>
            <a:r>
              <a:t>존재하는 출처라도 주장·대상·시점이 맞는지 검사한다.</a:t>
            </a:r>
          </a:p>
          <a:p/>
          <a:p>
            <a:r>
              <a:t>[말로 풀어 줄 내용]</a:t>
            </a:r>
          </a:p>
          <a:p>
            <a:r>
              <a:t>문서가 존재한다는 검증과 그 문서에서 특정 조치를 도출할 수 있다는 검증은 별개다. 학습용 Gate는 관측 ID와 필수 결과를 검사하지만 모든 의미 검증을 자동 구현하지 않는다. 의미적 검토·평가 기준을 제품에 맞춰 추가해야 한다.</a:t>
            </a:r>
          </a:p>
          <a:p/>
          <a:p>
            <a:r>
              <a:t>[예상 질문 / 토론]</a:t>
            </a:r>
          </a:p>
          <a:p>
            <a:r>
              <a:t>실제 문서가 “운영에서는 재시작 금지”인데 요약이 재시작을 권하면 어떻게 되는가?</a:t>
            </a:r>
          </a:p>
          <a:p/>
          <a:p>
            <a:r>
              <a:t>[오해 방지]</a:t>
            </a:r>
          </a:p>
          <a:p>
            <a:r>
              <a:t>출처 ID 통과를 안전한 권고의 증명으로 포장하지 않는다.</a:t>
            </a:r>
          </a:p>
          <a:p/>
          <a:p>
            <a:r>
              <a:t>[시연 연결 / 활동]</a:t>
            </a:r>
          </a:p>
          <a:p>
            <a:r>
              <a:t>화면의 비교표·그림에서 책임 계층과 다음 처리 조건을 짚는다. 실제 외부 시스템 호출은 하지 않는다.</a:t>
            </a:r>
          </a:p>
          <a:p>
            <a:r>
              <a:t>코드 위치: 해당 없음. 설계 설명 또는 개념 그림.</a:t>
            </a:r>
          </a:p>
          <a:p/>
          <a:p>
            <a:r>
              <a:t>[시간 운영]</a:t>
            </a:r>
          </a:p>
          <a:p>
            <a:r>
              <a:t>4분 권장. 회차별 설명·시연 70분 + 실습 30분 + 휴식 10분 + 정리 10분 = 120분.</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https://qdrant.tech/documentation/</a:t>
            </a:r>
          </a:p>
          <a:p>
            <a:r>
              <a:t>https://huggingface.co/BAAI/bge-m3</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27 | MCP와 Tool Adapter</a:t>
            </a:r>
          </a:p>
          <a:p>
            <a:r>
              <a:t>공통 개념: C07 / Summary와 동일한 C ID</a:t>
            </a:r>
          </a:p>
          <a:p/>
          <a:p>
            <a:r>
              <a:t>[설명 의도]</a:t>
            </a:r>
          </a:p>
          <a:p>
            <a:r>
              <a:t>연결 표준과 업무 계약·권한 검증의 책임을 나눈다.</a:t>
            </a:r>
          </a:p>
          <a:p/>
          <a:p>
            <a:r>
              <a:t>[말로 풀어 줄 내용]</a:t>
            </a:r>
          </a:p>
          <a:p>
            <a:r>
              <a:t>MCP는 여러 Client가 도구를 발견하고 호출할 공통 인터페이스를 제공할 수 있다. 직접 HTTP/SDK가 더 단순한 경우도 있다. Adapter는 응답을 업무 Schema로 정규화하며 실제 Backend는 요청 권한과 변경 제약을 강제한다.</a:t>
            </a:r>
          </a:p>
          <a:p/>
          <a:p>
            <a:r>
              <a:t>[예상 질문 / 토론]</a:t>
            </a:r>
          </a:p>
          <a:p>
            <a:r>
              <a:t>MCP Server에 연결되면 모든 Tool을 모델에 노출해도 되는가?</a:t>
            </a:r>
          </a:p>
          <a:p/>
          <a:p>
            <a:r>
              <a:t>[오해 방지]</a:t>
            </a:r>
          </a:p>
          <a:p>
            <a:r>
              <a:t>표준 연결을 도입해도 사용자·서비스별 허용 목록이 필요하다.</a:t>
            </a:r>
          </a:p>
          <a:p/>
          <a:p>
            <a:r>
              <a:t>[시연 연결 / 활동]</a:t>
            </a:r>
          </a:p>
          <a:p>
            <a:r>
              <a:t>화면의 비교표·그림에서 책임 계층과 다음 처리 조건을 짚는다. 실제 외부 시스템 호출은 하지 않는다.</a:t>
            </a:r>
          </a:p>
          <a:p>
            <a:r>
              <a:t>코드 위치: 해당 없음. 설계 설명 또는 개념 그림.</a:t>
            </a:r>
          </a:p>
          <a:p/>
          <a:p>
            <a:r>
              <a:t>[시간 운영]</a:t>
            </a:r>
          </a:p>
          <a:p>
            <a:r>
              <a:t>4분 권장. 회차별 설명·시연 70분 + 실습 30분 + 휴식 10분 + 정리 10분 = 120분.</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https://docs.langchain.com/oss/python/langchain/mcp</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28 | 연결 수명</a:t>
            </a:r>
          </a:p>
          <a:p>
            <a:r>
              <a:t>공통 개념: C07 / Summary와 동일한 C ID</a:t>
            </a:r>
          </a:p>
          <a:p/>
          <a:p>
            <a:r>
              <a:t>[설명 의도]</a:t>
            </a:r>
          </a:p>
          <a:p>
            <a:r>
              <a:t>클라이언트·세션·DB 자원은 업무 State 밖에서 관리한다.</a:t>
            </a:r>
          </a:p>
          <a:p/>
          <a:p>
            <a:r>
              <a:t>[말로 풀어 줄 내용]</a:t>
            </a:r>
          </a:p>
          <a:p>
            <a:r>
              <a:t>service.py는 권장 책임 분해의 이름이지 제공된 저장소에 반드시 존재하는 파일을 뜻하지 않는다. 실습 demo.py가 SQLite context manager를 열고 Graph를 조립한다. 연결 객체를 Checkpoint에 넣기보다 런타임에 주입해야 재시작 후 자원을 새로 만들 수 있다.</a:t>
            </a:r>
          </a:p>
          <a:p/>
          <a:p>
            <a:r>
              <a:t>[예상 질문 / 토론]</a:t>
            </a:r>
          </a:p>
          <a:p>
            <a:r>
              <a:t>재개 시 DB 연결도 Checkpoint에서 복원해야 하는가?</a:t>
            </a:r>
          </a:p>
          <a:p/>
          <a:p>
            <a:r>
              <a:t>[오해 방지]</a:t>
            </a:r>
          </a:p>
          <a:p>
            <a:r>
              <a:t>저장한 업무 데이터와 현재 프로세스의 런타임 자원을 혼동하지 않는다.</a:t>
            </a:r>
          </a:p>
          <a:p/>
          <a:p>
            <a:r>
              <a:t>[시연 연결 / 활동]</a:t>
            </a:r>
          </a:p>
          <a:p>
            <a:r>
              <a:t>화면의 비교표·그림에서 책임 계층과 다음 처리 조건을 짚는다. 실제 외부 시스템 호출은 하지 않는다.</a:t>
            </a:r>
          </a:p>
          <a:p>
            <a:r>
              <a:t>전체 예제 위치: solution/demo.py: SqliteSaver context</a:t>
            </a:r>
          </a:p>
          <a:p/>
          <a:p>
            <a:r>
              <a:t>[시간 운영]</a:t>
            </a:r>
          </a:p>
          <a:p>
            <a:r>
              <a:t>4분 권장. 회차별 설명·시연 70분 + 실습 30분 + 휴식 10분 + 정리 10분 = 120분.</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https://docs.langchain.com/oss/python/langchain/mcp</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29 | 도구 연결의 실패</a:t>
            </a:r>
          </a:p>
          <a:p>
            <a:r>
              <a:t>공통 개념: C07 / Summary와 동일한 C ID</a:t>
            </a:r>
          </a:p>
          <a:p/>
          <a:p>
            <a:r>
              <a:t>[설명 의도]</a:t>
            </a:r>
          </a:p>
          <a:p>
            <a:r>
              <a:t>Timeout·오류 응답·파싱 실패에 서로 다른 처리가 필요하다.</a:t>
            </a:r>
          </a:p>
          <a:p/>
          <a:p>
            <a:r>
              <a:t>[말로 풀어 줄 내용]</a:t>
            </a:r>
          </a:p>
          <a:p>
            <a:r>
              <a:t>연결 오류와 업무 거절을 모두 빈 목록으로 바꾸면 Gate가 조회 성공 여부를 알 수 없다. 부작용이 있는 호출은 timeout 후 실제 변경 결과가 불명확할 수 있으므로 단순 재시도 규칙을 적용하지 않는다. 이 항목은 37–38장에서 확장한다.</a:t>
            </a:r>
          </a:p>
          <a:p/>
          <a:p>
            <a:r>
              <a:t>[예상 질문 / 토론]</a:t>
            </a:r>
          </a:p>
          <a:p>
            <a:r>
              <a:t>HTTP 응답을 못 받았다는 사실만으로 외부 작업이 실패했다고 말할 수 있는가?</a:t>
            </a:r>
          </a:p>
          <a:p/>
          <a:p>
            <a:r>
              <a:t>[오해 방지]</a:t>
            </a:r>
          </a:p>
          <a:p>
            <a:r>
              <a:t>모든 예외를 catch해서 ok로 바꾸지 않는다.</a:t>
            </a:r>
          </a:p>
          <a:p/>
          <a:p>
            <a:r>
              <a:t>[시연 연결 / 활동]</a:t>
            </a:r>
          </a:p>
          <a:p>
            <a:r>
              <a:t>화면의 비교표·그림에서 책임 계층과 다음 처리 조건을 짚는다. 실제 외부 시스템 호출은 하지 않는다.</a:t>
            </a:r>
          </a:p>
          <a:p>
            <a:r>
              <a:t>코드 위치: 해당 없음. 설계 설명 또는 개념 그림.</a:t>
            </a:r>
          </a:p>
          <a:p/>
          <a:p>
            <a:r>
              <a:t>[시간 운영]</a:t>
            </a:r>
          </a:p>
          <a:p>
            <a:r>
              <a:t>4분 권장. 회차별 설명·시연 70분 + 실습 30분 + 휴식 10분 + 정리 10분 = 120분.</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https://docs.langchain.com/oss/python/langchain/mcp</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30 | Evidence Policy Gate</a:t>
            </a:r>
          </a:p>
          <a:p>
            <a:r>
              <a:t>공통 개념: C08 / Summary와 동일한 C ID</a:t>
            </a:r>
          </a:p>
          <a:p/>
          <a:p>
            <a:r>
              <a:t>[설명 의도]</a:t>
            </a:r>
          </a:p>
          <a:p>
            <a:r>
              <a:t>필수 근거와 조사 결과를 코드가 검사한다.</a:t>
            </a:r>
          </a:p>
          <a:p/>
          <a:p>
            <a:r>
              <a:t>[말로 풀어 줄 내용]</a:t>
            </a:r>
          </a:p>
          <a:p>
            <a:r>
              <a:t>학습용 Gate의 구현 범위를 구체적으로 말한다. 성공 상태, tool_used, 관측 ID, 인용 ID, 서비스 일치를 검사한다. 의미적 Groundedness와 승인자 인증은 이 Fake Workflow에 완전히 구현된 것이 아니다. 다음 단계로 이동할 상태가 코드로 정해진다는 점이 핵심이다.</a:t>
            </a:r>
          </a:p>
          <a:p/>
          <a:p>
            <a:r>
              <a:t>[예상 질문 / 토론]</a:t>
            </a:r>
          </a:p>
          <a:p>
            <a:r>
              <a:t>Prompt에 “근거가 부족하면 멈춰라”라고 쓰면 Gate는 없어도 되는가?</a:t>
            </a:r>
          </a:p>
          <a:p/>
          <a:p>
            <a:r>
              <a:t>[오해 방지]</a:t>
            </a:r>
          </a:p>
          <a:p>
            <a:r>
              <a:t>사용자의 일반 승인을 근거 부족의 자동 해소로 사용하지 않는다.</a:t>
            </a:r>
          </a:p>
          <a:p/>
          <a:p>
            <a:r>
              <a:t>[시연 연결 / 활동]</a:t>
            </a:r>
          </a:p>
          <a:p>
            <a:r>
              <a:t>solution/workflow.py: gate</a:t>
            </a:r>
          </a:p>
          <a:p>
            <a:r>
              <a:t>코드 위치: 해당 없음. 설계 설명 또는 개념 그림.</a:t>
            </a:r>
          </a:p>
          <a:p/>
          <a:p>
            <a:r>
              <a:t>[시간 운영]</a:t>
            </a:r>
          </a:p>
          <a:p>
            <a:r>
              <a:t>4분 권장. 회차별 설명·시연 70분 + 실습 30분 + 휴식 10분 + 정리 10분 = 120분.</a:t>
            </a:r>
          </a:p>
          <a:p>
            <a:r>
              <a:t>60분 경로에 포함. 15장 경로: 1, 3, 6, 9, 12, 15, 22, 25, 30, 33, 35, 44, 49, 56, 60. 실습은 별도 진행.</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https://docs.langchain.com/oss/python/langgraph/persistence</a:t>
            </a:r>
          </a:p>
          <a:p>
            <a:r>
              <a:t>https://docs.langchain.com/oss/python/langgraph/interrupts</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31 | 승인 대상</a:t>
            </a:r>
          </a:p>
          <a:p>
            <a:r>
              <a:t>공통 개념: C08 / Summary와 동일한 C ID</a:t>
            </a:r>
          </a:p>
          <a:p/>
          <a:p>
            <a:r>
              <a:t>[설명 의도]</a:t>
            </a:r>
          </a:p>
          <a:p>
            <a:r>
              <a:t>승인을 특정 Incident·Action·서비스·계획 버전에 묶는다.</a:t>
            </a:r>
          </a:p>
          <a:p/>
          <a:p>
            <a:r>
              <a:t>[말로 풀어 줄 내용]</a:t>
            </a:r>
          </a:p>
          <a:p>
            <a:r>
              <a:t>실습 approval_matches는 필드 존재와 일치를 검사한다. 누락 값끼리 None==None으로 일치했다고 처리하지 않는다. 운영에서는 정규화된 인자 해시, 승인 만료, 인증된 승인자의 권한을 더한다. 계획이 바뀌면 이전 승인을 무효화한다.</a:t>
            </a:r>
          </a:p>
          <a:p/>
          <a:p>
            <a:r>
              <a:t>[예상 질문 / 토론]</a:t>
            </a:r>
          </a:p>
          <a:p>
            <a:r>
              <a:t>approved=True 하나로 충분하지 않은 이유는 무엇인가?</a:t>
            </a:r>
          </a:p>
          <a:p/>
          <a:p>
            <a:r>
              <a:t>[오해 방지]</a:t>
            </a:r>
          </a:p>
          <a:p>
            <a:r>
              <a:t>화면의 Payload는 운영 인증까지 구현된 승인 토큰이 아니다.</a:t>
            </a:r>
          </a:p>
          <a:p/>
          <a:p>
            <a:r>
              <a:t>[시연 연결 / 활동]</a:t>
            </a:r>
          </a:p>
          <a:p>
            <a:r>
              <a:t>화면의 비교표·그림에서 책임 계층과 다음 처리 조건을 짚는다. 실제 외부 시스템 호출은 하지 않는다.</a:t>
            </a:r>
          </a:p>
          <a:p>
            <a:r>
              <a:t>전체 예제 위치: solution/workflow.py: approval_for, approval_matches</a:t>
            </a:r>
          </a:p>
          <a:p/>
          <a:p>
            <a:r>
              <a:t>[시간 운영]</a:t>
            </a:r>
          </a:p>
          <a:p>
            <a:r>
              <a:t>4분 권장. 회차별 설명·시연 70분 + 실습 30분 + 휴식 10분 + 정리 10분 = 120분. 이 장 다음에 휴식 10분을 배치한다.</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https://docs.langchain.com/oss/python/langgraph/persistence</a:t>
            </a:r>
          </a:p>
          <a:p>
            <a:r>
              <a:t>https://docs.langchain.com/oss/python/langgraph/interrupts</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32 | 승인과 권한</a:t>
            </a:r>
          </a:p>
          <a:p>
            <a:r>
              <a:t>공통 개념: C08 / Summary와 동일한 C ID</a:t>
            </a:r>
          </a:p>
          <a:p/>
          <a:p>
            <a:r>
              <a:t>[설명 의도]</a:t>
            </a:r>
          </a:p>
          <a:p>
            <a:r>
              <a:t>결정을 받는 일과 그 결정을 할 권한을 확인하는 일은 다르다.</a:t>
            </a:r>
          </a:p>
          <a:p/>
          <a:p>
            <a:r>
              <a:t>[말로 풀어 줄 내용]</a:t>
            </a:r>
          </a:p>
          <a:p>
            <a:r>
              <a:t>CLI에서 문자열을 받는 것은 로그인된 운영자의 서명된 결정과 같지 않다. 인증·인가를 Workflow 외부 계층과 실행 직전 검사에 연결한다. 실습은 대상 확인과 상태 전이에 집중하며 실제 사용자 인증은 미구현으로 표시한다.</a:t>
            </a:r>
          </a:p>
          <a:p/>
          <a:p>
            <a:r>
              <a:t>[예상 질문 / 토론]</a:t>
            </a:r>
          </a:p>
          <a:p>
            <a:r>
              <a:t>다른 사용자의 thread ID를 알고 있으면 승인할 수 있어도 되는가?</a:t>
            </a:r>
          </a:p>
          <a:p/>
          <a:p>
            <a:r>
              <a:t>[오해 방지]</a:t>
            </a:r>
          </a:p>
          <a:p>
            <a:r>
              <a:t>thread ID 자체는 권한 증명이 아니다.</a:t>
            </a:r>
          </a:p>
          <a:p/>
          <a:p>
            <a:r>
              <a:t>[시연 연결 / 활동]</a:t>
            </a:r>
          </a:p>
          <a:p>
            <a:r>
              <a:t>화면의 비교표·그림에서 책임 계층과 다음 처리 조건을 짚는다. 실제 외부 시스템 호출은 하지 않는다.</a:t>
            </a:r>
          </a:p>
          <a:p>
            <a:r>
              <a:t>코드 위치: 해당 없음. 설계 설명 또는 개념 그림.</a:t>
            </a:r>
          </a:p>
          <a:p/>
          <a:p>
            <a:r>
              <a:t>[시간 운영]</a:t>
            </a:r>
          </a:p>
          <a:p>
            <a:r>
              <a:t>4분 권장. 회차별 설명·시연 70분 + 실습 30분 + 휴식 10분 + 정리 10분 = 120분.</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https://docs.langchain.com/oss/python/langgraph/persistence</a:t>
            </a:r>
          </a:p>
          <a:p>
            <a:r>
              <a:t>https://docs.langchain.com/oss/python/langgraph/interrupts</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33 | 승인 대기와 재개</a:t>
            </a:r>
          </a:p>
          <a:p>
            <a:r>
              <a:t>공통 개념: C08·C09 / Summary와 동일한 C ID</a:t>
            </a:r>
          </a:p>
          <a:p/>
          <a:p>
            <a:r>
              <a:t>[설명 의도]</a:t>
            </a:r>
          </a:p>
          <a:p>
            <a:r>
              <a:t>중단된 실행의 같은 thread에 승인·거부 결정을 전달한다.</a:t>
            </a:r>
          </a:p>
          <a:p/>
          <a:p>
            <a:r>
              <a:t>[말로 풀어 줄 내용]</a:t>
            </a:r>
          </a:p>
          <a:p>
            <a:r>
              <a:t>interrupt가 반환한 요구사항을 사람이 검토하고 같은 thread의 저장 상태를 사용해 재개한다. 새 thread로 시작하면 이전 중단 상태와 연결되지 않는다. 승인 대기는 업무가 끝난 것이 아니며 API 응답이 반환됐더라도 실행 수명은 이어질 수 있다.</a:t>
            </a:r>
          </a:p>
          <a:p/>
          <a:p>
            <a:r>
              <a:t>[예상 질문 / 토론]</a:t>
            </a:r>
          </a:p>
          <a:p>
            <a:r>
              <a:t>새 thread ID로 resume하면 이전 승인 대기를 이어갈 수 있는가?</a:t>
            </a:r>
          </a:p>
          <a:p/>
          <a:p>
            <a:r>
              <a:t>[오해 방지]</a:t>
            </a:r>
          </a:p>
          <a:p>
            <a:r>
              <a:t>모든 상태를 success/failure 두 값만으로 표현하지 않는다.</a:t>
            </a:r>
          </a:p>
          <a:p/>
          <a:p>
            <a:r>
              <a:t>[시연 연결 / 활동]</a:t>
            </a:r>
          </a:p>
          <a:p>
            <a:r>
              <a:t>demo.py start → status → resume --decision reject</a:t>
            </a:r>
          </a:p>
          <a:p>
            <a:r>
              <a:t>코드 위치: 해당 없음. 설계 설명 또는 개념 그림.</a:t>
            </a:r>
          </a:p>
          <a:p/>
          <a:p>
            <a:r>
              <a:t>[시간 운영]</a:t>
            </a:r>
          </a:p>
          <a:p>
            <a:r>
              <a:t>4분 권장. 회차별 설명·시연 70분 + 실습 30분 + 휴식 10분 + 정리 10분 = 120분.</a:t>
            </a:r>
          </a:p>
          <a:p>
            <a:r>
              <a:t>60분 경로에 포함. 15장 경로: 1, 3, 6, 9, 12, 15, 22, 25, 30, 33, 35, 44, 49, 56, 60. 실습은 별도 진행.</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https://docs.langchain.com/oss/python/langgraph/persistence</a:t>
            </a:r>
          </a:p>
          <a:p>
            <a:r>
              <a:t>https://docs.langchain.com/oss/python/langgraph/interrupts</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34 | Node 재실행</a:t>
            </a:r>
          </a:p>
          <a:p>
            <a:r>
              <a:t>공통 개념: C09 / Summary와 동일한 C ID</a:t>
            </a:r>
          </a:p>
          <a:p/>
          <a:p>
            <a:r>
              <a:t>[설명 의도]</a:t>
            </a:r>
          </a:p>
          <a:p>
            <a:r>
              <a:t>interrupt에서 재개할 때 해당 Node의 앞부분도 다시 실행된다.</a:t>
            </a:r>
          </a:p>
          <a:p/>
          <a:p>
            <a:r>
              <a:t>[말로 풀어 줄 내용]</a:t>
            </a:r>
          </a:p>
          <a:p>
            <a:r>
              <a:t>먼저 청중에게 resume이 interrupt 다음 줄에서만 이어지는지 묻는다. 공식 문서상 중단된 Node는 시작부터 다시 실행되므로 앞선 코드의 부작용을 검토해야 한다. 화면은 재실행 위치를 보이기 위한 의사코드이며 validate_decision은 설명용 이름이다. 실습의 approval 함수는 결정 검증을 직접 수행한다.</a:t>
            </a:r>
          </a:p>
          <a:p/>
          <a:p>
            <a:r>
              <a:t>[예상 질문 / 토론]</a:t>
            </a:r>
          </a:p>
          <a:p>
            <a:r>
              <a:t>interrupt 앞의 Email 발송이 성공했었다면 재개 후 무엇이 일어날 수 있는가?</a:t>
            </a:r>
          </a:p>
          <a:p/>
          <a:p>
            <a:r>
              <a:t>[오해 방지]</a:t>
            </a:r>
          </a:p>
          <a:p>
            <a:r>
              <a:t>Node 분리만으로 외부 변경의 exactly-once가 자동 보장되지는 않는다.</a:t>
            </a:r>
          </a:p>
          <a:p/>
          <a:p>
            <a:r>
              <a:t>[시연 연결 / 활동]</a:t>
            </a:r>
          </a:p>
          <a:p>
            <a:r>
              <a:t>화면의 비교표·그림에서 책임 계층과 다음 처리 조건을 짚는다. 실제 외부 시스템 호출은 하지 않는다.</a:t>
            </a:r>
          </a:p>
          <a:p>
            <a:r>
              <a:t>전체 예제 위치: 의사코드; solution/workflow.py: approval</a:t>
            </a:r>
          </a:p>
          <a:p/>
          <a:p>
            <a:r>
              <a:t>[시간 운영]</a:t>
            </a:r>
          </a:p>
          <a:p>
            <a:r>
              <a:t>4분 권장. 회차별 설명·시연 70분 + 실습 30분 + 휴식 10분 + 정리 10분 = 120분.</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https://docs.langchain.com/oss/python/langgraph/persistence</a:t>
            </a:r>
          </a:p>
          <a:p>
            <a:r>
              <a:t>https://docs.langchain.com/oss/python/langgraph/interrupts</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35 | Checkpoint와 업무 DB</a:t>
            </a:r>
          </a:p>
          <a:p>
            <a:r>
              <a:t>공통 개념: C09 / Summary와 동일한 C ID</a:t>
            </a:r>
          </a:p>
          <a:p/>
          <a:p>
            <a:r>
              <a:t>[설명 의도]</a:t>
            </a:r>
          </a:p>
          <a:p>
            <a:r>
              <a:t>실행 복원용 상태와 확정된 업무 사실의 책임을 구분한다.</a:t>
            </a:r>
          </a:p>
          <a:p/>
          <a:p>
            <a:r>
              <a:t>[말로 풀어 줄 내용]</a:t>
            </a:r>
          </a:p>
          <a:p>
            <a:r>
              <a:t>같은 데이터베이스 제품을 사용할 수 있지만 논리적 책임과 보관 정책은 다르다. Checkpoint에 상태가 남았다고 외부 변경 결과가 업무 원장과 원자적으로 일치하는 것은 아니다. SQLite는 교육과 작은 단일 환경에서 유용하며 운영의 동시성·백업은 별도 검토한다.</a:t>
            </a:r>
          </a:p>
          <a:p/>
          <a:p>
            <a:r>
              <a:t>[예상 질문 / 토론]</a:t>
            </a:r>
          </a:p>
          <a:p>
            <a:r>
              <a:t>Checkpoint에 승인 플래그가 있으면 업무 감사 기록은 없어도 되는가?</a:t>
            </a:r>
          </a:p>
          <a:p/>
          <a:p>
            <a:r>
              <a:t>[오해 방지]</a:t>
            </a:r>
          </a:p>
          <a:p>
            <a:r>
              <a:t>저장 위치가 같다고 정합성·보관 목적이 같아지지는 않는다.</a:t>
            </a:r>
          </a:p>
          <a:p/>
          <a:p>
            <a:r>
              <a:t>[시연 연결 / 활동]</a:t>
            </a:r>
          </a:p>
          <a:p>
            <a:r>
              <a:t>화면의 비교표·그림에서 책임 계층과 다음 처리 조건을 짚는다. 실제 외부 시스템 호출은 하지 않는다.</a:t>
            </a:r>
          </a:p>
          <a:p>
            <a:r>
              <a:t>코드 위치: 해당 없음. 설계 설명 또는 개념 그림.</a:t>
            </a:r>
          </a:p>
          <a:p/>
          <a:p>
            <a:r>
              <a:t>[시간 운영]</a:t>
            </a:r>
          </a:p>
          <a:p>
            <a:r>
              <a:t>4분 권장. 회차별 설명·시연 70분 + 실습 30분 + 휴식 10분 + 정리 10분 = 120분.</a:t>
            </a:r>
          </a:p>
          <a:p>
            <a:r>
              <a:t>60분 경로에 포함. 15장 경로: 1, 3, 6, 9, 12, 15, 22, 25, 30, 33, 35, 44, 49, 56, 60. 실습은 별도 진행.</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https://docs.langchain.com/oss/python/langgraph/persistence</a:t>
            </a:r>
          </a:p>
          <a:p>
            <a:r>
              <a:t>https://docs.langchain.com/oss/python/langgraph/interrupts</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36 | 재시작 후 복원</a:t>
            </a:r>
          </a:p>
          <a:p>
            <a:r>
              <a:t>공통 개념: C09 / Summary와 동일한 C ID</a:t>
            </a:r>
          </a:p>
          <a:p/>
          <a:p>
            <a:r>
              <a:t>[설명 의도]</a:t>
            </a:r>
          </a:p>
          <a:p>
            <a:r>
              <a:t>새 프로세스가 같은 SQLite 저장소와 thread를 사용해 이어간다.</a:t>
            </a:r>
          </a:p>
          <a:p/>
          <a:p>
            <a:r>
              <a:t>[말로 풀어 줄 내용]</a:t>
            </a:r>
          </a:p>
          <a:p>
            <a:r>
              <a:t>이번 제작에서 start와 resume를 별도 Python 프로세스로 실행해 SQLite 상태 복원을 확인했다. 이는 제공된 교육용 Graph의 결과이고 원본 Day 25 전체의 검증 결과가 아니다. 실습을 반복하려면 새 --thread를 사용한다. 동일 thread로 새 시작을 덮어쓰지 않도록 CLI가 거절한다.</a:t>
            </a:r>
          </a:p>
          <a:p/>
          <a:p>
            <a:r>
              <a:t>[예상 질문 / 토론]</a:t>
            </a:r>
          </a:p>
          <a:p>
            <a:r>
              <a:t>SQLite 파일을 지우거나 다른 경로를 사용하면 기존 실행을 찾을 수 있는가?</a:t>
            </a:r>
          </a:p>
          <a:p/>
          <a:p>
            <a:r>
              <a:t>[오해 방지]</a:t>
            </a:r>
          </a:p>
          <a:p>
            <a:r>
              <a:t>Simulator 호출 수는 현재 프로세스의 교육용 계수이며 전체 외부 실행 감사 원장이 아니다.</a:t>
            </a:r>
          </a:p>
          <a:p/>
          <a:p>
            <a:r>
              <a:t>[시연 연결 / 활동]</a:t>
            </a:r>
          </a:p>
          <a:p>
            <a:r>
              <a:t>README_KO.md 재시작 시연</a:t>
            </a:r>
          </a:p>
          <a:p>
            <a:r>
              <a:t>전체 예제 위치: solution/demo.py: start, status, resume</a:t>
            </a:r>
          </a:p>
          <a:p/>
          <a:p>
            <a:r>
              <a:t>[시간 운영]</a:t>
            </a:r>
          </a:p>
          <a:p>
            <a:r>
              <a:t>4분 권장. 회차별 설명·시연 70분 + 실습 30분 + 휴식 10분 + 정리 10분 = 120분.</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https://docs.langchain.com/oss/python/langgraph/persistence</a:t>
            </a:r>
          </a:p>
          <a:p>
            <a:r>
              <a:t>https://docs.langchain.com/oss/python/langgraph/interrupts</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37 | 실행 결과가 불확실한 장애</a:t>
            </a:r>
          </a:p>
          <a:p>
            <a:r>
              <a:t>공통 개념: C09 / Summary와 동일한 C ID</a:t>
            </a:r>
          </a:p>
          <a:p/>
          <a:p>
            <a:r>
              <a:t>[설명 의도]</a:t>
            </a:r>
          </a:p>
          <a:p>
            <a:r>
              <a:t>Timeout은 외부 변경이 실패했다는 뜻이 아닐 수 있다.</a:t>
            </a:r>
          </a:p>
          <a:p/>
          <a:p>
            <a:r>
              <a:t>[말로 풀어 줄 내용]</a:t>
            </a:r>
          </a:p>
          <a:p>
            <a:r>
              <a:t>이 시간선은 개념 사례이며 실제 운영 변경을 수행한 기록이 아니다. 외부 성공과 응답 수신 사이에 장애가 나면 호출자는 결과를 모른다. 성공·실패·불명확을 구분하고 외부 작업 ID 또는 멱등성 키로 결과를 조회한다.</a:t>
            </a:r>
          </a:p>
          <a:p/>
          <a:p>
            <a:r>
              <a:t>[예상 질문 / 토론]</a:t>
            </a:r>
          </a:p>
          <a:p>
            <a:r>
              <a:t>발송 요청이 timeout이면 Email을 다시 보내도 되는가?</a:t>
            </a:r>
          </a:p>
          <a:p/>
          <a:p>
            <a:r>
              <a:t>[오해 방지]</a:t>
            </a:r>
          </a:p>
          <a:p>
            <a:r>
              <a:t>조회 Tool의 재시도와 변경 Tool의 재시도에 같은 규칙을 적용하지 않는다.</a:t>
            </a:r>
          </a:p>
          <a:p/>
          <a:p>
            <a:r>
              <a:t>[시연 연결 / 활동]</a:t>
            </a:r>
          </a:p>
          <a:p>
            <a:r>
              <a:t>화면의 비교표·그림에서 책임 계층과 다음 처리 조건을 짚는다. 실제 외부 시스템 호출은 하지 않는다.</a:t>
            </a:r>
          </a:p>
          <a:p>
            <a:r>
              <a:t>코드 위치: 해당 없음. 설계 설명 또는 개념 그림.</a:t>
            </a:r>
          </a:p>
          <a:p/>
          <a:p>
            <a:r>
              <a:t>[시간 운영]</a:t>
            </a:r>
          </a:p>
          <a:p>
            <a:r>
              <a:t>3분 권장. 회차별 설명·시연 70분 + 실습 30분 + 휴식 10분 + 정리 10분 = 120분.</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https://docs.langchain.com/oss/python/langgraph/persistence</a:t>
            </a:r>
          </a:p>
          <a:p>
            <a:r>
              <a:t>https://docs.langchain.com/oss/python/langgraph/interrupts</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38 | 중복 실행 방지</a:t>
            </a:r>
          </a:p>
          <a:p>
            <a:r>
              <a:t>공통 개념: C09 / Summary와 동일한 C ID</a:t>
            </a:r>
          </a:p>
          <a:p/>
          <a:p>
            <a:r>
              <a:t>[설명 의도]</a:t>
            </a:r>
          </a:p>
          <a:p>
            <a:r>
              <a:t>안정적인 실행 식별자와 외부 결과 확인을 결합한다.</a:t>
            </a:r>
          </a:p>
          <a:p/>
          <a:p>
            <a:r>
              <a:t>[말로 풀어 줄 내용]</a:t>
            </a:r>
          </a:p>
          <a:p>
            <a:r>
              <a:t>incident_id+action_id는 키 설계의 출발점이다. 계획 변경을 허용하면 버전과 인자를 어떻게 묶을지 정한다. 원장 기록과 외부 시스템은 하나의 트랜잭션이 아닐 수 있다. Provider 멱등성 지원과 결과 조회를 결합하고 불명확하면 조정 절차로 넘긴다.</a:t>
            </a:r>
          </a:p>
          <a:p/>
          <a:p>
            <a:r>
              <a:t>[예상 질문 / 토론]</a:t>
            </a:r>
          </a:p>
          <a:p>
            <a:r>
              <a:t>재시도마다 새 idempotency key를 만들면 중복을 막을 수 있는가?</a:t>
            </a:r>
          </a:p>
          <a:p/>
          <a:p>
            <a:r>
              <a:t>[오해 방지]</a:t>
            </a:r>
          </a:p>
          <a:p>
            <a:r>
              <a:t>실행 의도만 DB에 기록했다고 exactly-once라고 부르지 않는다.</a:t>
            </a:r>
          </a:p>
          <a:p/>
          <a:p>
            <a:r>
              <a:t>[시연 연결 / 활동]</a:t>
            </a:r>
          </a:p>
          <a:p>
            <a:r>
              <a:t>화면의 비교표·그림에서 책임 계층과 다음 처리 조건을 짚는다. 실제 외부 시스템 호출은 하지 않는다.</a:t>
            </a:r>
          </a:p>
          <a:p>
            <a:r>
              <a:t>코드 위치: 해당 없음. 설계 설명 또는 개념 그림.</a:t>
            </a:r>
          </a:p>
          <a:p/>
          <a:p>
            <a:r>
              <a:t>[시간 운영]</a:t>
            </a:r>
          </a:p>
          <a:p>
            <a:r>
              <a:t>3분 권장. 회차별 설명·시연 70분 + 실습 30분 + 휴식 10분 + 정리 10분 = 120분.</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https://docs.langchain.com/oss/python/langgraph/persistence</a:t>
            </a:r>
          </a:p>
          <a:p>
            <a:r>
              <a:t>https://docs.langchain.com/oss/python/langgraph/interrupts</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39 | 실습 2 · 승인 분기</a:t>
            </a:r>
          </a:p>
          <a:p>
            <a:r>
              <a:t>공통 개념: C06·C08 / Summary와 동일한 C ID</a:t>
            </a:r>
          </a:p>
          <a:p/>
          <a:p>
            <a:r>
              <a:t>[설명 의도]</a:t>
            </a:r>
          </a:p>
          <a:p>
            <a:r>
              <a:t>근거 부족·거부·대상 불일치에서 실행 0회를 확인한다.</a:t>
            </a:r>
          </a:p>
          <a:p/>
          <a:p>
            <a:r>
              <a:t>[말로 풀어 줄 내용]</a:t>
            </a:r>
          </a:p>
          <a:p>
            <a:r>
              <a:t>정답 코드는 solution/workflow.py의 gate와 approval이다. 첫 단계에서는 starter/policy.py의 작은 계약을 채우고 정상·허위·Runbook 없음 Fixture를 비교하게 한다. 정상 경로도 먼저 승인을 기다리며 실행은 0회다. 다른 Incident 또는 Action으로 승인할 때도 차단됨을 확인한다.</a:t>
            </a:r>
          </a:p>
          <a:p/>
          <a:p>
            <a:r>
              <a:t>[예상 질문 / 토론]</a:t>
            </a:r>
          </a:p>
          <a:p>
            <a:r>
              <a:t>결과 문자열이 rejected이면 실행 0회도 자동 증명되는가?</a:t>
            </a:r>
          </a:p>
          <a:p/>
          <a:p>
            <a:r>
              <a:t>[오해 방지]</a:t>
            </a:r>
          </a:p>
          <a:p>
            <a:r>
              <a:t>상태와 부작용 호출 수를 각각 assert해야 한다.</a:t>
            </a:r>
          </a:p>
          <a:p/>
          <a:p>
            <a:r>
              <a:t>[시연 연결 / 활동]</a:t>
            </a:r>
          </a:p>
          <a:p>
            <a:r>
              <a:t>pytest -q test_workflow.py; 기본 모드에는 API key 불필요</a:t>
            </a:r>
          </a:p>
          <a:p>
            <a:r>
              <a:t>코드 위치: 해당 없음. 설계 설명 또는 개념 그림.</a:t>
            </a:r>
          </a:p>
          <a:p/>
          <a:p>
            <a:r>
              <a:t>[시간 운영]</a:t>
            </a:r>
          </a:p>
          <a:p>
            <a:r>
              <a:t>30분 권장. 회차별 설명·시연 70분 + 실습 30분 + 휴식 10분 + 정리 10분 = 120분.</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https://docs.langchain.com/oss/python/langgraph/persistence</a:t>
            </a:r>
          </a:p>
          <a:p>
            <a:r>
              <a:t>https://docs.langchain.com/oss/python/langgraph/interrupts</a:t>
            </a:r>
          </a:p>
          <a:p>
            <a:r>
              <a:t>https://qdrant.tech/documentation/</a:t>
            </a:r>
          </a:p>
          <a:p>
            <a:r>
              <a:t>https://huggingface.co/BAAI/bge-m3</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40 | 2회차 점검</a:t>
            </a:r>
          </a:p>
          <a:p>
            <a:r>
              <a:t>공통 개념: C06–C09 / Summary와 동일한 C ID</a:t>
            </a:r>
          </a:p>
          <a:p/>
          <a:p>
            <a:r>
              <a:t>[설명 의도]</a:t>
            </a:r>
          </a:p>
          <a:p>
            <a:r>
              <a:t>근거·승인·저장·복구의 경계를 설명한다.</a:t>
            </a:r>
          </a:p>
          <a:p/>
          <a:p>
            <a:r>
              <a:t>[말로 풀어 줄 내용]</a:t>
            </a:r>
          </a:p>
          <a:p>
            <a:r>
              <a:t>해설 1: 존재와 의미·최신성·적용 범위는 별도다. 해설 2: 중단된 Node가 처음부터 실행될 수 있어 부작용 중복을 검토한다. 해설 3: 안정적 실행 키로 외부 결과와 실행 원장을 대조한다. 확인되지 않으면 무조건 재호출하지 않는다. 회차 마무리 10분으로 운영한다.</a:t>
            </a:r>
          </a:p>
          <a:p/>
          <a:p>
            <a:r>
              <a:t>[예상 질문 / 토론]</a:t>
            </a:r>
          </a:p>
          <a:p>
            <a:r>
              <a:t>자신의 업무에서 “결과 불명확” 상태가 필요한 요청은 무엇인가?</a:t>
            </a:r>
          </a:p>
          <a:p/>
          <a:p>
            <a:r>
              <a:t>[오해 방지]</a:t>
            </a:r>
          </a:p>
          <a:p>
            <a:r>
              <a:t>수강생의 실제 시스템에서 안전하게 변경을 실행해 보라고 요구하지 않는다.</a:t>
            </a:r>
          </a:p>
          <a:p/>
          <a:p>
            <a:r>
              <a:t>[시연 연결 / 활동]</a:t>
            </a:r>
          </a:p>
          <a:p>
            <a:r>
              <a:t>화면의 비교표·그림에서 책임 계층과 다음 처리 조건을 짚는다. 실제 외부 시스템 호출은 하지 않는다.</a:t>
            </a:r>
          </a:p>
          <a:p>
            <a:r>
              <a:t>코드 위치: 해당 없음. 설계 설명 또는 개념 그림.</a:t>
            </a:r>
          </a:p>
          <a:p/>
          <a:p>
            <a:r>
              <a:t>[시간 운영]</a:t>
            </a:r>
          </a:p>
          <a:p>
            <a:r>
              <a:t>10분 권장. 회차별 설명·시연 70분 + 실습 30분 + 휴식 10분 + 정리 10분 = 120분.</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https://docs.langchain.com/oss/python/langgraph/persistence</a:t>
            </a:r>
          </a:p>
          <a:p>
            <a:r>
              <a:t>https://docs.langchain.com/oss/python/langgraph/interrupts</a:t>
            </a:r>
          </a:p>
          <a:p>
            <a:r>
              <a:t>https://qdrant.tech/documentation/</a:t>
            </a:r>
          </a:p>
          <a:p>
            <a:r>
              <a:t>https://huggingface.co/BAAI/bge-m3</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41 | Email 업무의 실행 경계</a:t>
            </a:r>
          </a:p>
          <a:p>
            <a:r>
              <a:t>공통 개념: C07·C08 / Summary와 동일한 C ID</a:t>
            </a:r>
          </a:p>
          <a:p/>
          <a:p>
            <a:r>
              <a:t>[설명 의도]</a:t>
            </a:r>
          </a:p>
          <a:p>
            <a:r>
              <a:t>검색·초안·수신자 검토·승인·발송을 분리한다.</a:t>
            </a:r>
          </a:p>
          <a:p/>
          <a:p>
            <a:r>
              <a:t>[말로 풀어 줄 내용]</a:t>
            </a:r>
          </a:p>
          <a:p>
            <a:r>
              <a:t>장애 사례에서 배운 판단과 실행 분리를 Email에 옮긴다. 승인 대상에는 수신자와 본문 버전 또는 해시를 포함할 수 있다. 발송 timeout이면 먼저 결과를 확인해야 한다. 초안의 성공과 전달 완료는 다른 상태다.</a:t>
            </a:r>
          </a:p>
          <a:p/>
          <a:p>
            <a:r>
              <a:t>[예상 질문 / 토론]</a:t>
            </a:r>
          </a:p>
          <a:p>
            <a:r>
              <a:t>승인 후 수신자가 바뀌면 기존 승인을 사용할 수 있는가?</a:t>
            </a:r>
          </a:p>
          <a:p/>
          <a:p>
            <a:r>
              <a:t>[오해 방지]</a:t>
            </a:r>
          </a:p>
          <a:p>
            <a:r>
              <a:t>Email Provider가 idempotency key를 지원한다고 가정하지 말고 실제 계약을 확인한다.</a:t>
            </a:r>
          </a:p>
          <a:p/>
          <a:p>
            <a:r>
              <a:t>[시연 연결 / 활동]</a:t>
            </a:r>
          </a:p>
          <a:p>
            <a:r>
              <a:t>화면의 비교표·그림에서 책임 계층과 다음 처리 조건을 짚는다. 실제 외부 시스템 호출은 하지 않는다.</a:t>
            </a:r>
          </a:p>
          <a:p>
            <a:r>
              <a:t>코드 위치: 해당 없음. 설계 설명 또는 개념 그림.</a:t>
            </a:r>
          </a:p>
          <a:p/>
          <a:p>
            <a:r>
              <a:t>[시간 운영]</a:t>
            </a:r>
          </a:p>
          <a:p>
            <a:r>
              <a:t>4분 권장. 회차별 설명·시연 70분 + 실습 30분 + 휴식 10분 + 정리 10분 = 120분.</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https://docs.langchain.com/oss/python/langgraph/persistence</a:t>
            </a:r>
          </a:p>
          <a:p>
            <a:r>
              <a:t>https://docs.langchain.com/oss/python/langgraph/interrupts</a:t>
            </a:r>
          </a:p>
          <a:p>
            <a:r>
              <a:t>https://docs.langchain.com/oss/python/langchain/mcp</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42 | DB 조회와 변경</a:t>
            </a:r>
          </a:p>
          <a:p>
            <a:r>
              <a:t>공통 개념: C07 / Summary와 동일한 C ID</a:t>
            </a:r>
          </a:p>
          <a:p/>
          <a:p>
            <a:r>
              <a:t>[설명 의도]</a:t>
            </a:r>
          </a:p>
          <a:p>
            <a:r>
              <a:t>읽기 권한·쿼리 제약·변경 트랜잭션을 구분한다.</a:t>
            </a:r>
          </a:p>
          <a:p/>
          <a:p>
            <a:r>
              <a:t>[말로 풀어 줄 내용]</a:t>
            </a:r>
          </a:p>
          <a:p>
            <a:r>
              <a:t>자연어를 임의 SQL로 변환해 고권한 연결로 실행하는 방식은 조회와 변경의 경계를 무너뜨린다. 파라미터화된 명령과 최소 권한을 사용한다. DB 변경과 외부 이벤트 발송은 하나의 원자적 트랜잭션이 아닐 수 있어 Outbox 패턴을 부록에서 다룬다.</a:t>
            </a:r>
          </a:p>
          <a:p/>
          <a:p>
            <a:r>
              <a:t>[예상 질문 / 토론]</a:t>
            </a:r>
          </a:p>
          <a:p>
            <a:r>
              <a:t>모델이 만든 UPDATE가 Schema에 맞으면 실행해도 되는가?</a:t>
            </a:r>
          </a:p>
          <a:p/>
          <a:p>
            <a:r>
              <a:t>[오해 방지]</a:t>
            </a:r>
          </a:p>
          <a:p>
            <a:r>
              <a:t>SQL 문자열 검사만으로 권한과 업무 제약이 해결되지는 않는다.</a:t>
            </a:r>
          </a:p>
          <a:p/>
          <a:p>
            <a:r>
              <a:t>[시연 연결 / 활동]</a:t>
            </a:r>
          </a:p>
          <a:p>
            <a:r>
              <a:t>화면의 비교표·그림에서 책임 계층과 다음 처리 조건을 짚는다. 실제 외부 시스템 호출은 하지 않는다.</a:t>
            </a:r>
          </a:p>
          <a:p>
            <a:r>
              <a:t>코드 위치: 해당 없음. 설계 설명 또는 개념 그림.</a:t>
            </a:r>
          </a:p>
          <a:p/>
          <a:p>
            <a:r>
              <a:t>[시간 운영]</a:t>
            </a:r>
          </a:p>
          <a:p>
            <a:r>
              <a:t>4분 권장. 회차별 설명·시연 70분 + 실습 30분 + 휴식 10분 + 정리 10분 = 120분.</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https://docs.langchain.com/oss/python/langchain/mcp</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43 | 사내 시스템 연동</a:t>
            </a:r>
          </a:p>
          <a:p>
            <a:r>
              <a:t>공통 개념: C07 / Summary와 동일한 C ID</a:t>
            </a:r>
          </a:p>
          <a:p/>
          <a:p>
            <a:r>
              <a:t>[설명 의도]</a:t>
            </a:r>
          </a:p>
          <a:p>
            <a:r>
              <a:t>Connector가 달라도 입력·권한·결과·부작용 계약은 유지한다.</a:t>
            </a:r>
          </a:p>
          <a:p/>
          <a:p>
            <a:r>
              <a:t>[말로 풀어 줄 내용]</a:t>
            </a:r>
          </a:p>
          <a:p>
            <a:r>
              <a:t>각 도구를 붙일 때 먼저 조회 전용 기능과 변경 기능을 나눈다. 인증된 사용자의 업무 범위와 Connector의 기술적 접근 범위가 일치하는지 확인한다. Graph는 여러 Connector의 결과를 공통 계약으로 정규화해 판단한다.</a:t>
            </a:r>
          </a:p>
          <a:p/>
          <a:p>
            <a:r>
              <a:t>[예상 질문 / 토론]</a:t>
            </a:r>
          </a:p>
          <a:p>
            <a:r>
              <a:t>하나의 Connector 토큰이 여러 서비스에 접근 가능하면 Agent도 모두 사용해도 되는가?</a:t>
            </a:r>
          </a:p>
          <a:p/>
          <a:p>
            <a:r>
              <a:t>[오해 방지]</a:t>
            </a:r>
          </a:p>
          <a:p>
            <a:r>
              <a:t>기술적 접근 가능성과 사용자 업무 권한은 다르다.</a:t>
            </a:r>
          </a:p>
          <a:p/>
          <a:p>
            <a:r>
              <a:t>[시연 연결 / 활동]</a:t>
            </a:r>
          </a:p>
          <a:p>
            <a:r>
              <a:t>화면의 비교표·그림에서 책임 계층과 다음 처리 조건을 짚는다. 실제 외부 시스템 호출은 하지 않는다.</a:t>
            </a:r>
          </a:p>
          <a:p>
            <a:r>
              <a:t>코드 위치: 해당 없음. 설계 설명 또는 개념 그림.</a:t>
            </a:r>
          </a:p>
          <a:p/>
          <a:p>
            <a:r>
              <a:t>[시간 운영]</a:t>
            </a:r>
          </a:p>
          <a:p>
            <a:r>
              <a:t>4분 권장. 회차별 설명·시연 70분 + 실습 30분 + 휴식 10분 + 정리 10분 = 120분.</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https://docs.langchain.com/oss/python/langchain/mcp</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44 | 오류 분류와 대응</a:t>
            </a:r>
          </a:p>
          <a:p>
            <a:r>
              <a:t>공통 개념: C10 / Summary와 동일한 C ID</a:t>
            </a:r>
          </a:p>
          <a:p/>
          <a:p>
            <a:r>
              <a:t>[설명 의도]</a:t>
            </a:r>
          </a:p>
          <a:p>
            <a:r>
              <a:t>재시도할 오류와 수정·중단해야 할 오류를 구분한다.</a:t>
            </a:r>
          </a:p>
          <a:p/>
          <a:p>
            <a:r>
              <a:t>[말로 풀어 줄 내용]</a:t>
            </a:r>
          </a:p>
          <a:p>
            <a:r>
              <a:t>실습은 transient_timeout과 invalid_output을 다른 reason으로 기록한다. 운영에서는 사용자용 요약과 내부 오류 코드·Trace를 함께 둔다. 모든 예외를 failed로 바꾸는 단순화는 버그·권한 거절·일시 장애를 구별하지 못한다.</a:t>
            </a:r>
          </a:p>
          <a:p/>
          <a:p>
            <a:r>
              <a:t>[예상 질문 / 토론]</a:t>
            </a:r>
          </a:p>
          <a:p>
            <a:r>
              <a:t>Schema 오류를 똑같은 인자로 세 번 호출하면 해결될 가능성이 높은가?</a:t>
            </a:r>
          </a:p>
          <a:p/>
          <a:p>
            <a:r>
              <a:t>[오해 방지]</a:t>
            </a:r>
          </a:p>
          <a:p>
            <a:r>
              <a:t>재시도 횟수를 늘리는 것은 실패 분류의 대안이 아니다.</a:t>
            </a:r>
          </a:p>
          <a:p/>
          <a:p>
            <a:r>
              <a:t>[시연 연결 / 활동]</a:t>
            </a:r>
          </a:p>
          <a:p>
            <a:r>
              <a:t>화면의 비교표·그림에서 책임 계층과 다음 처리 조건을 짚는다. 실제 외부 시스템 호출은 하지 않는다.</a:t>
            </a:r>
          </a:p>
          <a:p>
            <a:r>
              <a:t>코드 위치: 해당 없음. 설계 설명 또는 개념 그림.</a:t>
            </a:r>
          </a:p>
          <a:p/>
          <a:p>
            <a:r>
              <a:t>[시간 운영]</a:t>
            </a:r>
          </a:p>
          <a:p>
            <a:r>
              <a:t>4분 권장. 회차별 설명·시연 70분 + 실습 30분 + 휴식 10분 + 정리 10분 = 120분.</a:t>
            </a:r>
          </a:p>
          <a:p>
            <a:r>
              <a:t>60분 경로에 포함. 15장 경로: 1, 3, 6, 9, 12, 15, 22, 25, 30, 33, 35, 44, 49, 56, 60. 실습은 별도 진행.</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https://docs.pytest.org/en/stable/</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45 | Retry·Timeout·취소</a:t>
            </a:r>
          </a:p>
          <a:p>
            <a:r>
              <a:t>공통 개념: C09·C10 / Summary와 동일한 C ID</a:t>
            </a:r>
          </a:p>
          <a:p/>
          <a:p>
            <a:r>
              <a:t>[설명 의도]</a:t>
            </a:r>
          </a:p>
          <a:p>
            <a:r>
              <a:t>재시도 예산과 부작용을 함께 관리한다.</a:t>
            </a:r>
          </a:p>
          <a:p/>
          <a:p>
            <a:r>
              <a:t>[말로 풀어 줄 내용]</a:t>
            </a:r>
          </a:p>
          <a:p>
            <a:r>
              <a:t>Retry는 실패한 작업을 다시 시도하고 resume은 저장된 실행을 이어간다. 취소 요청이 들어와도 외부에서 이미 진행한 작업이 자동으로 롤백되지는 않는다. 전체 업무 예산과 개별 Tool timeout을 분리하고 결과를 사용자에게 설명한다.</a:t>
            </a:r>
          </a:p>
          <a:p/>
          <a:p>
            <a:r>
              <a:t>[예상 질문 / 토론]</a:t>
            </a:r>
          </a:p>
          <a:p>
            <a:r>
              <a:t>사용자가 취소하면 외부 변경도 반드시 취소되었다고 표시할 수 있는가?</a:t>
            </a:r>
          </a:p>
          <a:p/>
          <a:p>
            <a:r>
              <a:t>[오해 방지]</a:t>
            </a:r>
          </a:p>
          <a:p>
            <a:r>
              <a:t>Retry와 Resume, Timeout과 취소를 같은 상태로 취급하지 않는다.</a:t>
            </a:r>
          </a:p>
          <a:p/>
          <a:p>
            <a:r>
              <a:t>[시연 연결 / 활동]</a:t>
            </a:r>
          </a:p>
          <a:p>
            <a:r>
              <a:t>화면의 비교표·그림에서 책임 계층과 다음 처리 조건을 짚는다. 실제 외부 시스템 호출은 하지 않는다.</a:t>
            </a:r>
          </a:p>
          <a:p>
            <a:r>
              <a:t>코드 위치: 해당 없음. 설계 설명 또는 개념 그림.</a:t>
            </a:r>
          </a:p>
          <a:p/>
          <a:p>
            <a:r>
              <a:t>[시간 운영]</a:t>
            </a:r>
          </a:p>
          <a:p>
            <a:r>
              <a:t>4분 권장. 회차별 설명·시연 70분 + 실습 30분 + 휴식 10분 + 정리 10분 = 120분.</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https://docs.langchain.com/oss/python/langgraph/persistence</a:t>
            </a:r>
          </a:p>
          <a:p>
            <a:r>
              <a:t>https://docs.langchain.com/oss/python/langgraph/interrupts</a:t>
            </a:r>
          </a:p>
          <a:p>
            <a:r>
              <a:t>https://docs.pytest.org/en/stable/</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46 | 부분 실패의 최종 결과</a:t>
            </a:r>
          </a:p>
          <a:p>
            <a:r>
              <a:t>공통 개념: C10 / Summary와 동일한 C ID</a:t>
            </a:r>
          </a:p>
          <a:p/>
          <a:p>
            <a:r>
              <a:t>[설명 의도]</a:t>
            </a:r>
          </a:p>
          <a:p>
            <a:r>
              <a:t>사용자가 무엇을 믿고 무엇을 다시 해야 하는지 알 수 있게 보고한다.</a:t>
            </a:r>
          </a:p>
          <a:p/>
          <a:p>
            <a:r>
              <a:t>[말로 풀어 줄 내용]</a:t>
            </a:r>
          </a:p>
          <a:p>
            <a:r>
              <a:t>부분 성공은 무조건 실행을 허용한다는 뜻이 아니다. 필수 조사에 실패하면 기본 정책은 차단한다. 일부 자료만으로 답변할 수 있는 제품이라면 허용 범위와 남은 불확실성을 정해야 한다. 원래 모델 주장과 검증된 근거 목록도 분리해 보고한다.</a:t>
            </a:r>
          </a:p>
          <a:p/>
          <a:p>
            <a:r>
              <a:t>[예상 질문 / 토론]</a:t>
            </a:r>
          </a:p>
          <a:p>
            <a:r>
              <a:t>지표 조사는 성공했고 Runbook은 실패했다면 어떤 결과를 보여줄 것인가?</a:t>
            </a:r>
          </a:p>
          <a:p/>
          <a:p>
            <a:r>
              <a:t>[오해 방지]</a:t>
            </a:r>
          </a:p>
          <a:p>
            <a:r>
              <a:t>한 단계의 성공을 전체 업무 성공으로 표시하지 않는다.</a:t>
            </a:r>
          </a:p>
          <a:p/>
          <a:p>
            <a:r>
              <a:t>[시연 연결 / 활동]</a:t>
            </a:r>
          </a:p>
          <a:p>
            <a:r>
              <a:t>화면의 비교표·그림에서 책임 계층과 다음 처리 조건을 짚는다. 실제 외부 시스템 호출은 하지 않는다.</a:t>
            </a:r>
          </a:p>
          <a:p>
            <a:r>
              <a:t>코드 위치: 해당 없음. 설계 설명 또는 개념 그림.</a:t>
            </a:r>
          </a:p>
          <a:p/>
          <a:p>
            <a:r>
              <a:t>[시간 운영]</a:t>
            </a:r>
          </a:p>
          <a:p>
            <a:r>
              <a:t>4분 권장. 회차별 설명·시연 70분 + 실습 30분 + 휴식 10분 + 정리 10분 = 120분.</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https://docs.pytest.org/en/stable/</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47 | 테스트의 계층</a:t>
            </a:r>
          </a:p>
          <a:p>
            <a:r>
              <a:t>공통 개념: C10 / Summary와 동일한 C ID</a:t>
            </a:r>
          </a:p>
          <a:p/>
          <a:p>
            <a:r>
              <a:t>[설명 의도]</a:t>
            </a:r>
          </a:p>
          <a:p>
            <a:r>
              <a:t>Workflow의 통제와 실제 모델·Provider의 동작을 따로 입증한다.</a:t>
            </a:r>
          </a:p>
          <a:p/>
          <a:p>
            <a:r>
              <a:t>[말로 풀어 줄 내용]</a:t>
            </a:r>
          </a:p>
          <a:p>
            <a:r>
              <a:t>실습 테스트가 통과해도 실제 모델의 Tool Calling을 검증한 것은 아니다. 반대로 실제 Provider 연결 실패가 곧 Graph 정책 버그라는 뜻도 아니다. 검증 범위를 이름과 결과에 남겨 서로 다른 실패를 구분한다.</a:t>
            </a:r>
          </a:p>
          <a:p/>
          <a:p>
            <a:r>
              <a:t>[예상 질문 / 토론]</a:t>
            </a:r>
          </a:p>
          <a:p>
            <a:r>
              <a:t>Fake 테스트 성공과 실제 모델 실패는 모순인가?</a:t>
            </a:r>
          </a:p>
          <a:p/>
          <a:p>
            <a:r>
              <a:t>[오해 방지]</a:t>
            </a:r>
          </a:p>
          <a:p>
            <a:r>
              <a:t>테스트 명령 exit code만 보지 말고 수집 수·skip·실패 범위를 확인한다.</a:t>
            </a:r>
          </a:p>
          <a:p/>
          <a:p>
            <a:r>
              <a:t>[시연 연결 / 활동]</a:t>
            </a:r>
          </a:p>
          <a:p>
            <a:r>
              <a:t>화면의 비교표·그림에서 책임 계층과 다음 처리 조건을 짚는다. 실제 외부 시스템 호출은 하지 않는다.</a:t>
            </a:r>
          </a:p>
          <a:p>
            <a:r>
              <a:t>코드 위치: 해당 없음. 설계 설명 또는 개념 그림.</a:t>
            </a:r>
          </a:p>
          <a:p/>
          <a:p>
            <a:r>
              <a:t>[시간 운영]</a:t>
            </a:r>
          </a:p>
          <a:p>
            <a:r>
              <a:t>4분 권장. 회차별 설명·시연 70분 + 실습 30분 + 휴식 10분 + 정리 10분 = 120분.</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https://docs.pytest.org/en/stable/</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48 | Fake Agent</a:t>
            </a:r>
          </a:p>
          <a:p>
            <a:r>
              <a:t>공통 개념: C10 / Summary와 동일한 C ID</a:t>
            </a:r>
          </a:p>
          <a:p/>
          <a:p>
            <a:r>
              <a:t>[설명 의도]</a:t>
            </a:r>
          </a:p>
          <a:p>
            <a:r>
              <a:t>외부 모델 없이 결과를 고정해 분기와 정책을 검증한다.</a:t>
            </a:r>
          </a:p>
          <a:p/>
          <a:p>
            <a:r>
              <a:t>[말로 풀어 줄 내용]</a:t>
            </a:r>
          </a:p>
          <a:p>
            <a:r>
              <a:t>Fake Agent는 모델 추론의 정확성을 모사하는 것이 아니라 다음 Node가 받는 계약을 고정하는 도구다. 실제 Tool 응답에서 관측한 ID와 모델이 주장한 ID를 분리해 허위 인용을 만들 수 있다. 코드의 단순한 copy는 이 실습의 읽기 전용 payload에 맞춘 구현이다.</a:t>
            </a:r>
          </a:p>
          <a:p/>
          <a:p>
            <a:r>
              <a:t>[예상 질문 / 토론]</a:t>
            </a:r>
          </a:p>
          <a:p>
            <a:r>
              <a:t>Fake가 출력한 토큰 사용량을 실제 모델 비용으로 보고할 수 있는가?</a:t>
            </a:r>
          </a:p>
          <a:p/>
          <a:p>
            <a:r>
              <a:t>[오해 방지]</a:t>
            </a:r>
          </a:p>
          <a:p>
            <a:r>
              <a:t>합성 사용량은 집계 로직 검증 자료일 뿐 실측 비용이 아니다.</a:t>
            </a:r>
          </a:p>
          <a:p/>
          <a:p>
            <a:r>
              <a:t>[시연 연결 / 활동]</a:t>
            </a:r>
          </a:p>
          <a:p>
            <a:r>
              <a:t>화면의 비교표·그림에서 책임 계층과 다음 처리 조건을 짚는다. 실제 외부 시스템 호출은 하지 않는다.</a:t>
            </a:r>
          </a:p>
          <a:p>
            <a:r>
              <a:t>전체 예제 위치: solution/workflow.py: FakeAgent</a:t>
            </a:r>
          </a:p>
          <a:p/>
          <a:p>
            <a:r>
              <a:t>[시간 운영]</a:t>
            </a:r>
          </a:p>
          <a:p>
            <a:r>
              <a:t>4분 권장. 회차별 설명·시연 70분 + 실습 30분 + 휴식 10분 + 정리 10분 = 120분.</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https://docs.pytest.org/en/stable/</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49 | 승인 경계 테스트</a:t>
            </a:r>
          </a:p>
          <a:p>
            <a:r>
              <a:t>공통 개념: C08·C10 / Summary와 동일한 C ID</a:t>
            </a:r>
          </a:p>
          <a:p/>
          <a:p>
            <a:r>
              <a:t>[설명 의도]</a:t>
            </a:r>
          </a:p>
          <a:p>
            <a:r>
              <a:t>상태 이름과 실행 호출 횟수를 함께 검사한다.</a:t>
            </a:r>
          </a:p>
          <a:p/>
          <a:p>
            <a:r>
              <a:t>[말로 풀어 줄 내용]</a:t>
            </a:r>
          </a:p>
          <a:p>
            <a:r>
              <a:t>제공한 test_reject_never_executes의 핵심이다. 잘못된 Incident, Action, 서비스, 계획 버전에 대한 매개변수 테스트와 승인 필드 누락도 있다. 상태가 rejected여도 앞에서 부작용이 발생했을 수 있으므로 Simulator 호출 수를 별도로 확인한다.</a:t>
            </a:r>
          </a:p>
          <a:p/>
          <a:p>
            <a:r>
              <a:t>[예상 질문 / 토론]</a:t>
            </a:r>
          </a:p>
          <a:p>
            <a:r>
              <a:t>결과 객체만 검사하는 테스트가 놓치는 것은 무엇인가?</a:t>
            </a:r>
          </a:p>
          <a:p/>
          <a:p>
            <a:r>
              <a:t>[오해 방지]</a:t>
            </a:r>
          </a:p>
          <a:p>
            <a:r>
              <a:t>교육용 테스트 13개를 원본 Day 25 통합 테스트의 성공으로 표현하지 않는다.</a:t>
            </a:r>
          </a:p>
          <a:p/>
          <a:p>
            <a:r>
              <a:t>[시연 연결 / 활동]</a:t>
            </a:r>
          </a:p>
          <a:p>
            <a:r>
              <a:t>solution/: python -m pytest -q test_workflow.py</a:t>
            </a:r>
          </a:p>
          <a:p>
            <a:r>
              <a:t>전체 예제 위치: solution/test_workflow.py: test_reject_never_executes</a:t>
            </a:r>
          </a:p>
          <a:p/>
          <a:p>
            <a:r>
              <a:t>[시간 운영]</a:t>
            </a:r>
          </a:p>
          <a:p>
            <a:r>
              <a:t>4분 권장. 회차별 설명·시연 70분 + 실습 30분 + 휴식 10분 + 정리 10분 = 120분.</a:t>
            </a:r>
          </a:p>
          <a:p>
            <a:r>
              <a:t>60분 경로에 포함. 15장 경로: 1, 3, 6, 9, 12, 15, 22, 25, 30, 33, 35, 44, 49, 56, 60. 실습은 별도 진행.</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https://docs.langchain.com/oss/python/langgraph/persistence</a:t>
            </a:r>
          </a:p>
          <a:p>
            <a:r>
              <a:t>https://docs.langchain.com/oss/python/langgraph/interrupts</a:t>
            </a:r>
          </a:p>
          <a:p>
            <a:r>
              <a:t>https://docs.pytest.org/en/stable/</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50 | Agent 품질 평가</a:t>
            </a:r>
          </a:p>
          <a:p>
            <a:r>
              <a:t>공통 개념: C10 / Summary와 동일한 C ID</a:t>
            </a:r>
          </a:p>
          <a:p/>
          <a:p>
            <a:r>
              <a:t>[설명 의도]</a:t>
            </a:r>
          </a:p>
          <a:p>
            <a:r>
              <a:t>대표 업무와 실패 사례를 고정해 변경 전후를 비교한다.</a:t>
            </a:r>
          </a:p>
          <a:p/>
          <a:p>
            <a:r>
              <a:t>[말로 풀어 줄 내용]</a:t>
            </a:r>
          </a:p>
          <a:p>
            <a:r>
              <a:t>평가 데이터는 입력, 기대되는 판단, 근거, 금지된 행동을 포함해야 한다. 모든 답이 같은 문자열이어야 하는 것은 아니므로 의미적 rubric과 정책 위반 여부를 구분한다. 반복 측정과 실패 사례 분석으로 모델·Prompt 변경 효과를 확인한다.</a:t>
            </a:r>
          </a:p>
          <a:p/>
          <a:p>
            <a:r>
              <a:t>[예상 질문 / 토론]</a:t>
            </a:r>
          </a:p>
          <a:p>
            <a:r>
              <a:t>답변 평균 점수가 높으면 승인 없는 실행 한 건은 허용해도 되는가?</a:t>
            </a:r>
          </a:p>
          <a:p/>
          <a:p>
            <a:r>
              <a:t>[오해 방지]</a:t>
            </a:r>
          </a:p>
          <a:p>
            <a:r>
              <a:t>품질 평균이 필수 정책 위반을 상쇄하지 않는다.</a:t>
            </a:r>
          </a:p>
          <a:p/>
          <a:p>
            <a:r>
              <a:t>[시연 연결 / 활동]</a:t>
            </a:r>
          </a:p>
          <a:p>
            <a:r>
              <a:t>화면의 비교표·그림에서 책임 계층과 다음 처리 조건을 짚는다. 실제 외부 시스템 호출은 하지 않는다.</a:t>
            </a:r>
          </a:p>
          <a:p>
            <a:r>
              <a:t>코드 위치: 해당 없음. 설계 설명 또는 개념 그림.</a:t>
            </a:r>
          </a:p>
          <a:p/>
          <a:p>
            <a:r>
              <a:t>[시간 운영]</a:t>
            </a:r>
          </a:p>
          <a:p>
            <a:r>
              <a:t>4분 권장. 회차별 설명·시연 70분 + 실습 30분 + 휴식 10분 + 정리 10분 = 120분.</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https://docs.pytest.org/en/stable/</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51 | Trace와 업무 State</a:t>
            </a:r>
          </a:p>
          <a:p>
            <a:r>
              <a:t>공통 개념: C10 / Summary와 동일한 C ID</a:t>
            </a:r>
          </a:p>
          <a:p/>
          <a:p>
            <a:r>
              <a:t>[설명 의도]</a:t>
            </a:r>
          </a:p>
          <a:p>
            <a:r>
              <a:t>진단을 위한 상세 기록과 재개를 위한 업무 결과는 목적이 다르다.</a:t>
            </a:r>
          </a:p>
          <a:p/>
          <a:p>
            <a:r>
              <a:t>[말로 풀어 줄 내용]</a:t>
            </a:r>
          </a:p>
          <a:p>
            <a:r>
              <a:t>거대한 메시지와 Trace를 Checkpoint에 모두 넣으면 저장·복구 비용이 늘어난다. State에는 결정에 필요한 데이터와 Trace 참조를 남길 수 있다. Trace에도 비밀값과 불필요한 개인정보를 넣지 않는다. 보관 기간은 업무 목적에 따라 정한다.</a:t>
            </a:r>
          </a:p>
          <a:p/>
          <a:p>
            <a:r>
              <a:t>[예상 질문 / 토론]</a:t>
            </a:r>
          </a:p>
          <a:p>
            <a:r>
              <a:t>디버깅 로그에 API key가 있으면 어떤 자료에도 복사하면 안 되는가?</a:t>
            </a:r>
          </a:p>
          <a:p/>
          <a:p>
            <a:r>
              <a:t>[오해 방지]</a:t>
            </a:r>
          </a:p>
          <a:p>
            <a:r>
              <a:t>재개에 필요하지 않은 로그가 업무 State의 계약을 오염시키지 않게 한다.</a:t>
            </a:r>
          </a:p>
          <a:p/>
          <a:p>
            <a:r>
              <a:t>[시연 연결 / 활동]</a:t>
            </a:r>
          </a:p>
          <a:p>
            <a:r>
              <a:t>화면의 비교표·그림에서 책임 계층과 다음 처리 조건을 짚는다. 실제 외부 시스템 호출은 하지 않는다.</a:t>
            </a:r>
          </a:p>
          <a:p>
            <a:r>
              <a:t>코드 위치: 해당 없음. 설계 설명 또는 개념 그림.</a:t>
            </a:r>
          </a:p>
          <a:p/>
          <a:p>
            <a:r>
              <a:t>[시간 운영]</a:t>
            </a:r>
          </a:p>
          <a:p>
            <a:r>
              <a:t>4분 권장. 회차별 설명·시연 70분 + 실습 30분 + 휴식 10분 + 정리 10분 = 120분. 이 장 다음에 휴식 10분을 배치한다.</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https://docs.pytest.org/en/stable/</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52 | 지연시간과 사용량</a:t>
            </a:r>
          </a:p>
          <a:p>
            <a:r>
              <a:t>공통 개념: C10 / Summary와 동일한 C ID</a:t>
            </a:r>
          </a:p>
          <a:p/>
          <a:p>
            <a:r>
              <a:t>[설명 의도]</a:t>
            </a:r>
          </a:p>
          <a:p>
            <a:r>
              <a:t>측정 범위·대기 시간·누락 값을 함께 표시한다.</a:t>
            </a:r>
          </a:p>
          <a:p/>
          <a:p>
            <a:r>
              <a:t>[말로 풀어 줄 내용]</a:t>
            </a:r>
          </a:p>
          <a:p>
            <a:r>
              <a:t>두 독립 작업이 2초·5초라면 이상적 병렬 조사 시간은 약 5초와 오버헤드의 합이라는 설명은 가능하다. 하지만 이는 예시이며 이 강의의 실제 성능 측정이 아니다. 실제 수치는 Trace에서 해당 실행의 시작·끝과 Provider 사용량을 수집해야 한다.</a:t>
            </a:r>
          </a:p>
          <a:p/>
          <a:p>
            <a:r>
              <a:t>[예상 질문 / 토론]</a:t>
            </a:r>
          </a:p>
          <a:p>
            <a:r>
              <a:t>usage가 없으면 토큰 0으로 저장해도 되는가?</a:t>
            </a:r>
          </a:p>
          <a:p/>
          <a:p>
            <a:r>
              <a:t>[오해 방지]</a:t>
            </a:r>
          </a:p>
          <a:p>
            <a:r>
              <a:t>Fake 집계 값·예상 성능·실측 지표를 섞어 보고하지 않는다.</a:t>
            </a:r>
          </a:p>
          <a:p/>
          <a:p>
            <a:r>
              <a:t>[시연 연결 / 활동]</a:t>
            </a:r>
          </a:p>
          <a:p>
            <a:r>
              <a:t>화면의 비교표·그림에서 책임 계층과 다음 처리 조건을 짚는다. 실제 외부 시스템 호출은 하지 않는다.</a:t>
            </a:r>
          </a:p>
          <a:p>
            <a:r>
              <a:t>코드 위치: 해당 없음. 설계 설명 또는 개념 그림.</a:t>
            </a:r>
          </a:p>
          <a:p/>
          <a:p>
            <a:r>
              <a:t>[시간 운영]</a:t>
            </a:r>
          </a:p>
          <a:p>
            <a:r>
              <a:t>4분 권장. 회차별 설명·시연 70분 + 실습 30분 + 휴식 10분 + 정리 10분 = 120분.</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https://docs.pytest.org/en/stable/</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53 | 비용과 응답시간 조정</a:t>
            </a:r>
          </a:p>
          <a:p>
            <a:r>
              <a:t>공통 개념: C10 / Summary와 동일한 C ID</a:t>
            </a:r>
          </a:p>
          <a:p/>
          <a:p>
            <a:r>
              <a:t>[설명 의도]</a:t>
            </a:r>
          </a:p>
          <a:p>
            <a:r>
              <a:t>호출 수·Context·병렬화의 효과를 같은 기준으로 비교한다.</a:t>
            </a:r>
          </a:p>
          <a:p/>
          <a:p>
            <a:r>
              <a:t>[말로 풀어 줄 내용]</a:t>
            </a:r>
          </a:p>
          <a:p>
            <a:r>
              <a:t>성능 변경을 제안할 때 무엇을 줄이고 무엇이 나빠질 수 있는지 적는다. Context 축소는 토큰을 줄여도 근거 누락을 늘릴 수 있다. 병렬화는 전체 지연을 줄일 수 있지만 총 호출 수를 줄이는 것은 아니다. 작은 대표 데이터셋으로 변경 전후를 같은 조건에서 측정한다.</a:t>
            </a:r>
          </a:p>
          <a:p/>
          <a:p>
            <a:r>
              <a:t>[예상 질문 / 토론]</a:t>
            </a:r>
          </a:p>
          <a:p>
            <a:r>
              <a:t>두 Agent를 병렬 실행하면 총 토큰 비용도 자동으로 절반이 되는가?</a:t>
            </a:r>
          </a:p>
          <a:p/>
          <a:p>
            <a:r>
              <a:t>[오해 방지]</a:t>
            </a:r>
          </a:p>
          <a:p>
            <a:r>
              <a:t>빠른 응답과 적은 비용을 같은 지표로 취급하지 않는다.</a:t>
            </a:r>
          </a:p>
          <a:p/>
          <a:p>
            <a:r>
              <a:t>[시연 연결 / 활동]</a:t>
            </a:r>
          </a:p>
          <a:p>
            <a:r>
              <a:t>화면의 비교표·그림에서 책임 계층과 다음 처리 조건을 짚는다. 실제 외부 시스템 호출은 하지 않는다.</a:t>
            </a:r>
          </a:p>
          <a:p>
            <a:r>
              <a:t>코드 위치: 해당 없음. 설계 설명 또는 개념 그림.</a:t>
            </a:r>
          </a:p>
          <a:p/>
          <a:p>
            <a:r>
              <a:t>[시간 운영]</a:t>
            </a:r>
          </a:p>
          <a:p>
            <a:r>
              <a:t>4분 권장. 회차별 설명·시연 70분 + 실습 30분 + 휴식 10분 + 정리 10분 = 120분.</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https://docs.pytest.org/en/stable/</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54 | 통합 시연</a:t>
            </a:r>
          </a:p>
          <a:p>
            <a:r>
              <a:t>공통 개념: C11 / Summary와 동일한 C ID</a:t>
            </a:r>
          </a:p>
          <a:p/>
          <a:p>
            <a:r>
              <a:t>[설명 의도]</a:t>
            </a:r>
          </a:p>
          <a:p>
            <a:r>
              <a:t>같은 입력으로 승인·거부·근거 부족 경로를 비교한다.</a:t>
            </a:r>
          </a:p>
          <a:p/>
          <a:p>
            <a:r>
              <a:t>[말로 풀어 줄 내용]</a:t>
            </a:r>
          </a:p>
          <a:p>
            <a:r>
              <a:t>화면의 결과는 이번 교육용 패키지의 테스트 기대와 검증 결과다. 원본 Day 25나 실제 모델의 실행 기록이 아니다. demo.py로 정상 대기와 거부를 보여준 뒤 pytest 결과를 확인한다. 네트워크가 없어도 Fake 모드로 시연할 수 있다. 통합 테스트 미실행 사실을 함께 설명한다.</a:t>
            </a:r>
          </a:p>
          <a:p/>
          <a:p>
            <a:r>
              <a:t>[예상 질문 / 토론]</a:t>
            </a:r>
          </a:p>
          <a:p>
            <a:r>
              <a:t>각 결과가 나올 때 어떤 Node가 실행되지 않았는가?</a:t>
            </a:r>
          </a:p>
          <a:p/>
          <a:p>
            <a:r>
              <a:t>[오해 방지]</a:t>
            </a:r>
          </a:p>
          <a:p>
            <a:r>
              <a:t>시뮬레이션 성공을 실제 checkout-api 변경 성공으로 말하지 않는다.</a:t>
            </a:r>
          </a:p>
          <a:p/>
          <a:p>
            <a:r>
              <a:t>[시연 연결 / 활동]</a:t>
            </a:r>
          </a:p>
          <a:p>
            <a:r>
              <a:t>README_KO.md의 명령; 실패 시 test_workflow.py의 고정 Fixture로 설명</a:t>
            </a:r>
          </a:p>
          <a:p>
            <a:r>
              <a:t>코드 위치: 해당 없음. 설계 설명 또는 개념 그림.</a:t>
            </a:r>
          </a:p>
          <a:p/>
          <a:p>
            <a:r>
              <a:t>[시간 운영]</a:t>
            </a:r>
          </a:p>
          <a:p>
            <a:r>
              <a:t>4분 권장. 회차별 설명·시연 70분 + 실습 30분 + 휴식 10분 + 정리 10분 = 120분.</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https://docs.langchain.com/oss/python/langgraph/graph-api</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55 | 실습 3 · 실패 주입</a:t>
            </a:r>
          </a:p>
          <a:p>
            <a:r>
              <a:t>공통 개념: C09·C10 / Summary와 동일한 C ID</a:t>
            </a:r>
          </a:p>
          <a:p/>
          <a:p>
            <a:r>
              <a:t>[설명 의도]</a:t>
            </a:r>
          </a:p>
          <a:p>
            <a:r>
              <a:t>오류가 발생해도 실행 정책이 유지되는지 확인한다.</a:t>
            </a:r>
          </a:p>
          <a:p/>
          <a:p>
            <a:r>
              <a:t>[말로 풀어 줄 내용]</a:t>
            </a:r>
          </a:p>
          <a:p>
            <a:r>
              <a:t>첫 두 사례는 Fake Tool 결과로 실행하고 status, reason, Simulator 호출 수를 검사한다. 세 번째는 실제 Email이나 운영 DB 변경 없이 설계 문제로 진행한다. 결과가 불명확할 때 조회할 키와 확인 가능한 상태, 조정 책임자를 메모에 적게 한다.</a:t>
            </a:r>
          </a:p>
          <a:p/>
          <a:p>
            <a:r>
              <a:t>[예상 질문 / 토론]</a:t>
            </a:r>
          </a:p>
          <a:p>
            <a:r>
              <a:t>결과 조회도 실패했을 때 바로 다시 변경을 실행할 것인가?</a:t>
            </a:r>
          </a:p>
          <a:p/>
          <a:p>
            <a:r>
              <a:t>[오해 방지]</a:t>
            </a:r>
          </a:p>
          <a:p>
            <a:r>
              <a:t>이 실습은 외부 변경의 exactly-once 구현 완료를 주장하지 않는다.</a:t>
            </a:r>
          </a:p>
          <a:p/>
          <a:p>
            <a:r>
              <a:t>[시연 연결 / 활동]</a:t>
            </a:r>
          </a:p>
          <a:p>
            <a:r>
              <a:t>starter/TASKS_KO.md 실습 3; solution/test_workflow.py의 오류 분류 테스트</a:t>
            </a:r>
          </a:p>
          <a:p>
            <a:r>
              <a:t>코드 위치: 해당 없음. 설계 설명 또는 개념 그림.</a:t>
            </a:r>
          </a:p>
          <a:p/>
          <a:p>
            <a:r>
              <a:t>[시간 운영]</a:t>
            </a:r>
          </a:p>
          <a:p>
            <a:r>
              <a:t>30분 권장. 회차별 설명·시연 70분 + 실습 30분 + 휴식 10분 + 정리 10분 = 120분.</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https://docs.langchain.com/oss/python/langgraph/persistence</a:t>
            </a:r>
          </a:p>
          <a:p>
            <a:r>
              <a:t>https://docs.langchain.com/oss/python/langgraph/interrupts</a:t>
            </a:r>
          </a:p>
          <a:p>
            <a:r>
              <a:t>https://docs.pytest.org/en/stable/</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56 | Incident Copilot 설계 검토</a:t>
            </a:r>
          </a:p>
          <a:p>
            <a:r>
              <a:t>공통 개념: C11 / Summary와 동일한 C ID</a:t>
            </a:r>
          </a:p>
          <a:p/>
          <a:p>
            <a:r>
              <a:t>[설명 의도]</a:t>
            </a:r>
          </a:p>
          <a:p>
            <a:r>
              <a:t>확인한 보장과 추가로 필요한 통제를 분리한다.</a:t>
            </a:r>
          </a:p>
          <a:p/>
          <a:p>
            <a:r>
              <a:t>[말로 풀어 줄 내용]</a:t>
            </a:r>
          </a:p>
          <a:p>
            <a:r>
              <a:t>이 표는 이번 교육용 코드의 검증 범위다. 계획안에 요약된 Day 25의 한계도 같은 원리로 읽되 원본 코드 전체를 확인했다고 말하지 않는다. 병렬 Runbook은 Metrics 원인을 직접 받지 않으므로 후속 종합을 검토한다. 원래 Finding의 미검증 인용도 별도 표시해야 한다.</a:t>
            </a:r>
          </a:p>
          <a:p/>
          <a:p>
            <a:r>
              <a:t>[예상 질문 / 토론]</a:t>
            </a:r>
          </a:p>
          <a:p>
            <a:r>
              <a:t>어느 항목이 현재 코드의 보장이고 어느 항목이 설계 제안인가?</a:t>
            </a:r>
          </a:p>
          <a:p/>
          <a:p>
            <a:r>
              <a:t>[오해 방지]</a:t>
            </a:r>
          </a:p>
          <a:p>
            <a:r>
              <a:t>미구현 항목을 슬라이드에 설명했다는 이유로 구현 완료로 표시하지 않는다.</a:t>
            </a:r>
          </a:p>
          <a:p/>
          <a:p>
            <a:r>
              <a:t>[시연 연결 / 활동]</a:t>
            </a:r>
          </a:p>
          <a:p>
            <a:r>
              <a:t>화면의 비교표·그림에서 책임 계층과 다음 처리 조건을 짚는다. 실제 외부 시스템 호출은 하지 않는다.</a:t>
            </a:r>
          </a:p>
          <a:p>
            <a:r>
              <a:t>코드 위치: 해당 없음. 설계 설명 또는 개념 그림.</a:t>
            </a:r>
          </a:p>
          <a:p/>
          <a:p>
            <a:r>
              <a:t>[시간 운영]</a:t>
            </a:r>
          </a:p>
          <a:p>
            <a:r>
              <a:t>4분 권장. 회차별 설명·시연 70분 + 실습 30분 + 휴식 10분 + 정리 10분 = 120분.</a:t>
            </a:r>
          </a:p>
          <a:p>
            <a:r>
              <a:t>60분 경로에 포함. 15장 경로: 1, 3, 6, 9, 12, 15, 22, 25, 30, 33, 35, 44, 49, 56, 60. 실습은 별도 진행.</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https://docs.langchain.com/oss/python/langgraph/graph-api</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57 | 운영 전환 항목</a:t>
            </a:r>
          </a:p>
          <a:p>
            <a:r>
              <a:t>공통 개념: C12 / Summary와 동일한 C ID</a:t>
            </a:r>
          </a:p>
          <a:p/>
          <a:p>
            <a:r>
              <a:t>[설명 의도]</a:t>
            </a:r>
          </a:p>
          <a:p>
            <a:r>
              <a:t>데모의 성공을 사용자·권한·복구를 갖춘 서비스로 확장한다.</a:t>
            </a:r>
          </a:p>
          <a:p/>
          <a:p>
            <a:r>
              <a:t>[말로 풀어 줄 내용]</a:t>
            </a:r>
          </a:p>
          <a:p>
            <a:r>
              <a:t>실습을 통과한 것은 운영 준비의 출발점이다. 비밀 관리, 모델·Tool 네트워크 경로, 비용 한도, 개인정보 보관, rate limit, 취소와 알람을 제품 요구에 맞춰 정해야 한다. 사용자의 로컬 모델 연결 없이 완료한 Fake 검증과 실제 서버 통합을 구분한다.</a:t>
            </a:r>
          </a:p>
          <a:p/>
          <a:p>
            <a:r>
              <a:t>[예상 질문 / 토론]</a:t>
            </a:r>
          </a:p>
          <a:p>
            <a:r>
              <a:t>실제 Provider 통합 전에 가장 먼저 확인할 외부 의존성은 무엇인가?</a:t>
            </a:r>
          </a:p>
          <a:p/>
          <a:p>
            <a:r>
              <a:t>[오해 방지]</a:t>
            </a:r>
          </a:p>
          <a:p>
            <a:r>
              <a:t>가상환경 설치와 원격 서비스 정상 동작은 서로 다른 증거다.</a:t>
            </a:r>
          </a:p>
          <a:p/>
          <a:p>
            <a:r>
              <a:t>[시연 연결 / 활동]</a:t>
            </a:r>
          </a:p>
          <a:p>
            <a:r>
              <a:t>화면의 비교표·그림에서 책임 계층과 다음 처리 조건을 짚는다. 실제 외부 시스템 호출은 하지 않는다.</a:t>
            </a:r>
          </a:p>
          <a:p>
            <a:r>
              <a:t>코드 위치: 해당 없음. 설계 설명 또는 개념 그림.</a:t>
            </a:r>
          </a:p>
          <a:p/>
          <a:p>
            <a:r>
              <a:t>[시간 운영]</a:t>
            </a:r>
          </a:p>
          <a:p>
            <a:r>
              <a:t>4분 권장. 회차별 설명·시연 70분 + 실습 30분 + 휴식 10분 + 정리 10분 = 120분.</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https://docs.langchain.com/oss/python/langgraph/persistence</a:t>
            </a:r>
          </a:p>
          <a:p>
            <a:r>
              <a:t>https://docs.langchain.com/oss/python/langgraph/interrupts</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58 | Agent Application Server</a:t>
            </a:r>
          </a:p>
          <a:p>
            <a:r>
              <a:t>공통 개념: C12 / Summary와 동일한 C ID</a:t>
            </a:r>
          </a:p>
          <a:p/>
          <a:p>
            <a:r>
              <a:t>[설명 의도]</a:t>
            </a:r>
          </a:p>
          <a:p>
            <a:r>
              <a:t>예정 · API·실행·상태·스트리밍·HITL Resume을 연결한다.</a:t>
            </a:r>
          </a:p>
          <a:p/>
          <a:p>
            <a:r>
              <a:t>[말로 풀어 줄 내용]</a:t>
            </a:r>
          </a:p>
          <a:p>
            <a:r>
              <a:t>이 슬라이드는 예정된 확장이지 완료한 배포 실습이 아니다. HTTP 연결 수명과 업무 실행 수명을 분리하고 실행 ID로 상태를 조회할 수 있게 한다. Streaming 재연결과 승인 Resume의 인증·대상 검사를 완료 기준으로 삼는다.</a:t>
            </a:r>
          </a:p>
          <a:p/>
          <a:p>
            <a:r>
              <a:t>[예상 질문 / 토론]</a:t>
            </a:r>
          </a:p>
          <a:p>
            <a:r>
              <a:t>브라우저 연결이 끊어지면 Graph 실행도 반드시 실패한 것인가?</a:t>
            </a:r>
          </a:p>
          <a:p/>
          <a:p>
            <a:r>
              <a:t>[오해 방지]</a:t>
            </a:r>
          </a:p>
          <a:p>
            <a:r>
              <a:t>서버 포트가 열렸다는 사실만으로 상태 복구가 검증되지 않는다.</a:t>
            </a:r>
          </a:p>
          <a:p/>
          <a:p>
            <a:r>
              <a:t>[시연 연결 / 활동]</a:t>
            </a:r>
          </a:p>
          <a:p>
            <a:r>
              <a:t>화면의 비교표·그림에서 책임 계층과 다음 처리 조건을 짚는다. 실제 외부 시스템 호출은 하지 않는다.</a:t>
            </a:r>
          </a:p>
          <a:p>
            <a:r>
              <a:t>코드 위치: 해당 없음. 설계 설명 또는 개념 그림.</a:t>
            </a:r>
          </a:p>
          <a:p/>
          <a:p>
            <a:r>
              <a:t>[시간 운영]</a:t>
            </a:r>
          </a:p>
          <a:p>
            <a:r>
              <a:t>3분 권장. 회차별 설명·시연 70분 + 실습 30분 + 휴식 10분 + 정리 10분 = 120분.</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https://docs.langchain.com/oss/python/langgraph/persistence</a:t>
            </a:r>
          </a:p>
          <a:p>
            <a:r>
              <a:t>https://docs.langchain.com/oss/python/langgraph/interrupts</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59 | Mini Agent Application Server</a:t>
            </a:r>
          </a:p>
          <a:p>
            <a:r>
              <a:t>공통 개념: C12 / Summary와 동일한 C ID</a:t>
            </a:r>
          </a:p>
          <a:p/>
          <a:p>
            <a:r>
              <a:t>[설명 의도]</a:t>
            </a:r>
          </a:p>
          <a:p>
            <a:r>
              <a:t>예정 · Registry와 Execution Engine의 경계를 직접 설계한다.</a:t>
            </a:r>
          </a:p>
          <a:p/>
          <a:p>
            <a:r>
              <a:t>[말로 풀어 줄 내용]</a:t>
            </a:r>
          </a:p>
          <a:p>
            <a:r>
              <a:t>Day 27은 직접 작은 Agent Application Server를 설계하는 예정 과정이다. J2EE WAS의 등록·배포·실행 수명 관리는 이해를 돕는 비유다. Agent의 긴 실행, 사람 승인, Checkpoint, 외부 부작용 복구는 일반 단일 요청·응답보다 추가 계약을 요구한다.</a:t>
            </a:r>
          </a:p>
          <a:p/>
          <a:p>
            <a:r>
              <a:t>[예상 질문 / 토론]</a:t>
            </a:r>
          </a:p>
          <a:p>
            <a:r>
              <a:t>Graph 코드가 바뀌면 예전 Checkpoint를 그대로 재개할 수 있는가?</a:t>
            </a:r>
          </a:p>
          <a:p/>
          <a:p>
            <a:r>
              <a:t>[오해 방지]</a:t>
            </a:r>
          </a:p>
          <a:p>
            <a:r>
              <a:t>WAS와 Agent 실행기를 기능적으로 동일한 제품이라고 설명하지 않는다.</a:t>
            </a:r>
          </a:p>
          <a:p/>
          <a:p>
            <a:r>
              <a:t>[시연 연결 / 활동]</a:t>
            </a:r>
          </a:p>
          <a:p>
            <a:r>
              <a:t>화면의 비교표·그림에서 책임 계층과 다음 처리 조건을 짚는다. 실제 외부 시스템 호출은 하지 않는다.</a:t>
            </a:r>
          </a:p>
          <a:p>
            <a:r>
              <a:t>코드 위치: 해당 없음. 설계 설명 또는 개념 그림.</a:t>
            </a:r>
          </a:p>
          <a:p/>
          <a:p>
            <a:r>
              <a:t>[시간 운영]</a:t>
            </a:r>
          </a:p>
          <a:p>
            <a:r>
              <a:t>3분 권장. 회차별 설명·시연 70분 + 실습 30분 + 휴식 10분 + 정리 10분 = 120분.</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https://docs.langchain.com/oss/python/langgraph/persistence</a:t>
            </a:r>
          </a:p>
          <a:p>
            <a:r>
              <a:t>https://docs.langchain.com/oss/python/langgraph/interrupts</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60 | 교육 정리와 후속 작업</a:t>
            </a:r>
          </a:p>
          <a:p>
            <a:r>
              <a:t>공통 개념: C01–C12 / Summary와 동일한 C ID</a:t>
            </a:r>
          </a:p>
          <a:p/>
          <a:p>
            <a:r>
              <a:t>[설명 의도]</a:t>
            </a:r>
          </a:p>
          <a:p>
            <a:r>
              <a:t>자기 업무 하나를 골라 책임 경계가 보이는 1페이지 설계를 만든다.</a:t>
            </a:r>
          </a:p>
          <a:p/>
          <a:p>
            <a:r>
              <a:t>[말로 풀어 줄 내용]</a:t>
            </a:r>
          </a:p>
          <a:p>
            <a:r>
              <a:t>마지막 산출물은 수강생 업무 하나의 1페이지 설계 메모다. 30·30·30·10 가중치와 70점 기준은 교육 운영 제안이며 기존 평가 결과가 아니다. 점수와 별도로 승인 없는 실행을 허용하는 설계는 수정해야 한다. Summary는 복습, 내부 Reference 색인은 구현 검토, 다음 과정은 운영 확장에 사용한다. 60분 세미나에서는 여기서 개인 적용 질문을 받고 마친다.</a:t>
            </a:r>
          </a:p>
          <a:p/>
          <a:p>
            <a:r>
              <a:t>[예상 질문 / 토론]</a:t>
            </a:r>
          </a:p>
          <a:p>
            <a:r>
              <a:t>내 업무에서 모델에게 맡길 판단과 코드로 강제할 정책은 무엇인가?</a:t>
            </a:r>
          </a:p>
          <a:p/>
          <a:p>
            <a:r>
              <a:t>[오해 방지]</a:t>
            </a:r>
          </a:p>
          <a:p>
            <a:r>
              <a:t>긴 구현량이나 Agent 수를 평가 점수의 기준으로 삼지 않는다.</a:t>
            </a:r>
          </a:p>
          <a:p/>
          <a:p>
            <a:r>
              <a:t>[시연 연결 / 활동]</a:t>
            </a:r>
          </a:p>
          <a:p>
            <a:r>
              <a:t>화면의 비교표·그림에서 책임 계층과 다음 처리 조건을 짚는다. 실제 외부 시스템 호출은 하지 않는다.</a:t>
            </a:r>
          </a:p>
          <a:p>
            <a:r>
              <a:t>코드 위치: 해당 없음. 설계 설명 또는 개념 그림.</a:t>
            </a:r>
          </a:p>
          <a:p/>
          <a:p>
            <a:r>
              <a:t>[시간 운영]</a:t>
            </a:r>
          </a:p>
          <a:p>
            <a:r>
              <a:t>10분 권장. 회차별 설명·시연 70분 + 실습 30분 + 휴식 10분 + 정리 10분 = 120분.</a:t>
            </a:r>
          </a:p>
          <a:p>
            <a:r>
              <a:t>60분 경로에 포함. 15장 경로: 1, 3, 6, 9, 12, 15, 22, 25, 30, 33, 35, 44, 49, 56, 60. 실습은 별도 진행.</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https://docs.langchain.com/oss/python/langgraph/persistence</a:t>
            </a:r>
          </a:p>
          <a:p>
            <a:r>
              <a:t>https://docs.langchain.com/oss/python/langgraph/interrupts</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A01 | 용어 대응표</a:t>
            </a:r>
          </a:p>
          <a:p>
            <a:r>
              <a:t>공통 개념: C01·C04·C09 / Summary와 동일한 C ID</a:t>
            </a:r>
          </a:p>
          <a:p/>
          <a:p>
            <a:r>
              <a:t>[설명 의도]</a:t>
            </a:r>
          </a:p>
          <a:p>
            <a:r>
              <a:t>이름보다 책임·수명·소유자를 먼저 구분한다.</a:t>
            </a:r>
          </a:p>
          <a:p/>
          <a:p>
            <a:r>
              <a:t>[말로 풀어 줄 내용]</a:t>
            </a:r>
          </a:p>
          <a:p>
            <a:r>
              <a:t>한 저장소에 두 개념을 구현할 수 있어도 논리적 책임은 별개다. thread ID는 접근 권한 자체가 아니고 Checkpoint는 외부 변경 성공을 원자적으로 보증하지 않는다. Summary 혼동 방지 표의 10쌍으로 이어서 복습한다.</a:t>
            </a:r>
          </a:p>
          <a:p/>
          <a:p>
            <a:r>
              <a:t>[예상 질문 / 토론]</a:t>
            </a:r>
          </a:p>
          <a:p>
            <a:r>
              <a:t>지금 혼동하는 개념은 수명 때문인가 책임 때문인가?</a:t>
            </a:r>
          </a:p>
          <a:p/>
          <a:p>
            <a:r>
              <a:t>[오해 방지]</a:t>
            </a:r>
          </a:p>
          <a:p>
            <a:r>
              <a:t>API 이름이 비슷하다고 같은 보장을 제공한다고 가정하지 않는다.</a:t>
            </a:r>
          </a:p>
          <a:p/>
          <a:p>
            <a:r>
              <a:t>[시연 연결 / 활동]</a:t>
            </a:r>
          </a:p>
          <a:p>
            <a:r>
              <a:t>화면의 비교표·그림에서 책임 계층과 다음 처리 조건을 짚는다. 실제 외부 시스템 호출은 하지 않는다.</a:t>
            </a:r>
          </a:p>
          <a:p>
            <a:r>
              <a:t>코드 위치: 해당 없음. 설계 설명 또는 개념 그림.</a:t>
            </a:r>
          </a:p>
          <a:p/>
          <a:p>
            <a:r>
              <a:t>[시간 운영]</a:t>
            </a:r>
          </a:p>
          <a:p>
            <a:r>
              <a:t>선택 부록. 질문 대응 3~5분; 본문 6시간 편성에 자동 합산하지 않는다.</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https://docs.langchain.com/oss/python/langgraph/graph-api</a:t>
            </a:r>
          </a:p>
          <a:p>
            <a:r>
              <a:t>https://docs.langchain.com/oss/python/langgraph/persistence</a:t>
            </a:r>
          </a:p>
          <a:p>
            <a:r>
              <a:t>https://docs.langchain.com/oss/python/langgraph/interrupts</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A02 | Agent와 일반 Backend의 경계</a:t>
            </a:r>
          </a:p>
          <a:p>
            <a:r>
              <a:t>공통 개념: C01·C07 / Summary와 동일한 C ID</a:t>
            </a:r>
          </a:p>
          <a:p/>
          <a:p>
            <a:r>
              <a:t>[설명 의도]</a:t>
            </a:r>
          </a:p>
          <a:p>
            <a:r>
              <a:t>모델 판단은 기존 Backend의 권한·트랜잭션 경계 안에 둔다.</a:t>
            </a:r>
          </a:p>
          <a:p/>
          <a:p>
            <a:r>
              <a:t>[말로 풀어 줄 내용]</a:t>
            </a:r>
          </a:p>
          <a:p>
            <a:r>
              <a:t>Agent를 도입해도 기존 Backend의 명시적 계약은 사라지지 않는다. 모델이 선택할 수 있는 범위를 Backend가 허용 가능한 명령으로 표현하면 테스트가 쉬워진다. 불확실한 해석과 확정된 업무 사실 사이의 변환을 코드로 드러낸다.</a:t>
            </a:r>
          </a:p>
          <a:p/>
          <a:p>
            <a:r>
              <a:t>[예상 질문 / 토론]</a:t>
            </a:r>
          </a:p>
          <a:p>
            <a:r>
              <a:t>기존 서비스의 어떤 규칙은 모델에게 넘기면 안 되는가?</a:t>
            </a:r>
          </a:p>
          <a:p/>
          <a:p>
            <a:r>
              <a:t>[오해 방지]</a:t>
            </a:r>
          </a:p>
          <a:p>
            <a:r>
              <a:t>Backend를 자연어 프롬프트로 전부 대체하는 것이 이 교육의 목표가 아니다.</a:t>
            </a:r>
          </a:p>
          <a:p/>
          <a:p>
            <a:r>
              <a:t>[시연 연결 / 활동]</a:t>
            </a:r>
          </a:p>
          <a:p>
            <a:r>
              <a:t>화면의 비교표·그림에서 책임 계층과 다음 처리 조건을 짚는다. 실제 외부 시스템 호출은 하지 않는다.</a:t>
            </a:r>
          </a:p>
          <a:p>
            <a:r>
              <a:t>코드 위치: 해당 없음. 설계 설명 또는 개념 그림.</a:t>
            </a:r>
          </a:p>
          <a:p/>
          <a:p>
            <a:r>
              <a:t>[시간 운영]</a:t>
            </a:r>
          </a:p>
          <a:p>
            <a:r>
              <a:t>선택 부록. 질문 대응 3~5분; 본문 6시간 편성에 자동 합산하지 않는다.</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https://docs.langchain.com/oss/python/langchain/mcp</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A03 | Structured Output 전략</a:t>
            </a:r>
          </a:p>
          <a:p>
            <a:r>
              <a:t>공통 개념: C03 / Summary와 동일한 C ID</a:t>
            </a:r>
          </a:p>
          <a:p/>
          <a:p>
            <a:r>
              <a:t>[설명 의도]</a:t>
            </a:r>
          </a:p>
          <a:p>
            <a:r>
              <a:t>Provider 지원과 Tool Calling 기반 방식을 구분한다.</a:t>
            </a:r>
          </a:p>
          <a:p/>
          <a:p>
            <a:r>
              <a:t>[말로 풀어 줄 내용]</a:t>
            </a:r>
          </a:p>
          <a:p>
            <a:r>
              <a:t>설치된 LangChain API에 ToolStrategy가 있다는 사실과 원격 모델이 해당 호출을 처리한다는 사실은 별도다. 계획안은 Day 25의 ToolStrategy 사용을 언급하지만 원본 선택 근거 전체는 제공하지 않았다. 따라서 Provider 지원과 호환성 확인이라는 일반 기준으로 설명한다.</a:t>
            </a:r>
          </a:p>
          <a:p/>
          <a:p>
            <a:r>
              <a:t>[예상 질문 / 토론]</a:t>
            </a:r>
          </a:p>
          <a:p>
            <a:r>
              <a:t>Schema 클래스를 전달하면 모든 모델에서 네이티브 구조화 출력이 되는가?</a:t>
            </a:r>
          </a:p>
          <a:p/>
          <a:p>
            <a:r>
              <a:t>[오해 방지]</a:t>
            </a:r>
          </a:p>
          <a:p>
            <a:r>
              <a:t>SDK의 편의 선택과 Provider 실제 기능을 혼동하지 않는다.</a:t>
            </a:r>
          </a:p>
          <a:p/>
          <a:p>
            <a:r>
              <a:t>[시연 연결 / 활동]</a:t>
            </a:r>
          </a:p>
          <a:p>
            <a:r>
              <a:t>화면의 비교표·그림에서 책임 계층과 다음 처리 조건을 짚는다. 실제 외부 시스템 호출은 하지 않는다.</a:t>
            </a:r>
          </a:p>
          <a:p>
            <a:r>
              <a:t>코드 위치: 해당 없음. 설계 설명 또는 개념 그림.</a:t>
            </a:r>
          </a:p>
          <a:p/>
          <a:p>
            <a:r>
              <a:t>[시간 운영]</a:t>
            </a:r>
          </a:p>
          <a:p>
            <a:r>
              <a:t>선택 부록. 질문 대응 3~5분; 본문 6시간 편성에 자동 합산하지 않는다.</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https://docs.langchain.com/oss/python/langchain/structured-output</a:t>
            </a:r>
          </a:p>
          <a:p>
            <a:r>
              <a:t>https://docs.pydantic.dev/latest/concepts/models/</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A04 | State Schema와 Reducer</a:t>
            </a:r>
          </a:p>
          <a:p>
            <a:r>
              <a:t>공통 개념: C04 / Summary와 동일한 C ID</a:t>
            </a:r>
          </a:p>
          <a:p/>
          <a:p>
            <a:r>
              <a:t>[설명 의도]</a:t>
            </a:r>
          </a:p>
          <a:p>
            <a:r>
              <a:t>병렬 갱신은 타입뿐 아니라 병합의 의미를 설계해야 한다.</a:t>
            </a:r>
          </a:p>
          <a:p/>
          <a:p>
            <a:r>
              <a:t>[말로 풀어 줄 내용]</a:t>
            </a:r>
          </a:p>
          <a:p>
            <a:r>
              <a:t>단순 리스트 덧붙이기는 흔한 reducer지만 작업 순서 보장이나 같은 ID 중복 제거까지 해결하지 않는다. 업무 의미에 맞는 결정적 병합이 필요한지 검토한다. 런타임 객체를 저장하지 않고 직렬화 가능한 업무 결과와 식별자를 보관한다.</a:t>
            </a:r>
          </a:p>
          <a:p/>
          <a:p>
            <a:r>
              <a:t>[예상 질문 / 토론]</a:t>
            </a:r>
          </a:p>
          <a:p>
            <a:r>
              <a:t>두 Node가 같은 source_id에 서로 다른 버전을 반환하면 어떻게 합칠 것인가?</a:t>
            </a:r>
          </a:p>
          <a:p/>
          <a:p>
            <a:r>
              <a:t>[오해 방지]</a:t>
            </a:r>
          </a:p>
          <a:p>
            <a:r>
              <a:t>병합 규칙 없이 마지막 값이 이긴다고 기대하지 않는다.</a:t>
            </a:r>
          </a:p>
          <a:p/>
          <a:p>
            <a:r>
              <a:t>[시연 연결 / 활동]</a:t>
            </a:r>
          </a:p>
          <a:p>
            <a:r>
              <a:t>화면의 비교표·그림에서 책임 계층과 다음 처리 조건을 짚는다. 실제 외부 시스템 호출은 하지 않는다.</a:t>
            </a:r>
          </a:p>
          <a:p>
            <a:r>
              <a:t>코드 위치: 해당 없음. 설계 설명 또는 개념 그림.</a:t>
            </a:r>
          </a:p>
          <a:p/>
          <a:p>
            <a:r>
              <a:t>[시간 운영]</a:t>
            </a:r>
          </a:p>
          <a:p>
            <a:r>
              <a:t>선택 부록. 질문 대응 3~5분; 본문 6시간 편성에 자동 합산하지 않는다.</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https://docs.langchain.com/oss/python/langgraph/graph-api</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A05 | Graph 패턴 선택표</a:t>
            </a:r>
          </a:p>
          <a:p>
            <a:r>
              <a:t>공통 개념: C05 / Summary와 동일한 C ID</a:t>
            </a:r>
          </a:p>
          <a:p/>
          <a:p>
            <a:r>
              <a:t>[설명 의도]</a:t>
            </a:r>
          </a:p>
          <a:p>
            <a:r>
              <a:t>데이터 의존성과 종료 조건이 패턴 선택의 기준이다.</a:t>
            </a:r>
          </a:p>
          <a:p/>
          <a:p>
            <a:r>
              <a:t>[말로 풀어 줄 내용]</a:t>
            </a:r>
          </a:p>
          <a:p>
            <a:r>
              <a:t>각 패턴은 서로 결합할 수 있다. 병렬 조사 뒤 보강 검색과 승인을 연결하는 식이다. 모든 경로에서 끝나거나 대기하는 상태를 설명할 수 있어야 한다. Subagent의 내부 메시지를 상위 업무 State에 그대로 합치기보다 정해진 결과 계약으로 변환한다.</a:t>
            </a:r>
          </a:p>
          <a:p/>
          <a:p>
            <a:r>
              <a:t>[예상 질문 / 토론]</a:t>
            </a:r>
          </a:p>
          <a:p>
            <a:r>
              <a:t>이 Graph의 종료 조건과 예산이 명시되지 않은 경로는 어디인가?</a:t>
            </a:r>
          </a:p>
          <a:p/>
          <a:p>
            <a:r>
              <a:t>[오해 방지]</a:t>
            </a:r>
          </a:p>
          <a:p>
            <a:r>
              <a:t>눈에 복잡한 Graph를 목표로 삼지 않는다.</a:t>
            </a:r>
          </a:p>
          <a:p/>
          <a:p>
            <a:r>
              <a:t>[시연 연결 / 활동]</a:t>
            </a:r>
          </a:p>
          <a:p>
            <a:r>
              <a:t>화면의 비교표·그림에서 책임 계층과 다음 처리 조건을 짚는다. 실제 외부 시스템 호출은 하지 않는다.</a:t>
            </a:r>
          </a:p>
          <a:p>
            <a:r>
              <a:t>코드 위치: 해당 없음. 설계 설명 또는 개념 그림.</a:t>
            </a:r>
          </a:p>
          <a:p/>
          <a:p>
            <a:r>
              <a:t>[시간 운영]</a:t>
            </a:r>
          </a:p>
          <a:p>
            <a:r>
              <a:t>선택 부록. 질문 대응 3~5분; 본문 6시간 편성에 자동 합산하지 않는다.</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https://docs.langchain.com/oss/python/langgraph/graph-api</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A06 | Runbook Metadata 설계</a:t>
            </a:r>
          </a:p>
          <a:p>
            <a:r>
              <a:t>공통 개념: C06 / Summary와 동일한 C ID</a:t>
            </a:r>
          </a:p>
          <a:p/>
          <a:p>
            <a:r>
              <a:t>[설명 의도]</a:t>
            </a:r>
          </a:p>
          <a:p>
            <a:r>
              <a:t>검색 점수 외에 문서가 쓰일 수 있는 조건을 남긴다.</a:t>
            </a:r>
          </a:p>
          <a:p/>
          <a:p>
            <a:r>
              <a:t>[말로 풀어 줄 내용]</a:t>
            </a:r>
          </a:p>
          <a:p>
            <a:r>
              <a:t>Metadata는 검색 품질뿐 아니라 답변 근거 검토와 접근 제어에 사용된다. 허용된 권한 필터를 검색 전에 적용하고, 이후에도 실제 사용 맥락을 확인한다. 문서 최신성은 단순 최신 날짜 선택보다 적용 대상과 승인된 버전 관리가 중요하다.</a:t>
            </a:r>
          </a:p>
          <a:p/>
          <a:p>
            <a:r>
              <a:t>[예상 질문 / 토론]</a:t>
            </a:r>
          </a:p>
          <a:p>
            <a:r>
              <a:t>같은 ID의 문서가 업데이트되면 이전 실행의 인용을 어떻게 재현할 것인가?</a:t>
            </a:r>
          </a:p>
          <a:p/>
          <a:p>
            <a:r>
              <a:t>[오해 방지]</a:t>
            </a:r>
          </a:p>
          <a:p>
            <a:r>
              <a:t>source_id만 남기면 원문 내용이 바뀐 뒤 같은 증거를 재현하지 못할 수 있다.</a:t>
            </a:r>
          </a:p>
          <a:p/>
          <a:p>
            <a:r>
              <a:t>[시연 연결 / 활동]</a:t>
            </a:r>
          </a:p>
          <a:p>
            <a:r>
              <a:t>화면의 비교표·그림에서 책임 계층과 다음 처리 조건을 짚는다. 실제 외부 시스템 호출은 하지 않는다.</a:t>
            </a:r>
          </a:p>
          <a:p>
            <a:r>
              <a:t>코드 위치: 해당 없음. 설계 설명 또는 개념 그림.</a:t>
            </a:r>
          </a:p>
          <a:p/>
          <a:p>
            <a:r>
              <a:t>[시간 운영]</a:t>
            </a:r>
          </a:p>
          <a:p>
            <a:r>
              <a:t>선택 부록. 질문 대응 3~5분; 본문 6시간 편성에 자동 합산하지 않는다.</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https://qdrant.tech/documentation/</a:t>
            </a:r>
          </a:p>
          <a:p>
            <a:r>
              <a:t>https://huggingface.co/BAAI/bge-m3</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A07 | MCP 연결과 수명 관리</a:t>
            </a:r>
          </a:p>
          <a:p>
            <a:r>
              <a:t>공통 개념: C07 / Summary와 동일한 C ID</a:t>
            </a:r>
          </a:p>
          <a:p/>
          <a:p>
            <a:r>
              <a:t>[설명 의도]</a:t>
            </a:r>
          </a:p>
          <a:p>
            <a:r>
              <a:t>발견·호출·세션·업무 성공을 각각 검증한다.</a:t>
            </a:r>
          </a:p>
          <a:p/>
          <a:p>
            <a:r>
              <a:t>[말로 풀어 줄 내용]</a:t>
            </a:r>
          </a:p>
          <a:p>
            <a:r>
              <a:t>설치된 langchain-mcp-adapters의 MultiServerMCPClient와 session API를 확인했으나 실제 MCP Backend 호출은 이번 제작 범위 밖이다. 기존 lesson 13의 mcp.Client import는 설치 SDK와 호환되지 않았다. 새 교육 실습은 이 잘못된 import를 사용하지 않는다.</a:t>
            </a:r>
          </a:p>
          <a:p/>
          <a:p>
            <a:r>
              <a:t>[예상 질문 / 토론]</a:t>
            </a:r>
          </a:p>
          <a:p>
            <a:r>
              <a:t>도구 발견 성공 후 호출 실패라면 어디부터 진단할 것인가?</a:t>
            </a:r>
          </a:p>
          <a:p/>
          <a:p>
            <a:r>
              <a:t>[오해 방지]</a:t>
            </a:r>
          </a:p>
          <a:p>
            <a:r>
              <a:t>로컬 import 문제를 원격 서버 장애로 진단하지 않는다.</a:t>
            </a:r>
          </a:p>
          <a:p/>
          <a:p>
            <a:r>
              <a:t>[시연 연결 / 활동]</a:t>
            </a:r>
          </a:p>
          <a:p>
            <a:r>
              <a:t>화면의 비교표·그림에서 책임 계층과 다음 처리 조건을 짚는다. 실제 외부 시스템 호출은 하지 않는다.</a:t>
            </a:r>
          </a:p>
          <a:p>
            <a:r>
              <a:t>코드 위치: 해당 없음. 설계 설명 또는 개념 그림.</a:t>
            </a:r>
          </a:p>
          <a:p/>
          <a:p>
            <a:r>
              <a:t>[시간 운영]</a:t>
            </a:r>
          </a:p>
          <a:p>
            <a:r>
              <a:t>선택 부록. 질문 대응 3~5분; 본문 6시간 편성에 자동 합산하지 않는다.</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https://docs.langchain.com/oss/python/langchain/mcp</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A08 | Email 발송 결과 확인</a:t>
            </a:r>
          </a:p>
          <a:p>
            <a:r>
              <a:t>공통 개념: C07·C09 / Summary와 동일한 C ID</a:t>
            </a:r>
          </a:p>
          <a:p/>
          <a:p>
            <a:r>
              <a:t>[설명 의도]</a:t>
            </a:r>
          </a:p>
          <a:p>
            <a:r>
              <a:t>발송 timeout에는 재전송보다 결과 대조가 먼저다.</a:t>
            </a:r>
          </a:p>
          <a:p/>
          <a:p>
            <a:r>
              <a:t>[말로 풀어 줄 내용]</a:t>
            </a:r>
          </a:p>
          <a:p>
            <a:r>
              <a:t>동일한 발송 계획에 안정적인 실행 키를 사용한다. Provider가 요청 키로 결과를 조회하거나 같은 키의 요청을 중복 억제하는지 확인한다. 그런 기능이 없으면 별도 발송 원장·조정 절차가 필요하며 완전한 exactly-once를 쉽게 약속할 수 없다.</a:t>
            </a:r>
          </a:p>
          <a:p/>
          <a:p>
            <a:r>
              <a:t>[예상 질문 / 토론]</a:t>
            </a:r>
          </a:p>
          <a:p>
            <a:r>
              <a:t>발송 완료를 조회할 수 없는 상태를 사용자에게 어떻게 표시할 것인가?</a:t>
            </a:r>
          </a:p>
          <a:p/>
          <a:p>
            <a:r>
              <a:t>[오해 방지]</a:t>
            </a:r>
          </a:p>
          <a:p>
            <a:r>
              <a:t>외부 API가 자동 중복 억제를 제공한다고 가정하지 않는다.</a:t>
            </a:r>
          </a:p>
          <a:p/>
          <a:p>
            <a:r>
              <a:t>[시연 연결 / 활동]</a:t>
            </a:r>
          </a:p>
          <a:p>
            <a:r>
              <a:t>화면의 비교표·그림에서 책임 계층과 다음 처리 조건을 짚는다. 실제 외부 시스템 호출은 하지 않는다.</a:t>
            </a:r>
          </a:p>
          <a:p>
            <a:r>
              <a:t>코드 위치: 해당 없음. 설계 설명 또는 개념 그림.</a:t>
            </a:r>
          </a:p>
          <a:p/>
          <a:p>
            <a:r>
              <a:t>[시간 운영]</a:t>
            </a:r>
          </a:p>
          <a:p>
            <a:r>
              <a:t>선택 부록. 질문 대응 3~5분; 본문 6시간 편성에 자동 합산하지 않는다.</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https://docs.langchain.com/oss/python/langgraph/persistence</a:t>
            </a:r>
          </a:p>
          <a:p>
            <a:r>
              <a:t>https://docs.langchain.com/oss/python/langgraph/interrupts</a:t>
            </a:r>
          </a:p>
          <a:p>
            <a:r>
              <a:t>https://docs.langchain.com/oss/python/langchain/mcp</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A09 | DB 변경과 Outbox</a:t>
            </a:r>
          </a:p>
          <a:p>
            <a:r>
              <a:t>공통 개념: C07·C09 / Summary와 동일한 C ID</a:t>
            </a:r>
          </a:p>
          <a:p/>
          <a:p>
            <a:r>
              <a:t>[설명 의도]</a:t>
            </a:r>
          </a:p>
          <a:p>
            <a:r>
              <a:t>DB 트랜잭션과 외부 이벤트 전송 사이의 실패 창을 다룬다.</a:t>
            </a:r>
          </a:p>
          <a:p/>
          <a:p>
            <a:r>
              <a:t>[말로 풀어 줄 내용]</a:t>
            </a:r>
          </a:p>
          <a:p>
            <a:r>
              <a:t>업무 변경과 전송 의도를 하나의 로컬 트랜잭션으로 저장하면 변경만 성공하고 이벤트를 잃는 창을 줄일 수 있다. Publisher가 재전송할 수 있으므로 소비자에도 event_id 기반 중복 처리가 필요하다. 이것은 실무 보강 설계이며 패키지에서 운영 DB나 메시지 시스템을 실행하지 않는다.</a:t>
            </a:r>
          </a:p>
          <a:p/>
          <a:p>
            <a:r>
              <a:t>[예상 질문 / 토론]</a:t>
            </a:r>
          </a:p>
          <a:p>
            <a:r>
              <a:t>Publisher가 전송 성공 직후 종료하면 어떤 중복 가능성이 남는가?</a:t>
            </a:r>
          </a:p>
          <a:p/>
          <a:p>
            <a:r>
              <a:t>[오해 방지]</a:t>
            </a:r>
          </a:p>
          <a:p>
            <a:r>
              <a:t>Outbox를 전체 분산 트랜잭션의 exactly-once 해법으로 단순화하지 않는다.</a:t>
            </a:r>
          </a:p>
          <a:p/>
          <a:p>
            <a:r>
              <a:t>[시연 연결 / 활동]</a:t>
            </a:r>
          </a:p>
          <a:p>
            <a:r>
              <a:t>화면의 비교표·그림에서 책임 계층과 다음 처리 조건을 짚는다. 실제 외부 시스템 호출은 하지 않는다.</a:t>
            </a:r>
          </a:p>
          <a:p>
            <a:r>
              <a:t>코드 위치: 해당 없음. 설계 설명 또는 개념 그림.</a:t>
            </a:r>
          </a:p>
          <a:p/>
          <a:p>
            <a:r>
              <a:t>[시간 운영]</a:t>
            </a:r>
          </a:p>
          <a:p>
            <a:r>
              <a:t>선택 부록. 질문 대응 3~5분; 본문 6시간 편성에 자동 합산하지 않는다.</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https://docs.langchain.com/oss/python/langgraph/persistence</a:t>
            </a:r>
          </a:p>
          <a:p>
            <a:r>
              <a:t>https://docs.langchain.com/oss/python/langgraph/interrupts</a:t>
            </a:r>
          </a:p>
          <a:p>
            <a:r>
              <a:t>https://docs.langchain.com/oss/python/langchain/mcp</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A10 | 오류별 복구 표</a:t>
            </a:r>
          </a:p>
          <a:p>
            <a:r>
              <a:t>공통 개념: C09·C10 / Summary와 동일한 C ID</a:t>
            </a:r>
          </a:p>
          <a:p/>
          <a:p>
            <a:r>
              <a:t>[설명 의도]</a:t>
            </a:r>
          </a:p>
          <a:p>
            <a:r>
              <a:t>오류 원인과 부작용 여부로 복구 경로를 정한다.</a:t>
            </a:r>
          </a:p>
          <a:p/>
          <a:p>
            <a:r>
              <a:t>[말로 풀어 줄 내용]</a:t>
            </a:r>
          </a:p>
          <a:p>
            <a:r>
              <a:t>학습용 테스트는 timeout을 재시도 없이 차단하도록 단순화했다. 이는 테스트를 결정적으로 유지하기 위한 범위이며 운영 재시도 정책은 별도 설계한다. 결과가 불명확한 변경은 실행 가능한 오류 재현 대신 설계 메모 과제로 다룬다.</a:t>
            </a:r>
          </a:p>
          <a:p/>
          <a:p>
            <a:r>
              <a:t>[예상 질문 / 토론]</a:t>
            </a:r>
          </a:p>
          <a:p>
            <a:r>
              <a:t>부작용 없는 조회와 변경 요청에서 재시도 판단이 어떻게 다른가?</a:t>
            </a:r>
          </a:p>
          <a:p/>
          <a:p>
            <a:r>
              <a:t>[오해 방지]</a:t>
            </a:r>
          </a:p>
          <a:p>
            <a:r>
              <a:t>이 표를 모든 시스템에 같은 횟수로 재시도하라는 규칙으로 읽지 않는다.</a:t>
            </a:r>
          </a:p>
          <a:p/>
          <a:p>
            <a:r>
              <a:t>[시연 연결 / 활동]</a:t>
            </a:r>
          </a:p>
          <a:p>
            <a:r>
              <a:t>화면의 비교표·그림에서 책임 계층과 다음 처리 조건을 짚는다. 실제 외부 시스템 호출은 하지 않는다.</a:t>
            </a:r>
          </a:p>
          <a:p>
            <a:r>
              <a:t>코드 위치: 해당 없음. 설계 설명 또는 개념 그림.</a:t>
            </a:r>
          </a:p>
          <a:p/>
          <a:p>
            <a:r>
              <a:t>[시간 운영]</a:t>
            </a:r>
          </a:p>
          <a:p>
            <a:r>
              <a:t>선택 부록. 질문 대응 3~5분; 본문 6시간 편성에 자동 합산하지 않는다.</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https://docs.langchain.com/oss/python/langgraph/persistence</a:t>
            </a:r>
          </a:p>
          <a:p>
            <a:r>
              <a:t>https://docs.langchain.com/oss/python/langgraph/interrupts</a:t>
            </a:r>
          </a:p>
          <a:p>
            <a:r>
              <a:t>https://docs.pytest.org/en/stable/</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A11 | 실습 환경과 버전</a:t>
            </a:r>
          </a:p>
          <a:p>
            <a:r>
              <a:t>공통 개념: C10 / Summary와 동일한 C ID</a:t>
            </a:r>
          </a:p>
          <a:p/>
          <a:p>
            <a:r>
              <a:t>[설명 의도]</a:t>
            </a:r>
          </a:p>
          <a:p>
            <a:r>
              <a:t>의존성 설치 후 기본 실습에는 네트워크·GPU·API key가 필요 없다.</a:t>
            </a:r>
          </a:p>
          <a:p/>
          <a:p>
            <a:r>
              <a:t>[말로 풀어 줄 내용]</a:t>
            </a:r>
          </a:p>
          <a:p>
            <a:r>
              <a:t>실습 zip의 requirements.txt는 전이 의존성을 고정하고 해시를 포함한다. Python 3.12를 사용해 설치한다. Windows 명령은 안내하되 직접 검증한 플랫폼은 Linux라고 명시한다. 실제 모델·MCP·Qdrant 통합 모드는 포함하지 않는다. 첫 설치에는 패키지 다운로드가 필요하다.</a:t>
            </a:r>
          </a:p>
          <a:p/>
          <a:p>
            <a:r>
              <a:t>[예상 질문 / 토론]</a:t>
            </a:r>
          </a:p>
          <a:p>
            <a:r>
              <a:t>패키지 설치와 네트워크 없는 실습 실행을 구분했는가?</a:t>
            </a:r>
          </a:p>
          <a:p/>
          <a:p>
            <a:r>
              <a:t>[오해 방지]</a:t>
            </a:r>
          </a:p>
          <a:p>
            <a:r>
              <a:t>네트워크 없이 가능하다는 말은 모든 의존성의 최초 다운로드까지 오프라인이라는 뜻이 아니다.</a:t>
            </a:r>
          </a:p>
          <a:p/>
          <a:p>
            <a:r>
              <a:t>[시연 연결 / 활동]</a:t>
            </a:r>
          </a:p>
          <a:p>
            <a:r>
              <a:t>README_KO.md 설치·검증·시연 명령</a:t>
            </a:r>
          </a:p>
          <a:p>
            <a:r>
              <a:t>코드 위치: 해당 없음. 설계 설명 또는 개념 그림.</a:t>
            </a:r>
          </a:p>
          <a:p/>
          <a:p>
            <a:r>
              <a:t>[시간 운영]</a:t>
            </a:r>
          </a:p>
          <a:p>
            <a:r>
              <a:t>선택 부록. 질문 대응 3~5분; 본문 6시간 편성에 자동 합산하지 않는다.</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https://docs.pytest.org/en/stable/</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슬라이드 A12 | 공식 문서와 다음 학습</a:t>
            </a:r>
          </a:p>
          <a:p>
            <a:r>
              <a:t>공통 개념: C01–C12 / Summary와 동일한 C ID</a:t>
            </a:r>
          </a:p>
          <a:p/>
          <a:p>
            <a:r>
              <a:t>[설명 의도]</a:t>
            </a:r>
          </a:p>
          <a:p>
            <a:r>
              <a:t>복습·구현 검토·운영 확장을 구분해 이어간다.</a:t>
            </a:r>
          </a:p>
          <a:p/>
          <a:p>
            <a:r>
              <a:t>[말로 풀어 줄 내용]</a:t>
            </a:r>
          </a:p>
          <a:p>
            <a:r>
              <a:t>공식 링크는 이 슬라이드 노트와 관련 슬라이드 노트에 기록했다. 별도 완성된 개발 Reference는 제공되지 않았으므로 Summary의 내부 R01–R12 탐색표를 구현 검토 길잡이로 사용한다. 이 PPTX는 구성안을 바탕으로 새로 제작했으며 Day 1–24 전체 원문을 복원하지 않았다. 인간 강사의 실제 2시간 수업 리허설은 아직 수행되지 않았다.</a:t>
            </a:r>
          </a:p>
          <a:p/>
          <a:p>
            <a:r>
              <a:t>[예상 질문 / 토론]</a:t>
            </a:r>
          </a:p>
          <a:p>
            <a:r>
              <a:t>후속 학습에서 어떤 미구현 통제를 먼저 검증할 것인가?</a:t>
            </a:r>
          </a:p>
          <a:p/>
          <a:p>
            <a:r>
              <a:t>[오해 방지]</a:t>
            </a:r>
          </a:p>
          <a:p>
            <a:r>
              <a:t>Day 26·27을 이번에 완료한 배포 실습으로 합산하지 않는다.</a:t>
            </a:r>
          </a:p>
          <a:p/>
          <a:p>
            <a:r>
              <a:t>[시연 연결 / 활동]</a:t>
            </a:r>
          </a:p>
          <a:p>
            <a:r>
              <a:t>화면의 비교표·그림에서 책임 계층과 다음 처리 조건을 짚는다. 실제 외부 시스템 호출은 하지 않는다.</a:t>
            </a:r>
          </a:p>
          <a:p>
            <a:r>
              <a:t>코드 위치: 해당 없음. 설계 설명 또는 개념 그림.</a:t>
            </a:r>
          </a:p>
          <a:p/>
          <a:p>
            <a:r>
              <a:t>[시간 운영]</a:t>
            </a:r>
          </a:p>
          <a:p>
            <a:r>
              <a:t>선택 부록. 질문 대응 3~5분; 본문 6시간 편성에 자동 합산하지 않는다.</a:t>
            </a:r>
          </a:p>
          <a:p>
            <a:r>
              <a:t>표준 교육 또는 선택 심화에서 사용.</a:t>
            </a:r>
          </a:p>
          <a:p/>
          <a:p>
            <a:r>
              <a:t>[근거와 범위]</a:t>
            </a:r>
          </a:p>
          <a:p>
            <a:r>
              <a:t>제공된 02_AI_Agent_Internal_Training_PPTX_Plan_KO.md의 해당 스토리보드와 AI_AGENT_SUMMARY_KO.md의 공통 개념을 바탕으로 새로 작성했다.</a:t>
            </a:r>
          </a:p>
          <a:p>
            <a:r>
              <a:t>Day 25 원본 전체 코드와 Day 1~24 강의 원문을 확보·복원한 자료가 아니다. 실제 예제·설계 예시·예정 확장을 구분한다.</a:t>
            </a:r>
          </a:p>
          <a:p>
            <a:r>
              <a:t>이번 교육용 solution의 13개 테스트와 별도 프로세스 SQLite 재개는 검증했다. 실제 모델·MCP·Qdrant·Email·운영 DB 변경은 통합 검증하지 않았다.</a:t>
            </a:r>
          </a:p>
          <a:p/>
          <a:p>
            <a:r>
              <a:t>[참고 URL]</a:t>
            </a:r>
          </a:p>
          <a:p>
            <a:r>
              <a:t>https://docs.langchain.com/oss/python/langgraph/persistence</a:t>
            </a:r>
          </a:p>
          <a:p>
            <a:r>
              <a:t>https://docs.langchain.com/oss/python/langgraph/interrupts</a:t>
            </a:r>
          </a:p>
          <a:p>
            <a:r>
              <a:t>https://docs.langchain.com/oss/python/langchain/structured-output</a:t>
            </a:r>
          </a:p>
          <a:p>
            <a:r>
              <a:t>https://docs.langchain.com/oss/python/langchain/mcp</a:t>
            </a:r>
          </a:p>
          <a:p>
            <a:r>
              <a:t>공식 문서의 버전과 설치 SDK를 함께 확인한다. 제작 기준일: 2026-10-20, America/Toronto.</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7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5.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7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5.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6.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5.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70.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5.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6.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6.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6.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6.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6.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6.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7.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7.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70.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70.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4.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8.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7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8.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9.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70.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70.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8.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9.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7.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70.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70.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70.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7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7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70.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70.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70.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70.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7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70.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7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7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7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7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72.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5.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0.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4.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17.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4.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28.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7.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2.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44.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4.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60.xml"/><Relationship Id="rId3" Type="http://schemas.openxmlformats.org/officeDocument/2006/relationships/notesSlide" Target="../notesSlides/notesSlide7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362F"/>
        </a:solidFill>
        <a:effectLst/>
      </p:bgPr>
    </p:bg>
    <p:spTree>
      <p:nvGrpSpPr>
        <p:cNvPr id="1" name=""/>
        <p:cNvGrpSpPr/>
        <p:nvPr/>
      </p:nvGrpSpPr>
      <p:grpSpPr/>
      <p:sp>
        <p:nvSpPr>
          <p:cNvPr id="2" name="TEXT DEVELOPER TRAINING  /  KOREAN EDITION  /  202"/>
          <p:cNvSpPr txBox="1"/>
          <p:nvPr/>
        </p:nvSpPr>
        <p:spPr>
          <a:xfrm>
            <a:off x="685800" y="411480"/>
            <a:ext cx="9144000" cy="365760"/>
          </a:xfrm>
          <a:prstGeom prst="rect">
            <a:avLst/>
          </a:prstGeom>
          <a:noFill/>
        </p:spPr>
        <p:txBody>
          <a:bodyPr wrap="square" lIns="0" rIns="0" tIns="0" bIns="0">
            <a:noAutofit/>
          </a:bodyPr>
          <a:lstStyle/>
          <a:p>
            <a:pPr algn="l">
              <a:lnSpc>
                <a:spcPct val="116000"/>
              </a:lnSpc>
              <a:spcBef>
                <a:spcPts val="0"/>
              </a:spcBef>
              <a:spcAft>
                <a:spcPts val="0"/>
              </a:spcAft>
            </a:pPr>
            <a:r>
              <a:rPr sz="1300" b="1">
                <a:solidFill>
                  <a:srgbClr val="E3EFE7"/>
                </a:solidFill>
                <a:latin typeface="Noto Sans CJK KR"/>
                <a:ea typeface="Noto Sans CJK KR"/>
                <a:latin typeface="Noto Sans CJK KR"/>
              </a:rPr>
              <a:t>DEVELOPER TRAINING  /  KOREAN EDITION  /  2026.10</a:t>
            </a:r>
          </a:p>
        </p:txBody>
      </p:sp>
      <p:sp>
        <p:nvSpPr>
          <p:cNvPr id="3" name="TEXT AI Agent&#10;개발 교육"/>
          <p:cNvSpPr txBox="1"/>
          <p:nvPr/>
        </p:nvSpPr>
        <p:spPr>
          <a:xfrm>
            <a:off x="685800" y="1234440"/>
            <a:ext cx="9144000" cy="1463040"/>
          </a:xfrm>
          <a:prstGeom prst="rect">
            <a:avLst/>
          </a:prstGeom>
          <a:noFill/>
        </p:spPr>
        <p:txBody>
          <a:bodyPr wrap="square" lIns="0" rIns="0" tIns="0" bIns="0">
            <a:noAutofit/>
          </a:bodyPr>
          <a:lstStyle/>
          <a:p>
            <a:pPr algn="l">
              <a:lnSpc>
                <a:spcPct val="116000"/>
              </a:lnSpc>
              <a:spcBef>
                <a:spcPts val="0"/>
              </a:spcBef>
              <a:spcAft>
                <a:spcPts val="0"/>
              </a:spcAft>
            </a:pPr>
            <a:r>
              <a:rPr sz="4800" b="1">
                <a:solidFill>
                  <a:srgbClr val="FFFFFF"/>
                </a:solidFill>
                <a:latin typeface="Noto Sans CJK KR"/>
                <a:ea typeface="Noto Sans CJK KR"/>
                <a:latin typeface="Noto Sans CJK KR"/>
              </a:rPr>
              <a:t>AI Agent</a:t>
            </a:r>
          </a:p>
          <a:p>
            <a:pPr algn="l">
              <a:lnSpc>
                <a:spcPct val="116000"/>
              </a:lnSpc>
              <a:spcBef>
                <a:spcPts val="0"/>
              </a:spcBef>
              <a:spcAft>
                <a:spcPts val="0"/>
              </a:spcAft>
            </a:pPr>
            <a:r>
              <a:rPr sz="4800" b="1">
                <a:solidFill>
                  <a:srgbClr val="FFFFFF"/>
                </a:solidFill>
                <a:latin typeface="Noto Sans CJK KR"/>
                <a:ea typeface="Noto Sans CJK KR"/>
                <a:latin typeface="Noto Sans CJK KR"/>
              </a:rPr>
              <a:t>개발 교육</a:t>
            </a:r>
          </a:p>
        </p:txBody>
      </p:sp>
      <p:sp>
        <p:nvSpPr>
          <p:cNvPr id="4" name="TEXT 판단을 넘어, 실행을 설계하다."/>
          <p:cNvSpPr txBox="1"/>
          <p:nvPr/>
        </p:nvSpPr>
        <p:spPr>
          <a:xfrm>
            <a:off x="731520" y="2944368"/>
            <a:ext cx="9875520" cy="731520"/>
          </a:xfrm>
          <a:prstGeom prst="rect">
            <a:avLst/>
          </a:prstGeom>
          <a:noFill/>
        </p:spPr>
        <p:txBody>
          <a:bodyPr wrap="square" lIns="0" rIns="0" tIns="0" bIns="0">
            <a:noAutofit/>
          </a:bodyPr>
          <a:lstStyle/>
          <a:p>
            <a:pPr algn="l">
              <a:lnSpc>
                <a:spcPct val="116000"/>
              </a:lnSpc>
              <a:spcBef>
                <a:spcPts val="0"/>
              </a:spcBef>
              <a:spcAft>
                <a:spcPts val="0"/>
              </a:spcAft>
            </a:pPr>
            <a:r>
              <a:rPr sz="3000" b="1">
                <a:solidFill>
                  <a:srgbClr val="E3EFE7"/>
                </a:solidFill>
                <a:latin typeface="Noto Sans CJK KR"/>
                <a:ea typeface="Noto Sans CJK KR"/>
                <a:latin typeface="Noto Sans CJK KR"/>
              </a:rPr>
              <a:t>판단을 넘어, 실행을 설계하다.</a:t>
            </a:r>
          </a:p>
        </p:txBody>
      </p:sp>
      <p:sp>
        <p:nvSpPr>
          <p:cNvPr id="5" name="TEXT 상태 · 도구 · 근거 · 승인 · 복구&#10;Backend 개발자를 위한 설계와 검증"/>
          <p:cNvSpPr txBox="1"/>
          <p:nvPr/>
        </p:nvSpPr>
        <p:spPr>
          <a:xfrm>
            <a:off x="731520" y="3858768"/>
            <a:ext cx="9875520" cy="685800"/>
          </a:xfrm>
          <a:prstGeom prst="rect">
            <a:avLst/>
          </a:prstGeom>
          <a:noFill/>
        </p:spPr>
        <p:txBody>
          <a:bodyPr wrap="square" lIns="0" rIns="0" tIns="0" bIns="0">
            <a:noAutofit/>
          </a:bodyPr>
          <a:lstStyle/>
          <a:p>
            <a:pPr algn="l">
              <a:lnSpc>
                <a:spcPct val="116000"/>
              </a:lnSpc>
              <a:spcBef>
                <a:spcPts val="0"/>
              </a:spcBef>
              <a:spcAft>
                <a:spcPts val="0"/>
              </a:spcAft>
            </a:pPr>
            <a:r>
              <a:rPr sz="2300" b="0">
                <a:solidFill>
                  <a:srgbClr val="FFFFFF"/>
                </a:solidFill>
                <a:latin typeface="Noto Sans CJK KR"/>
                <a:ea typeface="Noto Sans CJK KR"/>
                <a:latin typeface="Noto Sans CJK KR"/>
              </a:rPr>
              <a:t>상태 · 도구 · 근거 · 승인 · 복구</a:t>
            </a:r>
          </a:p>
          <a:p>
            <a:pPr algn="l">
              <a:lnSpc>
                <a:spcPct val="116000"/>
              </a:lnSpc>
              <a:spcBef>
                <a:spcPts val="0"/>
              </a:spcBef>
              <a:spcAft>
                <a:spcPts val="0"/>
              </a:spcAft>
            </a:pPr>
            <a:r>
              <a:rPr sz="2300" b="0">
                <a:solidFill>
                  <a:srgbClr val="FFFFFF"/>
                </a:solidFill>
                <a:latin typeface="Noto Sans CJK KR"/>
                <a:ea typeface="Noto Sans CJK KR"/>
                <a:latin typeface="Noto Sans CJK KR"/>
              </a:rPr>
              <a:t>Backend 개발자를 위한 설계와 검증</a:t>
            </a:r>
          </a:p>
        </p:txBody>
      </p:sp>
      <p:cxnSp>
        <p:nvCxnSpPr>
          <p:cNvPr id="6" name="Connector 5"/>
          <p:cNvCxnSpPr/>
          <p:nvPr/>
        </p:nvCxnSpPr>
        <p:spPr>
          <a:xfrm>
            <a:off x="731520" y="5074920"/>
            <a:ext cx="3291840" cy="0"/>
          </a:xfrm>
          <a:prstGeom prst="line">
            <a:avLst/>
          </a:prstGeom>
          <a:ln w="12700">
            <a:solidFill>
              <a:srgbClr val="5F7D6F"/>
            </a:solidFill>
          </a:ln>
        </p:spPr>
        <p:style>
          <a:lnRef idx="2">
            <a:schemeClr val="accent1"/>
          </a:lnRef>
          <a:fillRef idx="0">
            <a:schemeClr val="accent1"/>
          </a:fillRef>
          <a:effectRef idx="1">
            <a:schemeClr val="accent1"/>
          </a:effectRef>
          <a:fontRef idx="minor">
            <a:schemeClr val="tx1"/>
          </a:fontRef>
        </p:style>
      </p:cxnSp>
      <p:sp>
        <p:nvSpPr>
          <p:cNvPr id="7" name="TEXT 3회 / 6시간"/>
          <p:cNvSpPr txBox="1"/>
          <p:nvPr/>
        </p:nvSpPr>
        <p:spPr>
          <a:xfrm>
            <a:off x="731520" y="5276088"/>
            <a:ext cx="3337560" cy="457200"/>
          </a:xfrm>
          <a:prstGeom prst="rect">
            <a:avLst/>
          </a:prstGeom>
          <a:noFill/>
        </p:spPr>
        <p:txBody>
          <a:bodyPr wrap="square" lIns="0" rIns="0" tIns="0" bIns="0">
            <a:noAutofit/>
          </a:bodyPr>
          <a:lstStyle/>
          <a:p>
            <a:pPr algn="l">
              <a:lnSpc>
                <a:spcPct val="116000"/>
              </a:lnSpc>
              <a:spcBef>
                <a:spcPts val="0"/>
              </a:spcBef>
              <a:spcAft>
                <a:spcPts val="0"/>
              </a:spcAft>
            </a:pPr>
            <a:r>
              <a:rPr sz="2400" b="1">
                <a:solidFill>
                  <a:srgbClr val="FFFFFF"/>
                </a:solidFill>
                <a:latin typeface="Noto Sans CJK KR"/>
                <a:ea typeface="Noto Sans CJK KR"/>
                <a:latin typeface="Noto Sans CJK KR"/>
              </a:rPr>
              <a:t>3회 / 6시간</a:t>
            </a:r>
          </a:p>
        </p:txBody>
      </p:sp>
      <p:sp>
        <p:nvSpPr>
          <p:cNvPr id="8" name="TEXT 설명·시연 + 실습"/>
          <p:cNvSpPr txBox="1"/>
          <p:nvPr/>
        </p:nvSpPr>
        <p:spPr>
          <a:xfrm>
            <a:off x="731520" y="5760720"/>
            <a:ext cx="3337560" cy="320040"/>
          </a:xfrm>
          <a:prstGeom prst="rect">
            <a:avLst/>
          </a:prstGeom>
          <a:noFill/>
        </p:spPr>
        <p:txBody>
          <a:bodyPr wrap="square" lIns="0" rIns="0" tIns="0" bIns="0">
            <a:noAutofit/>
          </a:bodyPr>
          <a:lstStyle/>
          <a:p>
            <a:pPr algn="l">
              <a:lnSpc>
                <a:spcPct val="116000"/>
              </a:lnSpc>
              <a:spcBef>
                <a:spcPts val="0"/>
              </a:spcBef>
              <a:spcAft>
                <a:spcPts val="0"/>
              </a:spcAft>
            </a:pPr>
            <a:r>
              <a:rPr sz="1500" b="0">
                <a:solidFill>
                  <a:srgbClr val="E3EFE7"/>
                </a:solidFill>
                <a:latin typeface="Noto Sans CJK KR"/>
                <a:ea typeface="Noto Sans CJK KR"/>
                <a:latin typeface="Noto Sans CJK KR"/>
              </a:rPr>
              <a:t>설명·시연 + 실습</a:t>
            </a:r>
          </a:p>
        </p:txBody>
      </p:sp>
      <p:cxnSp>
        <p:nvCxnSpPr>
          <p:cNvPr id="9" name="Connector 8"/>
          <p:cNvCxnSpPr/>
          <p:nvPr/>
        </p:nvCxnSpPr>
        <p:spPr>
          <a:xfrm>
            <a:off x="4434840" y="5074920"/>
            <a:ext cx="3291839" cy="0"/>
          </a:xfrm>
          <a:prstGeom prst="line">
            <a:avLst/>
          </a:prstGeom>
          <a:ln w="12700">
            <a:solidFill>
              <a:srgbClr val="5F7D6F"/>
            </a:solidFill>
          </a:ln>
        </p:spPr>
        <p:style>
          <a:lnRef idx="2">
            <a:schemeClr val="accent1"/>
          </a:lnRef>
          <a:fillRef idx="0">
            <a:schemeClr val="accent1"/>
          </a:fillRef>
          <a:effectRef idx="1">
            <a:schemeClr val="accent1"/>
          </a:effectRef>
          <a:fontRef idx="minor">
            <a:schemeClr val="tx1"/>
          </a:fontRef>
        </p:style>
      </p:cxnSp>
      <p:sp>
        <p:nvSpPr>
          <p:cNvPr id="10" name="TEXT 60 + 12장"/>
          <p:cNvSpPr txBox="1"/>
          <p:nvPr/>
        </p:nvSpPr>
        <p:spPr>
          <a:xfrm>
            <a:off x="4434840" y="5276088"/>
            <a:ext cx="3337560" cy="457200"/>
          </a:xfrm>
          <a:prstGeom prst="rect">
            <a:avLst/>
          </a:prstGeom>
          <a:noFill/>
        </p:spPr>
        <p:txBody>
          <a:bodyPr wrap="square" lIns="0" rIns="0" tIns="0" bIns="0">
            <a:noAutofit/>
          </a:bodyPr>
          <a:lstStyle/>
          <a:p>
            <a:pPr algn="l">
              <a:lnSpc>
                <a:spcPct val="116000"/>
              </a:lnSpc>
              <a:spcBef>
                <a:spcPts val="0"/>
              </a:spcBef>
              <a:spcAft>
                <a:spcPts val="0"/>
              </a:spcAft>
            </a:pPr>
            <a:r>
              <a:rPr sz="2400" b="1">
                <a:solidFill>
                  <a:srgbClr val="FFFFFF"/>
                </a:solidFill>
                <a:latin typeface="Noto Sans CJK KR"/>
                <a:ea typeface="Noto Sans CJK KR"/>
                <a:latin typeface="Noto Sans CJK KR"/>
              </a:rPr>
              <a:t>60 + 12장</a:t>
            </a:r>
          </a:p>
        </p:txBody>
      </p:sp>
      <p:sp>
        <p:nvSpPr>
          <p:cNvPr id="11" name="TEXT 본문 + 선택 부록"/>
          <p:cNvSpPr txBox="1"/>
          <p:nvPr/>
        </p:nvSpPr>
        <p:spPr>
          <a:xfrm>
            <a:off x="4434840" y="5760720"/>
            <a:ext cx="3337560" cy="320040"/>
          </a:xfrm>
          <a:prstGeom prst="rect">
            <a:avLst/>
          </a:prstGeom>
          <a:noFill/>
        </p:spPr>
        <p:txBody>
          <a:bodyPr wrap="square" lIns="0" rIns="0" tIns="0" bIns="0">
            <a:noAutofit/>
          </a:bodyPr>
          <a:lstStyle/>
          <a:p>
            <a:pPr algn="l">
              <a:lnSpc>
                <a:spcPct val="116000"/>
              </a:lnSpc>
              <a:spcBef>
                <a:spcPts val="0"/>
              </a:spcBef>
              <a:spcAft>
                <a:spcPts val="0"/>
              </a:spcAft>
            </a:pPr>
            <a:r>
              <a:rPr sz="1500" b="0">
                <a:solidFill>
                  <a:srgbClr val="E3EFE7"/>
                </a:solidFill>
                <a:latin typeface="Noto Sans CJK KR"/>
                <a:ea typeface="Noto Sans CJK KR"/>
                <a:latin typeface="Noto Sans CJK KR"/>
              </a:rPr>
              <a:t>본문 + 선택 부록</a:t>
            </a:r>
          </a:p>
        </p:txBody>
      </p:sp>
      <p:cxnSp>
        <p:nvCxnSpPr>
          <p:cNvPr id="12" name="Connector 11"/>
          <p:cNvCxnSpPr/>
          <p:nvPr/>
        </p:nvCxnSpPr>
        <p:spPr>
          <a:xfrm>
            <a:off x="8138160" y="5074920"/>
            <a:ext cx="3291840" cy="0"/>
          </a:xfrm>
          <a:prstGeom prst="line">
            <a:avLst/>
          </a:prstGeom>
          <a:ln w="12700">
            <a:solidFill>
              <a:srgbClr val="5F7D6F"/>
            </a:solidFill>
          </a:ln>
        </p:spPr>
        <p:style>
          <a:lnRef idx="2">
            <a:schemeClr val="accent1"/>
          </a:lnRef>
          <a:fillRef idx="0">
            <a:schemeClr val="accent1"/>
          </a:fillRef>
          <a:effectRef idx="1">
            <a:schemeClr val="accent1"/>
          </a:effectRef>
          <a:fontRef idx="minor">
            <a:schemeClr val="tx1"/>
          </a:fontRef>
        </p:style>
      </p:cxnSp>
      <p:sp>
        <p:nvSpPr>
          <p:cNvPr id="13" name="TEXT 모델 없이 실습"/>
          <p:cNvSpPr txBox="1"/>
          <p:nvPr/>
        </p:nvSpPr>
        <p:spPr>
          <a:xfrm>
            <a:off x="8138160" y="5276088"/>
            <a:ext cx="3337560" cy="457200"/>
          </a:xfrm>
          <a:prstGeom prst="rect">
            <a:avLst/>
          </a:prstGeom>
          <a:noFill/>
        </p:spPr>
        <p:txBody>
          <a:bodyPr wrap="square" lIns="0" rIns="0" tIns="0" bIns="0">
            <a:noAutofit/>
          </a:bodyPr>
          <a:lstStyle/>
          <a:p>
            <a:pPr algn="l">
              <a:lnSpc>
                <a:spcPct val="116000"/>
              </a:lnSpc>
              <a:spcBef>
                <a:spcPts val="0"/>
              </a:spcBef>
              <a:spcAft>
                <a:spcPts val="0"/>
              </a:spcAft>
            </a:pPr>
            <a:r>
              <a:rPr sz="2400" b="1">
                <a:solidFill>
                  <a:srgbClr val="FFFFFF"/>
                </a:solidFill>
                <a:latin typeface="Noto Sans CJK KR"/>
                <a:ea typeface="Noto Sans CJK KR"/>
                <a:latin typeface="Noto Sans CJK KR"/>
              </a:rPr>
              <a:t>모델 없이 실습</a:t>
            </a:r>
          </a:p>
        </p:txBody>
      </p:sp>
      <p:sp>
        <p:nvSpPr>
          <p:cNvPr id="14" name="TEXT FakeAgent + Simulator"/>
          <p:cNvSpPr txBox="1"/>
          <p:nvPr/>
        </p:nvSpPr>
        <p:spPr>
          <a:xfrm>
            <a:off x="8138160" y="5760720"/>
            <a:ext cx="3337560" cy="320040"/>
          </a:xfrm>
          <a:prstGeom prst="rect">
            <a:avLst/>
          </a:prstGeom>
          <a:noFill/>
        </p:spPr>
        <p:txBody>
          <a:bodyPr wrap="square" lIns="0" rIns="0" tIns="0" bIns="0">
            <a:noAutofit/>
          </a:bodyPr>
          <a:lstStyle/>
          <a:p>
            <a:pPr algn="l">
              <a:lnSpc>
                <a:spcPct val="116000"/>
              </a:lnSpc>
              <a:spcBef>
                <a:spcPts val="0"/>
              </a:spcBef>
              <a:spcAft>
                <a:spcPts val="0"/>
              </a:spcAft>
            </a:pPr>
            <a:r>
              <a:rPr sz="1500" b="0">
                <a:solidFill>
                  <a:srgbClr val="E3EFE7"/>
                </a:solidFill>
                <a:latin typeface="Noto Sans CJK KR"/>
                <a:ea typeface="Noto Sans CJK KR"/>
                <a:latin typeface="Noto Sans CJK KR"/>
              </a:rPr>
              <a:t>FakeAgent + Simulator</a:t>
            </a:r>
          </a:p>
        </p:txBody>
      </p:sp>
      <p:cxnSp>
        <p:nvCxnSpPr>
          <p:cNvPr id="15" name="Connector 14"/>
          <p:cNvCxnSpPr/>
          <p:nvPr/>
        </p:nvCxnSpPr>
        <p:spPr>
          <a:xfrm>
            <a:off x="594360" y="6391656"/>
            <a:ext cx="11000232" cy="0"/>
          </a:xfrm>
          <a:prstGeom prst="line">
            <a:avLst/>
          </a:prstGeom>
          <a:ln w="7620">
            <a:solidFill>
              <a:srgbClr val="5F7D6F"/>
            </a:solidFill>
          </a:ln>
        </p:spPr>
        <p:style>
          <a:lnRef idx="2">
            <a:schemeClr val="accent1"/>
          </a:lnRef>
          <a:fillRef idx="0">
            <a:schemeClr val="accent1"/>
          </a:fillRef>
          <a:effectRef idx="1">
            <a:schemeClr val="accent1"/>
          </a:effectRef>
          <a:fontRef idx="minor">
            <a:schemeClr val="tx1"/>
          </a:fontRef>
        </p:style>
      </p:cxnSp>
      <p:sp>
        <p:nvSpPr>
          <p:cNvPr id="16" name="TEXT AI AGENT FIELDNOTES  /  C01–C12"/>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E3EFE7"/>
                </a:solidFill>
                <a:latin typeface="Noto Sans CJK KR"/>
                <a:ea typeface="Noto Sans CJK KR"/>
                <a:latin typeface="Noto Sans CJK KR"/>
              </a:rPr>
              <a:t>AI AGENT FIELDNOTES  /  C01–C12</a:t>
            </a:r>
          </a:p>
        </p:txBody>
      </p:sp>
      <p:sp>
        <p:nvSpPr>
          <p:cNvPr id="17" name="TEXT 01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E3EFE7"/>
                </a:solidFill>
                <a:latin typeface="Noto Sans CJK KR"/>
                <a:ea typeface="Noto Sans CJK KR"/>
                <a:latin typeface="Noto Sans CJK KR"/>
              </a:rPr>
              <a:t>01 / 72</a:t>
            </a:r>
          </a:p>
        </p:txBody>
      </p:sp>
      <p:sp>
        <p:nvSpPr>
          <p:cNvPr id="18" name="TEXT 심화 A12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E3EFE7"/>
                </a:solidFill>
                <a:latin typeface="Noto Sans CJK KR"/>
                <a:ea typeface="Noto Sans CJK KR"/>
                <a:latin typeface="Noto Sans CJK KR"/>
              </a:rPr>
              <a:t>심화 A12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1  /  원리와 실행 구조"/>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1  /  원리와 실행 구조</a:t>
            </a:r>
          </a:p>
        </p:txBody>
      </p:sp>
      <p:sp>
        <p:nvSpPr>
          <p:cNvPr id="3" name="TEXT 장애 조사 업무"/>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장애 조사 업무</a:t>
            </a:r>
          </a:p>
        </p:txBody>
      </p:sp>
      <p:sp>
        <p:nvSpPr>
          <p:cNvPr id="4" name="TEXT 조회 결과를 해석하는 일과 운영 시스템을 바꾸는 일을 나눈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조회 결과를 해석하는 일과 운영 시스템을 바꾸는 일을 나눈다.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01"/>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C01</a:t>
            </a:r>
          </a:p>
        </p:txBody>
      </p:sp>
      <p:sp>
        <p:nvSpPr>
          <p:cNvPr id="8" name="TEXT 02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02 / 72</a:t>
            </a:r>
          </a:p>
        </p:txBody>
      </p:sp>
      <p:sp>
        <p:nvSpPr>
          <p:cNvPr id="9" name="TEXT 심화 A02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A02 →</a:t>
            </a:r>
          </a:p>
        </p:txBody>
      </p:sp>
      <p:sp>
        <p:nvSpPr>
          <p:cNvPr id="10" name="Rounded Rectangle 9"/>
          <p:cNvSpPr/>
          <p:nvPr/>
        </p:nvSpPr>
        <p:spPr>
          <a:xfrm>
            <a:off x="594360" y="2660904"/>
            <a:ext cx="3547872" cy="3154680"/>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2660904"/>
            <a:ext cx="54864" cy="3154680"/>
          </a:xfrm>
          <a:prstGeom prst="rect">
            <a:avLst/>
          </a:prstGeom>
          <a:solidFill>
            <a:srgbClr val="126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업무 요청"/>
          <p:cNvSpPr txBox="1"/>
          <p:nvPr/>
        </p:nvSpPr>
        <p:spPr>
          <a:xfrm>
            <a:off x="795528" y="2843784"/>
            <a:ext cx="314553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업무 요청</a:t>
            </a:r>
          </a:p>
        </p:txBody>
      </p:sp>
      <p:sp>
        <p:nvSpPr>
          <p:cNvPr id="13" name="TEXT checkout-api 지연 증가&#10;HTTP 503 원인 조사"/>
          <p:cNvSpPr txBox="1"/>
          <p:nvPr/>
        </p:nvSpPr>
        <p:spPr>
          <a:xfrm>
            <a:off x="795528" y="3529584"/>
            <a:ext cx="3145536" cy="2148840"/>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checkout-api 지연 증가</a:t>
            </a:r>
          </a:p>
          <a:p>
            <a:pPr algn="l">
              <a:lnSpc>
                <a:spcPct val="116000"/>
              </a:lnSpc>
              <a:spcBef>
                <a:spcPts val="0"/>
              </a:spcBef>
              <a:spcAft>
                <a:spcPts val="0"/>
              </a:spcAft>
            </a:pPr>
            <a:r>
              <a:rPr sz="2200" b="0">
                <a:solidFill>
                  <a:srgbClr val="172B2A"/>
                </a:solidFill>
                <a:latin typeface="Noto Sans CJK KR"/>
                <a:ea typeface="Noto Sans CJK KR"/>
                <a:latin typeface="Noto Sans CJK KR"/>
              </a:rPr>
              <a:t>HTTP 503 원인 조사</a:t>
            </a:r>
          </a:p>
        </p:txBody>
      </p:sp>
      <p:sp>
        <p:nvSpPr>
          <p:cNvPr id="14" name="Rounded Rectangle 13"/>
          <p:cNvSpPr/>
          <p:nvPr/>
        </p:nvSpPr>
        <p:spPr>
          <a:xfrm>
            <a:off x="4315968" y="2660904"/>
            <a:ext cx="3547872" cy="3154680"/>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15968" y="2660904"/>
            <a:ext cx="54864" cy="3154680"/>
          </a:xfrm>
          <a:prstGeom prst="rect">
            <a:avLst/>
          </a:prstGeom>
          <a:solidFill>
            <a:srgbClr val="345C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현재 수동 절차"/>
          <p:cNvSpPr txBox="1"/>
          <p:nvPr/>
        </p:nvSpPr>
        <p:spPr>
          <a:xfrm>
            <a:off x="4517136" y="2843784"/>
            <a:ext cx="314553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345CB5"/>
                </a:solidFill>
                <a:latin typeface="Noto Sans CJK KR"/>
                <a:ea typeface="Noto Sans CJK KR"/>
                <a:latin typeface="Noto Sans CJK KR"/>
              </a:rPr>
              <a:t>현재 수동 절차</a:t>
            </a:r>
          </a:p>
        </p:txBody>
      </p:sp>
      <p:sp>
        <p:nvSpPr>
          <p:cNvPr id="17" name="TEXT Metrics·Logs 확인&#10;Runbook 검색·대조"/>
          <p:cNvSpPr txBox="1"/>
          <p:nvPr/>
        </p:nvSpPr>
        <p:spPr>
          <a:xfrm>
            <a:off x="4517136" y="3529584"/>
            <a:ext cx="3145536" cy="2148840"/>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Metrics·Logs 확인</a:t>
            </a:r>
          </a:p>
          <a:p>
            <a:pPr algn="l">
              <a:lnSpc>
                <a:spcPct val="116000"/>
              </a:lnSpc>
              <a:spcBef>
                <a:spcPts val="0"/>
              </a:spcBef>
              <a:spcAft>
                <a:spcPts val="0"/>
              </a:spcAft>
            </a:pPr>
            <a:r>
              <a:rPr sz="2200" b="0">
                <a:solidFill>
                  <a:srgbClr val="172B2A"/>
                </a:solidFill>
                <a:latin typeface="Noto Sans CJK KR"/>
                <a:ea typeface="Noto Sans CJK KR"/>
                <a:latin typeface="Noto Sans CJK KR"/>
              </a:rPr>
              <a:t>Runbook 검색·대조</a:t>
            </a:r>
          </a:p>
        </p:txBody>
      </p:sp>
      <p:sp>
        <p:nvSpPr>
          <p:cNvPr id="18" name="Rounded Rectangle 17"/>
          <p:cNvSpPr/>
          <p:nvPr/>
        </p:nvSpPr>
        <p:spPr>
          <a:xfrm>
            <a:off x="8037576" y="2660904"/>
            <a:ext cx="3547872" cy="3154680"/>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37576" y="2660904"/>
            <a:ext cx="54864" cy="3154680"/>
          </a:xfrm>
          <a:prstGeom prst="rect">
            <a:avLst/>
          </a:prstGeom>
          <a:solidFill>
            <a:srgbClr val="AD5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 결정과 변경"/>
          <p:cNvSpPr txBox="1"/>
          <p:nvPr/>
        </p:nvSpPr>
        <p:spPr>
          <a:xfrm>
            <a:off x="8238744" y="2843784"/>
            <a:ext cx="314553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AD572B"/>
                </a:solidFill>
                <a:latin typeface="Noto Sans CJK KR"/>
                <a:ea typeface="Noto Sans CJK KR"/>
                <a:latin typeface="Noto Sans CJK KR"/>
              </a:rPr>
              <a:t>결정과 변경</a:t>
            </a:r>
          </a:p>
        </p:txBody>
      </p:sp>
      <p:sp>
        <p:nvSpPr>
          <p:cNvPr id="21" name="TEXT 증거 확인 → 승인&#10;교육에서는 Simulator만 실행"/>
          <p:cNvSpPr txBox="1"/>
          <p:nvPr/>
        </p:nvSpPr>
        <p:spPr>
          <a:xfrm>
            <a:off x="8238744" y="3529584"/>
            <a:ext cx="3145536" cy="2148840"/>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증거 확인 → 승인</a:t>
            </a:r>
          </a:p>
          <a:p>
            <a:pPr algn="l">
              <a:lnSpc>
                <a:spcPct val="116000"/>
              </a:lnSpc>
              <a:spcBef>
                <a:spcPts val="0"/>
              </a:spcBef>
              <a:spcAft>
                <a:spcPts val="0"/>
              </a:spcAft>
            </a:pPr>
            <a:r>
              <a:rPr sz="2200" b="0">
                <a:solidFill>
                  <a:srgbClr val="172B2A"/>
                </a:solidFill>
                <a:latin typeface="Noto Sans CJK KR"/>
                <a:ea typeface="Noto Sans CJK KR"/>
                <a:latin typeface="Noto Sans CJK KR"/>
              </a:rPr>
              <a:t>교육에서는 Simulator만 실행</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1  /  원리와 실행 구조"/>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1  /  원리와 실행 구조</a:t>
            </a:r>
          </a:p>
        </p:txBody>
      </p:sp>
      <p:sp>
        <p:nvSpPr>
          <p:cNvPr id="3" name="Rounded Rectangle 2"/>
          <p:cNvSpPr/>
          <p:nvPr/>
        </p:nvSpPr>
        <p:spPr>
          <a:xfrm>
            <a:off x="10195560" y="173736"/>
            <a:ext cx="1399032" cy="329184"/>
          </a:xfrm>
          <a:prstGeom prst="roundRect">
            <a:avLst>
              <a:gd name="adj" fmla="val 8000"/>
            </a:avLst>
          </a:prstGeom>
          <a:solidFill>
            <a:srgbClr val="E3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60분 경로"/>
          <p:cNvSpPr txBox="1"/>
          <p:nvPr/>
        </p:nvSpPr>
        <p:spPr>
          <a:xfrm>
            <a:off x="10241280" y="214884"/>
            <a:ext cx="1307592" cy="182880"/>
          </a:xfrm>
          <a:prstGeom prst="rect">
            <a:avLst/>
          </a:prstGeom>
          <a:noFill/>
        </p:spPr>
        <p:txBody>
          <a:bodyPr wrap="square" lIns="0" rIns="0" tIns="0" bIns="0">
            <a:noAutofit/>
          </a:bodyPr>
          <a:lstStyle/>
          <a:p>
            <a:pPr algn="ctr">
              <a:lnSpc>
                <a:spcPct val="116000"/>
              </a:lnSpc>
              <a:spcBef>
                <a:spcPts val="0"/>
              </a:spcBef>
              <a:spcAft>
                <a:spcPts val="0"/>
              </a:spcAft>
            </a:pPr>
            <a:r>
              <a:rPr sz="1000" b="1">
                <a:solidFill>
                  <a:srgbClr val="126858"/>
                </a:solidFill>
                <a:latin typeface="Noto Sans CJK KR"/>
                <a:ea typeface="Noto Sans CJK KR"/>
                <a:latin typeface="Noto Sans CJK KR"/>
              </a:rPr>
              <a:t>60분 경로</a:t>
            </a:r>
          </a:p>
        </p:txBody>
      </p:sp>
      <p:sp>
        <p:nvSpPr>
          <p:cNvPr id="5" name="TEXT Incident Copilot 전체 구조"/>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Incident Copilot 전체 구조</a:t>
            </a:r>
          </a:p>
        </p:txBody>
      </p:sp>
      <p:sp>
        <p:nvSpPr>
          <p:cNvPr id="6" name="TEXT Agent는 조사하고, Graph와 정책 코드는 실행을 통제한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Agent는 조사하고, Graph와 정책 코드는 실행을 통제한다.</a:t>
            </a:r>
          </a:p>
        </p:txBody>
      </p:sp>
      <p:cxnSp>
        <p:nvCxnSpPr>
          <p:cNvPr id="7" name="Connector 6"/>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9" name="TEXT AI AGENT FIELDNOTES  /  C11"/>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C11</a:t>
            </a:r>
          </a:p>
        </p:txBody>
      </p:sp>
      <p:sp>
        <p:nvSpPr>
          <p:cNvPr id="10" name="TEXT 03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03 / 72</a:t>
            </a:r>
          </a:p>
        </p:txBody>
      </p:sp>
      <p:sp>
        <p:nvSpPr>
          <p:cNvPr id="11" name="TEXT 심화 A05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A05 →</a:t>
            </a:r>
          </a:p>
        </p:txBody>
      </p:sp>
      <p:sp>
        <p:nvSpPr>
          <p:cNvPr id="12" name="Rectangle 11"/>
          <p:cNvSpPr/>
          <p:nvPr/>
        </p:nvSpPr>
        <p:spPr>
          <a:xfrm>
            <a:off x="640080" y="2432304"/>
            <a:ext cx="109728" cy="109728"/>
          </a:xfrm>
          <a:prstGeom prst="rect">
            <a:avLst/>
          </a:prstGeom>
          <a:solidFill>
            <a:srgbClr val="345C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모델 판단"/>
          <p:cNvSpPr txBox="1"/>
          <p:nvPr/>
        </p:nvSpPr>
        <p:spPr>
          <a:xfrm>
            <a:off x="841248" y="2368296"/>
            <a:ext cx="2423160" cy="274320"/>
          </a:xfrm>
          <a:prstGeom prst="rect">
            <a:avLst/>
          </a:prstGeom>
          <a:noFill/>
        </p:spPr>
        <p:txBody>
          <a:bodyPr wrap="square" lIns="0" rIns="0" tIns="0" bIns="0">
            <a:noAutofit/>
          </a:bodyPr>
          <a:lstStyle/>
          <a:p>
            <a:pPr algn="l">
              <a:lnSpc>
                <a:spcPct val="116000"/>
              </a:lnSpc>
              <a:spcBef>
                <a:spcPts val="0"/>
              </a:spcBef>
              <a:spcAft>
                <a:spcPts val="0"/>
              </a:spcAft>
            </a:pPr>
            <a:r>
              <a:rPr sz="1300" b="1">
                <a:solidFill>
                  <a:srgbClr val="345CB5"/>
                </a:solidFill>
                <a:latin typeface="Noto Sans CJK KR"/>
                <a:ea typeface="Noto Sans CJK KR"/>
                <a:latin typeface="Noto Sans CJK KR"/>
              </a:rPr>
              <a:t>모델 판단</a:t>
            </a:r>
          </a:p>
        </p:txBody>
      </p:sp>
      <p:sp>
        <p:nvSpPr>
          <p:cNvPr id="14" name="Rectangle 13"/>
          <p:cNvSpPr/>
          <p:nvPr/>
        </p:nvSpPr>
        <p:spPr>
          <a:xfrm>
            <a:off x="3383280" y="2432304"/>
            <a:ext cx="109728" cy="109728"/>
          </a:xfrm>
          <a:prstGeom prst="rect">
            <a:avLst/>
          </a:prstGeom>
          <a:solidFill>
            <a:srgbClr val="126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프로그램 통제"/>
          <p:cNvSpPr txBox="1"/>
          <p:nvPr/>
        </p:nvSpPr>
        <p:spPr>
          <a:xfrm>
            <a:off x="3584448" y="2368296"/>
            <a:ext cx="2423160" cy="274320"/>
          </a:xfrm>
          <a:prstGeom prst="rect">
            <a:avLst/>
          </a:prstGeom>
          <a:noFill/>
        </p:spPr>
        <p:txBody>
          <a:bodyPr wrap="square" lIns="0" rIns="0" tIns="0" bIns="0">
            <a:noAutofit/>
          </a:bodyPr>
          <a:lstStyle/>
          <a:p>
            <a:pPr algn="l">
              <a:lnSpc>
                <a:spcPct val="116000"/>
              </a:lnSpc>
              <a:spcBef>
                <a:spcPts val="0"/>
              </a:spcBef>
              <a:spcAft>
                <a:spcPts val="0"/>
              </a:spcAft>
            </a:pPr>
            <a:r>
              <a:rPr sz="1300" b="1">
                <a:solidFill>
                  <a:srgbClr val="126858"/>
                </a:solidFill>
                <a:latin typeface="Noto Sans CJK KR"/>
                <a:ea typeface="Noto Sans CJK KR"/>
                <a:latin typeface="Noto Sans CJK KR"/>
              </a:rPr>
              <a:t>프로그램 통제</a:t>
            </a:r>
          </a:p>
        </p:txBody>
      </p:sp>
      <p:sp>
        <p:nvSpPr>
          <p:cNvPr id="16" name="Rectangle 15"/>
          <p:cNvSpPr/>
          <p:nvPr/>
        </p:nvSpPr>
        <p:spPr>
          <a:xfrm>
            <a:off x="6126480" y="2432304"/>
            <a:ext cx="109728" cy="109728"/>
          </a:xfrm>
          <a:prstGeom prst="rect">
            <a:avLst/>
          </a:prstGeom>
          <a:solidFill>
            <a:srgbClr val="7155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외부 시스템"/>
          <p:cNvSpPr txBox="1"/>
          <p:nvPr/>
        </p:nvSpPr>
        <p:spPr>
          <a:xfrm>
            <a:off x="6327648" y="2368296"/>
            <a:ext cx="2423160" cy="274320"/>
          </a:xfrm>
          <a:prstGeom prst="rect">
            <a:avLst/>
          </a:prstGeom>
          <a:noFill/>
        </p:spPr>
        <p:txBody>
          <a:bodyPr wrap="square" lIns="0" rIns="0" tIns="0" bIns="0">
            <a:noAutofit/>
          </a:bodyPr>
          <a:lstStyle/>
          <a:p>
            <a:pPr algn="l">
              <a:lnSpc>
                <a:spcPct val="116000"/>
              </a:lnSpc>
              <a:spcBef>
                <a:spcPts val="0"/>
              </a:spcBef>
              <a:spcAft>
                <a:spcPts val="0"/>
              </a:spcAft>
            </a:pPr>
            <a:r>
              <a:rPr sz="1300" b="1">
                <a:solidFill>
                  <a:srgbClr val="71559D"/>
                </a:solidFill>
                <a:latin typeface="Noto Sans CJK KR"/>
                <a:ea typeface="Noto Sans CJK KR"/>
                <a:latin typeface="Noto Sans CJK KR"/>
              </a:rPr>
              <a:t>외부 시스템</a:t>
            </a:r>
          </a:p>
        </p:txBody>
      </p:sp>
      <p:sp>
        <p:nvSpPr>
          <p:cNvPr id="18" name="Rectangle 17"/>
          <p:cNvSpPr/>
          <p:nvPr/>
        </p:nvSpPr>
        <p:spPr>
          <a:xfrm>
            <a:off x="8869680" y="2432304"/>
            <a:ext cx="109728" cy="109728"/>
          </a:xfrm>
          <a:prstGeom prst="rect">
            <a:avLst/>
          </a:prstGeom>
          <a:solidFill>
            <a:srgbClr val="AD5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사람 승인"/>
          <p:cNvSpPr txBox="1"/>
          <p:nvPr/>
        </p:nvSpPr>
        <p:spPr>
          <a:xfrm>
            <a:off x="9070848" y="2368296"/>
            <a:ext cx="2423160" cy="274320"/>
          </a:xfrm>
          <a:prstGeom prst="rect">
            <a:avLst/>
          </a:prstGeom>
          <a:noFill/>
        </p:spPr>
        <p:txBody>
          <a:bodyPr wrap="square" lIns="0" rIns="0" tIns="0" bIns="0">
            <a:noAutofit/>
          </a:bodyPr>
          <a:lstStyle/>
          <a:p>
            <a:pPr algn="l">
              <a:lnSpc>
                <a:spcPct val="116000"/>
              </a:lnSpc>
              <a:spcBef>
                <a:spcPts val="0"/>
              </a:spcBef>
              <a:spcAft>
                <a:spcPts val="0"/>
              </a:spcAft>
            </a:pPr>
            <a:r>
              <a:rPr sz="1300" b="1">
                <a:solidFill>
                  <a:srgbClr val="AD572B"/>
                </a:solidFill>
                <a:latin typeface="Noto Sans CJK KR"/>
                <a:ea typeface="Noto Sans CJK KR"/>
                <a:latin typeface="Noto Sans CJK KR"/>
              </a:rPr>
              <a:t>사람 승인</a:t>
            </a:r>
          </a:p>
        </p:txBody>
      </p:sp>
      <p:sp>
        <p:nvSpPr>
          <p:cNvPr id="20" name="Rounded Rectangle 19"/>
          <p:cNvSpPr/>
          <p:nvPr/>
        </p:nvSpPr>
        <p:spPr>
          <a:xfrm>
            <a:off x="594360" y="3703320"/>
            <a:ext cx="1325880" cy="694944"/>
          </a:xfrm>
          <a:prstGeom prst="roundRect">
            <a:avLst>
              <a:gd name="adj" fmla="val 8000"/>
            </a:avLst>
          </a:prstGeom>
          <a:solidFill>
            <a:srgbClr val="E3EFE7"/>
          </a:solidFill>
          <a:ln w="10160">
            <a:solidFill>
              <a:srgbClr val="1268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 접수"/>
          <p:cNvSpPr txBox="1"/>
          <p:nvPr/>
        </p:nvSpPr>
        <p:spPr>
          <a:xfrm>
            <a:off x="667512" y="3794759"/>
            <a:ext cx="1179576" cy="566928"/>
          </a:xfrm>
          <a:prstGeom prst="rect">
            <a:avLst/>
          </a:prstGeom>
          <a:noFill/>
        </p:spPr>
        <p:txBody>
          <a:bodyPr wrap="square" lIns="0" rIns="0" tIns="0" bIns="0">
            <a:noAutofit/>
          </a:bodyPr>
          <a:lstStyle/>
          <a:p>
            <a:pPr algn="ctr">
              <a:lnSpc>
                <a:spcPct val="116000"/>
              </a:lnSpc>
              <a:spcBef>
                <a:spcPts val="0"/>
              </a:spcBef>
              <a:spcAft>
                <a:spcPts val="0"/>
              </a:spcAft>
            </a:pPr>
            <a:r>
              <a:rPr sz="1900" b="1">
                <a:solidFill>
                  <a:srgbClr val="126858"/>
                </a:solidFill>
                <a:latin typeface="Noto Sans CJK KR"/>
                <a:ea typeface="Noto Sans CJK KR"/>
                <a:latin typeface="Noto Sans CJK KR"/>
              </a:rPr>
              <a:t>접수</a:t>
            </a:r>
          </a:p>
        </p:txBody>
      </p:sp>
      <p:sp>
        <p:nvSpPr>
          <p:cNvPr id="22" name="Rounded Rectangle 21"/>
          <p:cNvSpPr/>
          <p:nvPr/>
        </p:nvSpPr>
        <p:spPr>
          <a:xfrm>
            <a:off x="2331720" y="2944368"/>
            <a:ext cx="1828800" cy="731520"/>
          </a:xfrm>
          <a:prstGeom prst="roundRect">
            <a:avLst>
              <a:gd name="adj" fmla="val 8000"/>
            </a:avLst>
          </a:prstGeom>
          <a:solidFill>
            <a:srgbClr val="E7EDFB"/>
          </a:solidFill>
          <a:ln w="10160">
            <a:solidFill>
              <a:srgbClr val="345C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 Metrics Agent"/>
          <p:cNvSpPr txBox="1"/>
          <p:nvPr/>
        </p:nvSpPr>
        <p:spPr>
          <a:xfrm>
            <a:off x="2404872" y="3035808"/>
            <a:ext cx="1682496" cy="603504"/>
          </a:xfrm>
          <a:prstGeom prst="rect">
            <a:avLst/>
          </a:prstGeom>
          <a:noFill/>
        </p:spPr>
        <p:txBody>
          <a:bodyPr wrap="square" lIns="0" rIns="0" tIns="0" bIns="0">
            <a:noAutofit/>
          </a:bodyPr>
          <a:lstStyle/>
          <a:p>
            <a:pPr algn="ctr">
              <a:lnSpc>
                <a:spcPct val="116000"/>
              </a:lnSpc>
              <a:spcBef>
                <a:spcPts val="0"/>
              </a:spcBef>
              <a:spcAft>
                <a:spcPts val="0"/>
              </a:spcAft>
            </a:pPr>
            <a:r>
              <a:rPr sz="1900" b="1">
                <a:solidFill>
                  <a:srgbClr val="345CB5"/>
                </a:solidFill>
                <a:latin typeface="Noto Sans CJK KR"/>
                <a:ea typeface="Noto Sans CJK KR"/>
                <a:latin typeface="Noto Sans CJK KR"/>
              </a:rPr>
              <a:t>Metrics Agent</a:t>
            </a:r>
          </a:p>
        </p:txBody>
      </p:sp>
      <p:sp>
        <p:nvSpPr>
          <p:cNvPr id="24" name="Rounded Rectangle 23"/>
          <p:cNvSpPr/>
          <p:nvPr/>
        </p:nvSpPr>
        <p:spPr>
          <a:xfrm>
            <a:off x="2331720" y="4443984"/>
            <a:ext cx="1828800" cy="731520"/>
          </a:xfrm>
          <a:prstGeom prst="roundRect">
            <a:avLst>
              <a:gd name="adj" fmla="val 8000"/>
            </a:avLst>
          </a:prstGeom>
          <a:solidFill>
            <a:srgbClr val="E7EDFB"/>
          </a:solidFill>
          <a:ln w="10160">
            <a:solidFill>
              <a:srgbClr val="345C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 Runbook Agent"/>
          <p:cNvSpPr txBox="1"/>
          <p:nvPr/>
        </p:nvSpPr>
        <p:spPr>
          <a:xfrm>
            <a:off x="2404872" y="4535424"/>
            <a:ext cx="1682496" cy="603504"/>
          </a:xfrm>
          <a:prstGeom prst="rect">
            <a:avLst/>
          </a:prstGeom>
          <a:noFill/>
        </p:spPr>
        <p:txBody>
          <a:bodyPr wrap="square" lIns="0" rIns="0" tIns="0" bIns="0">
            <a:noAutofit/>
          </a:bodyPr>
          <a:lstStyle/>
          <a:p>
            <a:pPr algn="ctr">
              <a:lnSpc>
                <a:spcPct val="116000"/>
              </a:lnSpc>
              <a:spcBef>
                <a:spcPts val="0"/>
              </a:spcBef>
              <a:spcAft>
                <a:spcPts val="0"/>
              </a:spcAft>
            </a:pPr>
            <a:r>
              <a:rPr sz="1900" b="1">
                <a:solidFill>
                  <a:srgbClr val="345CB5"/>
                </a:solidFill>
                <a:latin typeface="Noto Sans CJK KR"/>
                <a:ea typeface="Noto Sans CJK KR"/>
                <a:latin typeface="Noto Sans CJK KR"/>
              </a:rPr>
              <a:t>Runbook Agent</a:t>
            </a:r>
          </a:p>
        </p:txBody>
      </p:sp>
      <p:sp>
        <p:nvSpPr>
          <p:cNvPr id="26" name="Rounded Rectangle 25"/>
          <p:cNvSpPr/>
          <p:nvPr/>
        </p:nvSpPr>
        <p:spPr>
          <a:xfrm>
            <a:off x="4572000" y="2944368"/>
            <a:ext cx="1874519" cy="731520"/>
          </a:xfrm>
          <a:prstGeom prst="roundRect">
            <a:avLst>
              <a:gd name="adj" fmla="val 8000"/>
            </a:avLst>
          </a:prstGeom>
          <a:solidFill>
            <a:srgbClr val="F0E9F6"/>
          </a:solidFill>
          <a:ln w="10160">
            <a:solidFill>
              <a:srgbClr val="7155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 Metrics · Logs"/>
          <p:cNvSpPr txBox="1"/>
          <p:nvPr/>
        </p:nvSpPr>
        <p:spPr>
          <a:xfrm>
            <a:off x="4645152" y="3035808"/>
            <a:ext cx="1728216" cy="603504"/>
          </a:xfrm>
          <a:prstGeom prst="rect">
            <a:avLst/>
          </a:prstGeom>
          <a:noFill/>
        </p:spPr>
        <p:txBody>
          <a:bodyPr wrap="square" lIns="0" rIns="0" tIns="0" bIns="0">
            <a:noAutofit/>
          </a:bodyPr>
          <a:lstStyle/>
          <a:p>
            <a:pPr algn="ctr">
              <a:lnSpc>
                <a:spcPct val="116000"/>
              </a:lnSpc>
              <a:spcBef>
                <a:spcPts val="0"/>
              </a:spcBef>
              <a:spcAft>
                <a:spcPts val="0"/>
              </a:spcAft>
            </a:pPr>
            <a:r>
              <a:rPr sz="1900" b="1">
                <a:solidFill>
                  <a:srgbClr val="71559D"/>
                </a:solidFill>
                <a:latin typeface="Noto Sans CJK KR"/>
                <a:ea typeface="Noto Sans CJK KR"/>
                <a:latin typeface="Noto Sans CJK KR"/>
              </a:rPr>
              <a:t>Metrics · Logs</a:t>
            </a:r>
          </a:p>
        </p:txBody>
      </p:sp>
      <p:sp>
        <p:nvSpPr>
          <p:cNvPr id="28" name="Rounded Rectangle 27"/>
          <p:cNvSpPr/>
          <p:nvPr/>
        </p:nvSpPr>
        <p:spPr>
          <a:xfrm>
            <a:off x="4572000" y="4443984"/>
            <a:ext cx="1874519" cy="731520"/>
          </a:xfrm>
          <a:prstGeom prst="roundRect">
            <a:avLst>
              <a:gd name="adj" fmla="val 8000"/>
            </a:avLst>
          </a:prstGeom>
          <a:solidFill>
            <a:srgbClr val="F0E9F6"/>
          </a:solidFill>
          <a:ln w="10160">
            <a:solidFill>
              <a:srgbClr val="7155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 Runbook 검색"/>
          <p:cNvSpPr txBox="1"/>
          <p:nvPr/>
        </p:nvSpPr>
        <p:spPr>
          <a:xfrm>
            <a:off x="4645152" y="4535424"/>
            <a:ext cx="1728216" cy="603504"/>
          </a:xfrm>
          <a:prstGeom prst="rect">
            <a:avLst/>
          </a:prstGeom>
          <a:noFill/>
        </p:spPr>
        <p:txBody>
          <a:bodyPr wrap="square" lIns="0" rIns="0" tIns="0" bIns="0">
            <a:noAutofit/>
          </a:bodyPr>
          <a:lstStyle/>
          <a:p>
            <a:pPr algn="ctr">
              <a:lnSpc>
                <a:spcPct val="116000"/>
              </a:lnSpc>
              <a:spcBef>
                <a:spcPts val="0"/>
              </a:spcBef>
              <a:spcAft>
                <a:spcPts val="0"/>
              </a:spcAft>
            </a:pPr>
            <a:r>
              <a:rPr sz="1900" b="1">
                <a:solidFill>
                  <a:srgbClr val="71559D"/>
                </a:solidFill>
                <a:latin typeface="Noto Sans CJK KR"/>
                <a:ea typeface="Noto Sans CJK KR"/>
                <a:latin typeface="Noto Sans CJK KR"/>
              </a:rPr>
              <a:t>Runbook 검색</a:t>
            </a:r>
          </a:p>
        </p:txBody>
      </p:sp>
      <p:sp>
        <p:nvSpPr>
          <p:cNvPr id="30" name="Rounded Rectangle 29"/>
          <p:cNvSpPr/>
          <p:nvPr/>
        </p:nvSpPr>
        <p:spPr>
          <a:xfrm>
            <a:off x="6903720" y="3675887"/>
            <a:ext cx="1371600" cy="841248"/>
          </a:xfrm>
          <a:prstGeom prst="roundRect">
            <a:avLst>
              <a:gd name="adj" fmla="val 8000"/>
            </a:avLst>
          </a:prstGeom>
          <a:solidFill>
            <a:srgbClr val="E3EFE7"/>
          </a:solidFill>
          <a:ln w="10160">
            <a:solidFill>
              <a:srgbClr val="1268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 Evidence&#10;Gate"/>
          <p:cNvSpPr txBox="1"/>
          <p:nvPr/>
        </p:nvSpPr>
        <p:spPr>
          <a:xfrm>
            <a:off x="6976872" y="3767327"/>
            <a:ext cx="1225296" cy="713232"/>
          </a:xfrm>
          <a:prstGeom prst="rect">
            <a:avLst/>
          </a:prstGeom>
          <a:noFill/>
        </p:spPr>
        <p:txBody>
          <a:bodyPr wrap="square" lIns="0" rIns="0" tIns="0" bIns="0">
            <a:noAutofit/>
          </a:bodyPr>
          <a:lstStyle/>
          <a:p>
            <a:pPr algn="ctr">
              <a:lnSpc>
                <a:spcPct val="116000"/>
              </a:lnSpc>
              <a:spcBef>
                <a:spcPts val="0"/>
              </a:spcBef>
              <a:spcAft>
                <a:spcPts val="0"/>
              </a:spcAft>
            </a:pPr>
            <a:r>
              <a:rPr sz="1900" b="1">
                <a:solidFill>
                  <a:srgbClr val="126858"/>
                </a:solidFill>
                <a:latin typeface="Noto Sans CJK KR"/>
                <a:ea typeface="Noto Sans CJK KR"/>
                <a:latin typeface="Noto Sans CJK KR"/>
              </a:rPr>
              <a:t>Evidence</a:t>
            </a:r>
          </a:p>
          <a:p>
            <a:pPr algn="ctr">
              <a:lnSpc>
                <a:spcPct val="116000"/>
              </a:lnSpc>
              <a:spcBef>
                <a:spcPts val="0"/>
              </a:spcBef>
              <a:spcAft>
                <a:spcPts val="0"/>
              </a:spcAft>
            </a:pPr>
            <a:r>
              <a:rPr sz="1900" b="1">
                <a:solidFill>
                  <a:srgbClr val="126858"/>
                </a:solidFill>
                <a:latin typeface="Noto Sans CJK KR"/>
                <a:ea typeface="Noto Sans CJK KR"/>
                <a:latin typeface="Noto Sans CJK KR"/>
              </a:rPr>
              <a:t>Gate</a:t>
            </a:r>
          </a:p>
        </p:txBody>
      </p:sp>
      <p:sp>
        <p:nvSpPr>
          <p:cNvPr id="32" name="Rounded Rectangle 31"/>
          <p:cNvSpPr/>
          <p:nvPr/>
        </p:nvSpPr>
        <p:spPr>
          <a:xfrm>
            <a:off x="8668512" y="3675887"/>
            <a:ext cx="1161288" cy="841248"/>
          </a:xfrm>
          <a:prstGeom prst="roundRect">
            <a:avLst>
              <a:gd name="adj" fmla="val 8000"/>
            </a:avLst>
          </a:prstGeom>
          <a:solidFill>
            <a:srgbClr val="F7EADD"/>
          </a:solidFill>
          <a:ln w="10160">
            <a:solidFill>
              <a:srgbClr val="AD57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 승인&#10;대기"/>
          <p:cNvSpPr txBox="1"/>
          <p:nvPr/>
        </p:nvSpPr>
        <p:spPr>
          <a:xfrm>
            <a:off x="8741664" y="3767327"/>
            <a:ext cx="1014984" cy="713232"/>
          </a:xfrm>
          <a:prstGeom prst="rect">
            <a:avLst/>
          </a:prstGeom>
          <a:noFill/>
        </p:spPr>
        <p:txBody>
          <a:bodyPr wrap="square" lIns="0" rIns="0" tIns="0" bIns="0">
            <a:noAutofit/>
          </a:bodyPr>
          <a:lstStyle/>
          <a:p>
            <a:pPr algn="ctr">
              <a:lnSpc>
                <a:spcPct val="116000"/>
              </a:lnSpc>
              <a:spcBef>
                <a:spcPts val="0"/>
              </a:spcBef>
              <a:spcAft>
                <a:spcPts val="0"/>
              </a:spcAft>
            </a:pPr>
            <a:r>
              <a:rPr sz="1900" b="1">
                <a:solidFill>
                  <a:srgbClr val="AD572B"/>
                </a:solidFill>
                <a:latin typeface="Noto Sans CJK KR"/>
                <a:ea typeface="Noto Sans CJK KR"/>
                <a:latin typeface="Noto Sans CJK KR"/>
              </a:rPr>
              <a:t>승인</a:t>
            </a:r>
          </a:p>
          <a:p>
            <a:pPr algn="ctr">
              <a:lnSpc>
                <a:spcPct val="116000"/>
              </a:lnSpc>
              <a:spcBef>
                <a:spcPts val="0"/>
              </a:spcBef>
              <a:spcAft>
                <a:spcPts val="0"/>
              </a:spcAft>
            </a:pPr>
            <a:r>
              <a:rPr sz="1900" b="1">
                <a:solidFill>
                  <a:srgbClr val="AD572B"/>
                </a:solidFill>
                <a:latin typeface="Noto Sans CJK KR"/>
                <a:ea typeface="Noto Sans CJK KR"/>
                <a:latin typeface="Noto Sans CJK KR"/>
              </a:rPr>
              <a:t>대기</a:t>
            </a:r>
          </a:p>
        </p:txBody>
      </p:sp>
      <p:sp>
        <p:nvSpPr>
          <p:cNvPr id="34" name="Rounded Rectangle 33"/>
          <p:cNvSpPr/>
          <p:nvPr/>
        </p:nvSpPr>
        <p:spPr>
          <a:xfrm>
            <a:off x="10213848" y="3675887"/>
            <a:ext cx="1353312" cy="841248"/>
          </a:xfrm>
          <a:prstGeom prst="roundRect">
            <a:avLst>
              <a:gd name="adj" fmla="val 8000"/>
            </a:avLst>
          </a:prstGeom>
          <a:solidFill>
            <a:srgbClr val="E3EFE7"/>
          </a:solidFill>
          <a:ln w="10160">
            <a:solidFill>
              <a:srgbClr val="1268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 Simulator&#10;→ 보고"/>
          <p:cNvSpPr txBox="1"/>
          <p:nvPr/>
        </p:nvSpPr>
        <p:spPr>
          <a:xfrm>
            <a:off x="10287000" y="3767327"/>
            <a:ext cx="1207008" cy="713232"/>
          </a:xfrm>
          <a:prstGeom prst="rect">
            <a:avLst/>
          </a:prstGeom>
          <a:noFill/>
        </p:spPr>
        <p:txBody>
          <a:bodyPr wrap="square" lIns="0" rIns="0" tIns="0" bIns="0">
            <a:noAutofit/>
          </a:bodyPr>
          <a:lstStyle/>
          <a:p>
            <a:pPr algn="ctr">
              <a:lnSpc>
                <a:spcPct val="116000"/>
              </a:lnSpc>
              <a:spcBef>
                <a:spcPts val="0"/>
              </a:spcBef>
              <a:spcAft>
                <a:spcPts val="0"/>
              </a:spcAft>
            </a:pPr>
            <a:r>
              <a:rPr sz="1900" b="1">
                <a:solidFill>
                  <a:srgbClr val="126858"/>
                </a:solidFill>
                <a:latin typeface="Noto Sans CJK KR"/>
                <a:ea typeface="Noto Sans CJK KR"/>
                <a:latin typeface="Noto Sans CJK KR"/>
              </a:rPr>
              <a:t>Simulator</a:t>
            </a:r>
          </a:p>
          <a:p>
            <a:pPr algn="ctr">
              <a:lnSpc>
                <a:spcPct val="116000"/>
              </a:lnSpc>
              <a:spcBef>
                <a:spcPts val="0"/>
              </a:spcBef>
              <a:spcAft>
                <a:spcPts val="0"/>
              </a:spcAft>
            </a:pPr>
            <a:r>
              <a:rPr sz="1900" b="1">
                <a:solidFill>
                  <a:srgbClr val="126858"/>
                </a:solidFill>
                <a:latin typeface="Noto Sans CJK KR"/>
                <a:ea typeface="Noto Sans CJK KR"/>
                <a:latin typeface="Noto Sans CJK KR"/>
              </a:rPr>
              <a:t>→ 보고</a:t>
            </a:r>
          </a:p>
        </p:txBody>
      </p:sp>
      <p:cxnSp>
        <p:nvCxnSpPr>
          <p:cNvPr id="36" name="Connector 35"/>
          <p:cNvCxnSpPr/>
          <p:nvPr/>
        </p:nvCxnSpPr>
        <p:spPr>
          <a:xfrm flipV="1">
            <a:off x="1920240" y="3310128"/>
            <a:ext cx="411480" cy="740663"/>
          </a:xfrm>
          <a:prstGeom prst="line">
            <a:avLst/>
          </a:prstGeom>
          <a:ln w="21590">
            <a:solidFill>
              <a:srgbClr val="5E6E66"/>
            </a:solidFill>
            <a:tailEnd type="triangle"/>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920240" y="4050791"/>
            <a:ext cx="411480" cy="758953"/>
          </a:xfrm>
          <a:prstGeom prst="line">
            <a:avLst/>
          </a:prstGeom>
          <a:ln w="21590">
            <a:solidFill>
              <a:srgbClr val="5E6E66"/>
            </a:solidFill>
            <a:tailEnd type="triangle"/>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4160520" y="3310128"/>
            <a:ext cx="411480" cy="0"/>
          </a:xfrm>
          <a:prstGeom prst="line">
            <a:avLst/>
          </a:prstGeom>
          <a:ln w="21590">
            <a:solidFill>
              <a:srgbClr val="5E6E66"/>
            </a:solidFill>
            <a:tailEnd type="triangle"/>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160520" y="4809744"/>
            <a:ext cx="411480" cy="0"/>
          </a:xfrm>
          <a:prstGeom prst="line">
            <a:avLst/>
          </a:prstGeom>
          <a:ln w="21590">
            <a:solidFill>
              <a:srgbClr val="5E6E66"/>
            </a:solidFill>
            <a:tailEnd type="triangle"/>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6446520" y="3310128"/>
            <a:ext cx="457200" cy="786384"/>
          </a:xfrm>
          <a:prstGeom prst="line">
            <a:avLst/>
          </a:prstGeom>
          <a:ln w="21590">
            <a:solidFill>
              <a:srgbClr val="5E6E66"/>
            </a:solidFill>
            <a:tailEnd type="triangle"/>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6446520" y="4096512"/>
            <a:ext cx="457200" cy="713232"/>
          </a:xfrm>
          <a:prstGeom prst="line">
            <a:avLst/>
          </a:prstGeom>
          <a:ln w="21590">
            <a:solidFill>
              <a:srgbClr val="5E6E66"/>
            </a:solidFill>
            <a:tailEnd type="triangle"/>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8275320" y="4096512"/>
            <a:ext cx="393192" cy="0"/>
          </a:xfrm>
          <a:prstGeom prst="line">
            <a:avLst/>
          </a:prstGeom>
          <a:ln w="21590">
            <a:solidFill>
              <a:srgbClr val="5E6E66"/>
            </a:solidFill>
            <a:tailEnd type="triangle"/>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9829800" y="4096512"/>
            <a:ext cx="384048" cy="0"/>
          </a:xfrm>
          <a:prstGeom prst="line">
            <a:avLst/>
          </a:prstGeom>
          <a:ln w="21590">
            <a:solidFill>
              <a:srgbClr val="5E6E66"/>
            </a:solidFill>
            <a:tailEnd type="triangle"/>
          </a:ln>
        </p:spPr>
        <p:style>
          <a:lnRef idx="2">
            <a:schemeClr val="accent1"/>
          </a:lnRef>
          <a:fillRef idx="0">
            <a:schemeClr val="accent1"/>
          </a:fillRef>
          <a:effectRef idx="1">
            <a:schemeClr val="accent1"/>
          </a:effectRef>
          <a:fontRef idx="minor">
            <a:schemeClr val="tx1"/>
          </a:fontRef>
        </p:style>
      </p:cxnSp>
      <p:sp>
        <p:nvSpPr>
          <p:cNvPr id="44" name="TEXT 차단·거부 → 실행 없이 보고"/>
          <p:cNvSpPr txBox="1"/>
          <p:nvPr/>
        </p:nvSpPr>
        <p:spPr>
          <a:xfrm>
            <a:off x="6830568" y="4892040"/>
            <a:ext cx="4754880" cy="384048"/>
          </a:xfrm>
          <a:prstGeom prst="rect">
            <a:avLst/>
          </a:prstGeom>
          <a:noFill/>
        </p:spPr>
        <p:txBody>
          <a:bodyPr wrap="square" lIns="0" rIns="0" tIns="0" bIns="0">
            <a:noAutofit/>
          </a:bodyPr>
          <a:lstStyle/>
          <a:p>
            <a:pPr algn="l">
              <a:lnSpc>
                <a:spcPct val="116000"/>
              </a:lnSpc>
              <a:spcBef>
                <a:spcPts val="0"/>
              </a:spcBef>
              <a:spcAft>
                <a:spcPts val="0"/>
              </a:spcAft>
            </a:pPr>
            <a:r>
              <a:rPr sz="1700" b="1">
                <a:solidFill>
                  <a:srgbClr val="AD572B"/>
                </a:solidFill>
                <a:latin typeface="Noto Sans CJK KR"/>
                <a:ea typeface="Noto Sans CJK KR"/>
                <a:latin typeface="Noto Sans CJK KR"/>
              </a:rPr>
              <a:t>차단·거부 → 실행 없이 보고</a:t>
            </a:r>
          </a:p>
        </p:txBody>
      </p:sp>
      <p:sp>
        <p:nvSpPr>
          <p:cNvPr id="45" name="Rounded Rectangle 44"/>
          <p:cNvSpPr/>
          <p:nvPr/>
        </p:nvSpPr>
        <p:spPr>
          <a:xfrm>
            <a:off x="594360" y="5605272"/>
            <a:ext cx="10972800" cy="411480"/>
          </a:xfrm>
          <a:prstGeom prst="roundRect">
            <a:avLst>
              <a:gd name="adj" fmla="val 8000"/>
            </a:avLst>
          </a:prstGeom>
          <a:solidFill>
            <a:srgbClr val="E3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 Checkpoint: 실행 상태 보존  |  Simulator: 실제 운영 변경 "/>
          <p:cNvSpPr txBox="1"/>
          <p:nvPr/>
        </p:nvSpPr>
        <p:spPr>
          <a:xfrm>
            <a:off x="758952" y="5660136"/>
            <a:ext cx="10652760" cy="256032"/>
          </a:xfrm>
          <a:prstGeom prst="rect">
            <a:avLst/>
          </a:prstGeom>
          <a:noFill/>
        </p:spPr>
        <p:txBody>
          <a:bodyPr wrap="square" lIns="0" rIns="0" tIns="0" bIns="0">
            <a:noAutofit/>
          </a:bodyPr>
          <a:lstStyle/>
          <a:p>
            <a:pPr algn="l">
              <a:lnSpc>
                <a:spcPct val="116000"/>
              </a:lnSpc>
              <a:spcBef>
                <a:spcPts val="0"/>
              </a:spcBef>
              <a:spcAft>
                <a:spcPts val="0"/>
              </a:spcAft>
            </a:pPr>
            <a:r>
              <a:rPr sz="1500" b="0">
                <a:solidFill>
                  <a:srgbClr val="126858"/>
                </a:solidFill>
                <a:latin typeface="Noto Sans CJK KR"/>
                <a:ea typeface="Noto Sans CJK KR"/>
                <a:latin typeface="Noto Sans CJK KR"/>
              </a:rPr>
              <a:t>Checkpoint: 실행 상태 보존  |  Simulator: 실제 운영 변경 없음</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1  /  원리와 실행 구조"/>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1  /  원리와 실행 구조</a:t>
            </a:r>
          </a:p>
        </p:txBody>
      </p:sp>
      <p:sp>
        <p:nvSpPr>
          <p:cNvPr id="3" name="TEXT 이번 교육의 완료 기준"/>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이번 교육의 완료 기준</a:t>
            </a:r>
          </a:p>
        </p:txBody>
      </p:sp>
      <p:sp>
        <p:nvSpPr>
          <p:cNvPr id="4" name="TEXT 정상 경로뿐 아니라 차단·거부·실패·재개를 설명한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정상 경로뿐 아니라 차단·거부·실패·재개를 설명한다.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12"/>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C12</a:t>
            </a:r>
          </a:p>
        </p:txBody>
      </p:sp>
      <p:sp>
        <p:nvSpPr>
          <p:cNvPr id="8" name="TEXT 04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04 / 72</a:t>
            </a:r>
          </a:p>
        </p:txBody>
      </p:sp>
      <p:sp>
        <p:nvSpPr>
          <p:cNvPr id="9" name="TEXT 심화 A11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A11 →</a:t>
            </a:r>
          </a:p>
        </p:txBody>
      </p:sp>
      <p:sp>
        <p:nvSpPr>
          <p:cNvPr id="10" name="Rounded Rectangle 9"/>
          <p:cNvSpPr/>
          <p:nvPr/>
        </p:nvSpPr>
        <p:spPr>
          <a:xfrm>
            <a:off x="594360" y="2660904"/>
            <a:ext cx="3547872" cy="3154680"/>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2660904"/>
            <a:ext cx="54864" cy="3154680"/>
          </a:xfrm>
          <a:prstGeom prst="rect">
            <a:avLst/>
          </a:prstGeom>
          <a:solidFill>
            <a:srgbClr val="126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1회차 산출물"/>
          <p:cNvSpPr txBox="1"/>
          <p:nvPr/>
        </p:nvSpPr>
        <p:spPr>
          <a:xfrm>
            <a:off x="795528" y="2843784"/>
            <a:ext cx="314553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1회차 산출물</a:t>
            </a:r>
          </a:p>
        </p:txBody>
      </p:sp>
      <p:sp>
        <p:nvSpPr>
          <p:cNvPr id="13" name="TEXT State 필드 계약표&#10;5–7개 Node의 Graph"/>
          <p:cNvSpPr txBox="1"/>
          <p:nvPr/>
        </p:nvSpPr>
        <p:spPr>
          <a:xfrm>
            <a:off x="795528" y="3529584"/>
            <a:ext cx="3145536" cy="2148840"/>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State 필드 계약표</a:t>
            </a:r>
          </a:p>
          <a:p>
            <a:pPr algn="l">
              <a:lnSpc>
                <a:spcPct val="116000"/>
              </a:lnSpc>
              <a:spcBef>
                <a:spcPts val="0"/>
              </a:spcBef>
              <a:spcAft>
                <a:spcPts val="0"/>
              </a:spcAft>
            </a:pPr>
            <a:r>
              <a:rPr sz="2200" b="0">
                <a:solidFill>
                  <a:srgbClr val="172B2A"/>
                </a:solidFill>
                <a:latin typeface="Noto Sans CJK KR"/>
                <a:ea typeface="Noto Sans CJK KR"/>
                <a:latin typeface="Noto Sans CJK KR"/>
              </a:rPr>
              <a:t>5–7개 Node의 Graph</a:t>
            </a:r>
          </a:p>
        </p:txBody>
      </p:sp>
      <p:sp>
        <p:nvSpPr>
          <p:cNvPr id="14" name="Rounded Rectangle 13"/>
          <p:cNvSpPr/>
          <p:nvPr/>
        </p:nvSpPr>
        <p:spPr>
          <a:xfrm>
            <a:off x="4315968" y="2660904"/>
            <a:ext cx="3547872" cy="3154680"/>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15968" y="2660904"/>
            <a:ext cx="54864" cy="3154680"/>
          </a:xfrm>
          <a:prstGeom prst="rect">
            <a:avLst/>
          </a:prstGeom>
          <a:solidFill>
            <a:srgbClr val="345C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2회차 산출물"/>
          <p:cNvSpPr txBox="1"/>
          <p:nvPr/>
        </p:nvSpPr>
        <p:spPr>
          <a:xfrm>
            <a:off x="4517136" y="2843784"/>
            <a:ext cx="314553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345CB5"/>
                </a:solidFill>
                <a:latin typeface="Noto Sans CJK KR"/>
                <a:ea typeface="Noto Sans CJK KR"/>
                <a:latin typeface="Noto Sans CJK KR"/>
              </a:rPr>
              <a:t>2회차 산출물</a:t>
            </a:r>
          </a:p>
        </p:txBody>
      </p:sp>
      <p:sp>
        <p:nvSpPr>
          <p:cNvPr id="17" name="TEXT Evidence·승인 분기&#10;거부 시 실행 0회"/>
          <p:cNvSpPr txBox="1"/>
          <p:nvPr/>
        </p:nvSpPr>
        <p:spPr>
          <a:xfrm>
            <a:off x="4517136" y="3529584"/>
            <a:ext cx="3145536" cy="2148840"/>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Evidence·승인 분기</a:t>
            </a:r>
          </a:p>
          <a:p>
            <a:pPr algn="l">
              <a:lnSpc>
                <a:spcPct val="116000"/>
              </a:lnSpc>
              <a:spcBef>
                <a:spcPts val="0"/>
              </a:spcBef>
              <a:spcAft>
                <a:spcPts val="0"/>
              </a:spcAft>
            </a:pPr>
            <a:r>
              <a:rPr sz="2200" b="0">
                <a:solidFill>
                  <a:srgbClr val="172B2A"/>
                </a:solidFill>
                <a:latin typeface="Noto Sans CJK KR"/>
                <a:ea typeface="Noto Sans CJK KR"/>
                <a:latin typeface="Noto Sans CJK KR"/>
              </a:rPr>
              <a:t>거부 시 실행 0회</a:t>
            </a:r>
          </a:p>
        </p:txBody>
      </p:sp>
      <p:sp>
        <p:nvSpPr>
          <p:cNvPr id="18" name="Rounded Rectangle 17"/>
          <p:cNvSpPr/>
          <p:nvPr/>
        </p:nvSpPr>
        <p:spPr>
          <a:xfrm>
            <a:off x="8037576" y="2660904"/>
            <a:ext cx="3547872" cy="3154680"/>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37576" y="2660904"/>
            <a:ext cx="54864" cy="3154680"/>
          </a:xfrm>
          <a:prstGeom prst="rect">
            <a:avLst/>
          </a:prstGeom>
          <a:solidFill>
            <a:srgbClr val="AD5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 3회차 산출물"/>
          <p:cNvSpPr txBox="1"/>
          <p:nvPr/>
        </p:nvSpPr>
        <p:spPr>
          <a:xfrm>
            <a:off x="8238744" y="2843784"/>
            <a:ext cx="314553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AD572B"/>
                </a:solidFill>
                <a:latin typeface="Noto Sans CJK KR"/>
                <a:ea typeface="Noto Sans CJK KR"/>
                <a:latin typeface="Noto Sans CJK KR"/>
              </a:rPr>
              <a:t>3회차 산출물</a:t>
            </a:r>
          </a:p>
        </p:txBody>
      </p:sp>
      <p:sp>
        <p:nvSpPr>
          <p:cNvPr id="21" name="TEXT 실패 주입 테스트&#10;복구·운영 전환 메모"/>
          <p:cNvSpPr txBox="1"/>
          <p:nvPr/>
        </p:nvSpPr>
        <p:spPr>
          <a:xfrm>
            <a:off x="8238744" y="3529584"/>
            <a:ext cx="3145536" cy="2148840"/>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실패 주입 테스트</a:t>
            </a:r>
          </a:p>
          <a:p>
            <a:pPr algn="l">
              <a:lnSpc>
                <a:spcPct val="116000"/>
              </a:lnSpc>
              <a:spcBef>
                <a:spcPts val="0"/>
              </a:spcBef>
              <a:spcAft>
                <a:spcPts val="0"/>
              </a:spcAft>
            </a:pPr>
            <a:r>
              <a:rPr sz="2200" b="0">
                <a:solidFill>
                  <a:srgbClr val="172B2A"/>
                </a:solidFill>
                <a:latin typeface="Noto Sans CJK KR"/>
                <a:ea typeface="Noto Sans CJK KR"/>
                <a:latin typeface="Noto Sans CJK KR"/>
              </a:rPr>
              <a:t>복구·운영 전환 메모</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1  /  원리와 실행 구조"/>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1  /  원리와 실행 구조</a:t>
            </a:r>
          </a:p>
        </p:txBody>
      </p:sp>
      <p:sp>
        <p:nvSpPr>
          <p:cNvPr id="3" name="TEXT LLM 요청과 응답"/>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LLM 요청과 응답</a:t>
            </a:r>
          </a:p>
        </p:txBody>
      </p:sp>
      <p:sp>
        <p:nvSpPr>
          <p:cNvPr id="4" name="TEXT 모델은 전달받은 Context를 바탕으로 출력을 생성한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모델은 전달받은 Context를 바탕으로 출력을 생성한다.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01"/>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C01</a:t>
            </a:r>
          </a:p>
        </p:txBody>
      </p:sp>
      <p:sp>
        <p:nvSpPr>
          <p:cNvPr id="8" name="TEXT 05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05 / 72</a:t>
            </a:r>
          </a:p>
        </p:txBody>
      </p:sp>
      <p:sp>
        <p:nvSpPr>
          <p:cNvPr id="9" name="TEXT 심화 A02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A02 →</a:t>
            </a:r>
          </a:p>
        </p:txBody>
      </p:sp>
      <p:sp>
        <p:nvSpPr>
          <p:cNvPr id="10" name="Rounded Rectangle 9"/>
          <p:cNvSpPr/>
          <p:nvPr/>
        </p:nvSpPr>
        <p:spPr>
          <a:xfrm>
            <a:off x="594360" y="2606040"/>
            <a:ext cx="5376672" cy="3364992"/>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2606040"/>
            <a:ext cx="54864" cy="3364992"/>
          </a:xfrm>
          <a:prstGeom prst="rect">
            <a:avLst/>
          </a:prstGeom>
          <a:solidFill>
            <a:srgbClr val="126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입력 Context"/>
          <p:cNvSpPr txBox="1"/>
          <p:nvPr/>
        </p:nvSpPr>
        <p:spPr>
          <a:xfrm>
            <a:off x="795528" y="2788920"/>
            <a:ext cx="497433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입력 Context</a:t>
            </a:r>
          </a:p>
        </p:txBody>
      </p:sp>
      <p:sp>
        <p:nvSpPr>
          <p:cNvPr id="13" name="TEXT "/>
          <p:cNvSpPr txBox="1"/>
          <p:nvPr/>
        </p:nvSpPr>
        <p:spPr>
          <a:xfrm>
            <a:off x="795528" y="3474720"/>
            <a:ext cx="4974336" cy="2359152"/>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a:r>
          </a:p>
        </p:txBody>
      </p:sp>
      <p:sp>
        <p:nvSpPr>
          <p:cNvPr id="14" name="TEXT • 목표: 지연 원인 조사"/>
          <p:cNvSpPr txBox="1"/>
          <p:nvPr/>
        </p:nvSpPr>
        <p:spPr>
          <a:xfrm>
            <a:off x="822960" y="3511296"/>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목표: 지연 원인 조사</a:t>
            </a:r>
          </a:p>
        </p:txBody>
      </p:sp>
      <p:sp>
        <p:nvSpPr>
          <p:cNvPr id="15" name="TEXT • 관측: 오류 증가·시간 범위"/>
          <p:cNvSpPr txBox="1"/>
          <p:nvPr/>
        </p:nvSpPr>
        <p:spPr>
          <a:xfrm>
            <a:off x="822960" y="4206240"/>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관측: 오류 증가·시간 범위</a:t>
            </a:r>
          </a:p>
        </p:txBody>
      </p:sp>
      <p:sp>
        <p:nvSpPr>
          <p:cNvPr id="16" name="TEXT • 제한: 증거 없는 원인 확정 금지"/>
          <p:cNvSpPr txBox="1"/>
          <p:nvPr/>
        </p:nvSpPr>
        <p:spPr>
          <a:xfrm>
            <a:off x="822960" y="4901183"/>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제한: 증거 없는 원인 확정 금지</a:t>
            </a:r>
          </a:p>
        </p:txBody>
      </p:sp>
      <p:sp>
        <p:nvSpPr>
          <p:cNvPr id="17" name="Rounded Rectangle 16"/>
          <p:cNvSpPr/>
          <p:nvPr/>
        </p:nvSpPr>
        <p:spPr>
          <a:xfrm>
            <a:off x="6217920" y="2606040"/>
            <a:ext cx="5376672" cy="3364992"/>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2606040"/>
            <a:ext cx="54864" cy="3364992"/>
          </a:xfrm>
          <a:prstGeom prst="rect">
            <a:avLst/>
          </a:prstGeom>
          <a:solidFill>
            <a:srgbClr val="AD5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가능한 모델 출력"/>
          <p:cNvSpPr txBox="1"/>
          <p:nvPr/>
        </p:nvSpPr>
        <p:spPr>
          <a:xfrm>
            <a:off x="6419088" y="2788920"/>
            <a:ext cx="497433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AD572B"/>
                </a:solidFill>
                <a:latin typeface="Noto Sans CJK KR"/>
                <a:ea typeface="Noto Sans CJK KR"/>
                <a:latin typeface="Noto Sans CJK KR"/>
              </a:rPr>
              <a:t>가능한 모델 출력</a:t>
            </a:r>
          </a:p>
        </p:txBody>
      </p:sp>
      <p:sp>
        <p:nvSpPr>
          <p:cNvPr id="20" name="TEXT "/>
          <p:cNvSpPr txBox="1"/>
          <p:nvPr/>
        </p:nvSpPr>
        <p:spPr>
          <a:xfrm>
            <a:off x="6419088" y="3474720"/>
            <a:ext cx="4974336" cy="2359152"/>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a:r>
          </a:p>
        </p:txBody>
      </p:sp>
      <p:sp>
        <p:nvSpPr>
          <p:cNvPr id="21" name="TEXT • 추가 지표 조회 제안"/>
          <p:cNvSpPr txBox="1"/>
          <p:nvPr/>
        </p:nvSpPr>
        <p:spPr>
          <a:xfrm>
            <a:off x="6446520" y="3511296"/>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추가 지표 조회 제안</a:t>
            </a:r>
          </a:p>
        </p:txBody>
      </p:sp>
      <p:sp>
        <p:nvSpPr>
          <p:cNvPr id="22" name="TEXT • 도구 이름과 인자 생성"/>
          <p:cNvSpPr txBox="1"/>
          <p:nvPr/>
        </p:nvSpPr>
        <p:spPr>
          <a:xfrm>
            <a:off x="6446520" y="4206240"/>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도구 이름과 인자 생성</a:t>
            </a:r>
          </a:p>
        </p:txBody>
      </p:sp>
      <p:sp>
        <p:nvSpPr>
          <p:cNvPr id="23" name="TEXT • 조사 결과·불확실성 요약"/>
          <p:cNvSpPr txBox="1"/>
          <p:nvPr/>
        </p:nvSpPr>
        <p:spPr>
          <a:xfrm>
            <a:off x="6446520" y="4901183"/>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조사 결과·불확실성 요약</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1  /  원리와 실행 구조"/>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1  /  원리와 실행 구조</a:t>
            </a:r>
          </a:p>
        </p:txBody>
      </p:sp>
      <p:sp>
        <p:nvSpPr>
          <p:cNvPr id="3" name="Rounded Rectangle 2"/>
          <p:cNvSpPr/>
          <p:nvPr/>
        </p:nvSpPr>
        <p:spPr>
          <a:xfrm>
            <a:off x="10195560" y="173736"/>
            <a:ext cx="1399032" cy="329184"/>
          </a:xfrm>
          <a:prstGeom prst="roundRect">
            <a:avLst>
              <a:gd name="adj" fmla="val 8000"/>
            </a:avLst>
          </a:prstGeom>
          <a:solidFill>
            <a:srgbClr val="E3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60분 경로"/>
          <p:cNvSpPr txBox="1"/>
          <p:nvPr/>
        </p:nvSpPr>
        <p:spPr>
          <a:xfrm>
            <a:off x="10241280" y="214884"/>
            <a:ext cx="1307592" cy="182880"/>
          </a:xfrm>
          <a:prstGeom prst="rect">
            <a:avLst/>
          </a:prstGeom>
          <a:noFill/>
        </p:spPr>
        <p:txBody>
          <a:bodyPr wrap="square" lIns="0" rIns="0" tIns="0" bIns="0">
            <a:noAutofit/>
          </a:bodyPr>
          <a:lstStyle/>
          <a:p>
            <a:pPr algn="ctr">
              <a:lnSpc>
                <a:spcPct val="116000"/>
              </a:lnSpc>
              <a:spcBef>
                <a:spcPts val="0"/>
              </a:spcBef>
              <a:spcAft>
                <a:spcPts val="0"/>
              </a:spcAft>
            </a:pPr>
            <a:r>
              <a:rPr sz="1000" b="1">
                <a:solidFill>
                  <a:srgbClr val="126858"/>
                </a:solidFill>
                <a:latin typeface="Noto Sans CJK KR"/>
                <a:ea typeface="Noto Sans CJK KR"/>
                <a:latin typeface="Noto Sans CJK KR"/>
              </a:rPr>
              <a:t>60분 경로</a:t>
            </a:r>
          </a:p>
        </p:txBody>
      </p:sp>
      <p:sp>
        <p:nvSpPr>
          <p:cNvPr id="5" name="TEXT LLM 호출·Agent·Workflow"/>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LLM 호출·Agent·Workflow</a:t>
            </a:r>
          </a:p>
        </p:txBody>
      </p:sp>
      <p:sp>
        <p:nvSpPr>
          <p:cNvPr id="6" name="TEXT 업무의 불확실성과 통제 요구에 맞는 구조를 고른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업무의 불확실성과 통제 요구에 맞는 구조를 고른다.</a:t>
            </a:r>
          </a:p>
        </p:txBody>
      </p:sp>
      <p:cxnSp>
        <p:nvCxnSpPr>
          <p:cNvPr id="7" name="Connector 6"/>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9" name="TEXT AI AGENT FIELDNOTES  /  C01"/>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C01</a:t>
            </a:r>
          </a:p>
        </p:txBody>
      </p:sp>
      <p:sp>
        <p:nvSpPr>
          <p:cNvPr id="10" name="TEXT 06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06 / 72</a:t>
            </a:r>
          </a:p>
        </p:txBody>
      </p:sp>
      <p:sp>
        <p:nvSpPr>
          <p:cNvPr id="11" name="TEXT 심화 A05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A05 →</a:t>
            </a:r>
          </a:p>
        </p:txBody>
      </p:sp>
      <p:graphicFrame>
        <p:nvGraphicFramePr>
          <p:cNvPr id="12" name="Table 11"/>
          <p:cNvGraphicFramePr>
            <a:graphicFrameLocks noGrp="1"/>
          </p:cNvGraphicFramePr>
          <p:nvPr/>
        </p:nvGraphicFramePr>
        <p:xfrm>
          <a:off x="594360" y="2587752"/>
          <a:ext cx="11000231" cy="3090672"/>
        </p:xfrm>
        <a:graphic>
          <a:graphicData uri="http://schemas.openxmlformats.org/drawingml/2006/table">
            <a:tbl>
              <a:tblPr firstRow="1" bandRow="1">
                <a:tableStyleId>{5C22544A-7EE6-4342-B048-85BDC9FD1C3A}</a:tableStyleId>
              </a:tblPr>
              <a:tblGrid>
                <a:gridCol w="2750058"/>
                <a:gridCol w="4290090"/>
                <a:gridCol w="3960083"/>
              </a:tblGrid>
              <a:tr h="484632">
                <a:tc>
                  <a:txBody>
                    <a:bodyPr/>
                    <a:lstStyle/>
                    <a:p>
                      <a:pPr>
                        <a:lnSpc>
                          <a:spcPct val="113000"/>
                        </a:lnSpc>
                        <a:spcAft>
                          <a:spcPts val="0"/>
                        </a:spcAft>
                      </a:pPr>
                      <a:r>
                        <a:rPr sz="1800" b="1">
                          <a:solidFill>
                            <a:srgbClr val="126858"/>
                          </a:solidFill>
                          <a:latin typeface="Noto Sans CJK KR"/>
                        </a:rPr>
                        <a:t>구조</a:t>
                      </a:r>
                    </a:p>
                  </a:txBody>
                  <a:tcPr marL="137160" marR="91440" marT="91440" marB="54864" anchor="ctr">
                    <a:solidFill>
                      <a:srgbClr val="E3EFE7"/>
                    </a:solidFill>
                  </a:tcPr>
                </a:tc>
                <a:tc>
                  <a:txBody>
                    <a:bodyPr/>
                    <a:lstStyle/>
                    <a:p>
                      <a:pPr>
                        <a:lnSpc>
                          <a:spcPct val="113000"/>
                        </a:lnSpc>
                        <a:spcAft>
                          <a:spcPts val="0"/>
                        </a:spcAft>
                      </a:pPr>
                      <a:r>
                        <a:rPr sz="1800" b="1">
                          <a:solidFill>
                            <a:srgbClr val="126858"/>
                          </a:solidFill>
                          <a:latin typeface="Noto Sans CJK KR"/>
                        </a:rPr>
                        <a:t>다음 단계 결정</a:t>
                      </a:r>
                    </a:p>
                  </a:txBody>
                  <a:tcPr marL="137160" marR="91440" marT="91440" marB="54864" anchor="ctr">
                    <a:solidFill>
                      <a:srgbClr val="E3EFE7"/>
                    </a:solidFill>
                  </a:tcPr>
                </a:tc>
                <a:tc>
                  <a:txBody>
                    <a:bodyPr/>
                    <a:lstStyle/>
                    <a:p>
                      <a:pPr>
                        <a:lnSpc>
                          <a:spcPct val="113000"/>
                        </a:lnSpc>
                        <a:spcAft>
                          <a:spcPts val="0"/>
                        </a:spcAft>
                      </a:pPr>
                      <a:r>
                        <a:rPr sz="1800" b="1">
                          <a:solidFill>
                            <a:srgbClr val="126858"/>
                          </a:solidFill>
                          <a:latin typeface="Noto Sans CJK KR"/>
                        </a:rPr>
                        <a:t>적합한 업무</a:t>
                      </a:r>
                    </a:p>
                  </a:txBody>
                  <a:tcPr marL="137160" marR="91440" marT="91440" marB="54864" anchor="ctr">
                    <a:solidFill>
                      <a:srgbClr val="E3EFE7"/>
                    </a:solidFill>
                  </a:tcPr>
                </a:tc>
              </a:tr>
              <a:tr h="868680">
                <a:tc>
                  <a:txBody>
                    <a:bodyPr/>
                    <a:lstStyle/>
                    <a:p>
                      <a:pPr>
                        <a:lnSpc>
                          <a:spcPct val="113000"/>
                        </a:lnSpc>
                        <a:spcAft>
                          <a:spcPts val="0"/>
                        </a:spcAft>
                      </a:pPr>
                      <a:r>
                        <a:rPr sz="2000" b="1">
                          <a:solidFill>
                            <a:srgbClr val="172B2A"/>
                          </a:solidFill>
                          <a:latin typeface="Noto Sans CJK KR"/>
                        </a:rPr>
                        <a:t>LLM 호출</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애플리케이션</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분류·추출·요약</a:t>
                      </a:r>
                    </a:p>
                  </a:txBody>
                  <a:tcPr marL="137160" marR="91440" marT="91440" marB="54864" anchor="ctr">
                    <a:solidFill>
                      <a:srgbClr val="FFFEF9"/>
                    </a:solidFill>
                  </a:tcPr>
                </a:tc>
              </a:tr>
              <a:tr h="868680">
                <a:tc>
                  <a:txBody>
                    <a:bodyPr/>
                    <a:lstStyle/>
                    <a:p>
                      <a:pPr>
                        <a:lnSpc>
                          <a:spcPct val="113000"/>
                        </a:lnSpc>
                        <a:spcAft>
                          <a:spcPts val="0"/>
                        </a:spcAft>
                      </a:pPr>
                      <a:r>
                        <a:rPr sz="2000" b="1">
                          <a:solidFill>
                            <a:srgbClr val="172B2A"/>
                          </a:solidFill>
                          <a:latin typeface="Noto Sans CJK KR"/>
                        </a:rPr>
                        <a:t>Agent loop</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모델 제안 + 실행기</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필요한 Tool 선택</a:t>
                      </a:r>
                    </a:p>
                  </a:txBody>
                  <a:tcPr marL="137160" marR="91440" marT="91440" marB="54864" anchor="ctr">
                    <a:solidFill>
                      <a:srgbClr val="EDF0E9"/>
                    </a:solidFill>
                  </a:tcPr>
                </a:tc>
              </a:tr>
              <a:tr h="868680">
                <a:tc>
                  <a:txBody>
                    <a:bodyPr/>
                    <a:lstStyle/>
                    <a:p>
                      <a:pPr>
                        <a:lnSpc>
                          <a:spcPct val="113000"/>
                        </a:lnSpc>
                        <a:spcAft>
                          <a:spcPts val="0"/>
                        </a:spcAft>
                      </a:pPr>
                      <a:r>
                        <a:rPr sz="2000" b="1">
                          <a:solidFill>
                            <a:srgbClr val="172B2A"/>
                          </a:solidFill>
                          <a:latin typeface="Noto Sans CJK KR"/>
                        </a:rPr>
                        <a:t>명시적 Workflow</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Edge·조건 코드</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합류·승인·재개</a:t>
                      </a:r>
                    </a:p>
                  </a:txBody>
                  <a:tcPr marL="137160" marR="91440" marT="91440" marB="54864" anchor="ctr">
                    <a:solidFill>
                      <a:srgbClr val="FFFEF9"/>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1  /  원리와 실행 구조"/>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1  /  원리와 실행 구조</a:t>
            </a:r>
          </a:p>
        </p:txBody>
      </p:sp>
      <p:sp>
        <p:nvSpPr>
          <p:cNvPr id="3" name="TEXT Context와 지침의 경계"/>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Context와 지침의 경계</a:t>
            </a:r>
          </a:p>
        </p:txBody>
      </p:sp>
      <p:sp>
        <p:nvSpPr>
          <p:cNvPr id="4" name="TEXT 조회한 문서 속 명령을 실행 권한으로 승격하지 않는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조회한 문서 속 명령을 실행 권한으로 승격하지 않는다.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02"/>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C02</a:t>
            </a:r>
          </a:p>
        </p:txBody>
      </p:sp>
      <p:sp>
        <p:nvSpPr>
          <p:cNvPr id="8" name="TEXT 07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07 / 72</a:t>
            </a:r>
          </a:p>
        </p:txBody>
      </p:sp>
      <p:sp>
        <p:nvSpPr>
          <p:cNvPr id="9" name="TEXT 심화 A02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A02 →</a:t>
            </a:r>
          </a:p>
        </p:txBody>
      </p:sp>
      <p:sp>
        <p:nvSpPr>
          <p:cNvPr id="10" name="Rounded Rectangle 9"/>
          <p:cNvSpPr/>
          <p:nvPr/>
        </p:nvSpPr>
        <p:spPr>
          <a:xfrm>
            <a:off x="594360" y="2606040"/>
            <a:ext cx="5376672" cy="3364992"/>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2606040"/>
            <a:ext cx="54864" cy="3364992"/>
          </a:xfrm>
          <a:prstGeom prst="rect">
            <a:avLst/>
          </a:prstGeom>
          <a:solidFill>
            <a:srgbClr val="126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신뢰할 업무 지침"/>
          <p:cNvSpPr txBox="1"/>
          <p:nvPr/>
        </p:nvSpPr>
        <p:spPr>
          <a:xfrm>
            <a:off x="795528" y="2788920"/>
            <a:ext cx="497433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신뢰할 업무 지침</a:t>
            </a:r>
          </a:p>
        </p:txBody>
      </p:sp>
      <p:sp>
        <p:nvSpPr>
          <p:cNvPr id="13" name="TEXT "/>
          <p:cNvSpPr txBox="1"/>
          <p:nvPr/>
        </p:nvSpPr>
        <p:spPr>
          <a:xfrm>
            <a:off x="795528" y="3474720"/>
            <a:ext cx="4974336" cy="2359152"/>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a:r>
          </a:p>
        </p:txBody>
      </p:sp>
      <p:sp>
        <p:nvSpPr>
          <p:cNvPr id="14" name="TEXT • 사용자가 요청한 조사 범위"/>
          <p:cNvSpPr txBox="1"/>
          <p:nvPr/>
        </p:nvSpPr>
        <p:spPr>
          <a:xfrm>
            <a:off x="822960" y="3511296"/>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사용자가 요청한 조사 범위</a:t>
            </a:r>
          </a:p>
        </p:txBody>
      </p:sp>
      <p:sp>
        <p:nvSpPr>
          <p:cNvPr id="15" name="TEXT • 허용된 Tool·서비스 목록"/>
          <p:cNvSpPr txBox="1"/>
          <p:nvPr/>
        </p:nvSpPr>
        <p:spPr>
          <a:xfrm>
            <a:off x="822960" y="4206240"/>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허용된 Tool·서비스 목록</a:t>
            </a:r>
          </a:p>
        </p:txBody>
      </p:sp>
      <p:sp>
        <p:nvSpPr>
          <p:cNvPr id="16" name="TEXT • 코드가 강제하는 실행 정책"/>
          <p:cNvSpPr txBox="1"/>
          <p:nvPr/>
        </p:nvSpPr>
        <p:spPr>
          <a:xfrm>
            <a:off x="822960" y="4901183"/>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코드가 강제하는 실행 정책</a:t>
            </a:r>
          </a:p>
        </p:txBody>
      </p:sp>
      <p:sp>
        <p:nvSpPr>
          <p:cNvPr id="17" name="Rounded Rectangle 16"/>
          <p:cNvSpPr/>
          <p:nvPr/>
        </p:nvSpPr>
        <p:spPr>
          <a:xfrm>
            <a:off x="6217920" y="2606040"/>
            <a:ext cx="5376672" cy="3364992"/>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2606040"/>
            <a:ext cx="54864" cy="3364992"/>
          </a:xfrm>
          <a:prstGeom prst="rect">
            <a:avLst/>
          </a:prstGeom>
          <a:solidFill>
            <a:srgbClr val="AD5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외부 문서·Tool 데이터"/>
          <p:cNvSpPr txBox="1"/>
          <p:nvPr/>
        </p:nvSpPr>
        <p:spPr>
          <a:xfrm>
            <a:off x="6419088" y="2788920"/>
            <a:ext cx="497433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AD572B"/>
                </a:solidFill>
                <a:latin typeface="Noto Sans CJK KR"/>
                <a:ea typeface="Noto Sans CJK KR"/>
                <a:latin typeface="Noto Sans CJK KR"/>
              </a:rPr>
              <a:t>외부 문서·Tool 데이터</a:t>
            </a:r>
          </a:p>
        </p:txBody>
      </p:sp>
      <p:sp>
        <p:nvSpPr>
          <p:cNvPr id="20" name="TEXT "/>
          <p:cNvSpPr txBox="1"/>
          <p:nvPr/>
        </p:nvSpPr>
        <p:spPr>
          <a:xfrm>
            <a:off x="6419088" y="3474720"/>
            <a:ext cx="4974336" cy="2359152"/>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a:r>
          </a:p>
        </p:txBody>
      </p:sp>
      <p:sp>
        <p:nvSpPr>
          <p:cNvPr id="21" name="TEXT • “이전 지침을 무시하라”"/>
          <p:cNvSpPr txBox="1"/>
          <p:nvPr/>
        </p:nvSpPr>
        <p:spPr>
          <a:xfrm>
            <a:off x="6446520" y="3511296"/>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“이전 지침을 무시하라”</a:t>
            </a:r>
          </a:p>
        </p:txBody>
      </p:sp>
      <p:sp>
        <p:nvSpPr>
          <p:cNvPr id="22" name="TEXT • 문서 안의 명령도 데이터"/>
          <p:cNvSpPr txBox="1"/>
          <p:nvPr/>
        </p:nvSpPr>
        <p:spPr>
          <a:xfrm>
            <a:off x="6446520" y="4206240"/>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문서 안의 명령도 데이터</a:t>
            </a:r>
          </a:p>
        </p:txBody>
      </p:sp>
      <p:sp>
        <p:nvSpPr>
          <p:cNvPr id="23" name="TEXT • 실행기는 권한을 별도 검사"/>
          <p:cNvSpPr txBox="1"/>
          <p:nvPr/>
        </p:nvSpPr>
        <p:spPr>
          <a:xfrm>
            <a:off x="6446520" y="4901183"/>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실행기는 권한을 별도 검사</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1  /  원리와 실행 구조"/>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1  /  원리와 실행 구조</a:t>
            </a:r>
          </a:p>
        </p:txBody>
      </p:sp>
      <p:sp>
        <p:nvSpPr>
          <p:cNvPr id="3" name="TEXT Tool 계약"/>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Tool 계약</a:t>
            </a:r>
          </a:p>
        </p:txBody>
      </p:sp>
      <p:sp>
        <p:nvSpPr>
          <p:cNvPr id="4" name="TEXT 이름·설명·입력·출력으로 호출 경계를 정의한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이름·설명·입력·출력으로 호출 경계를 정의한다.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03"/>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C03</a:t>
            </a:r>
          </a:p>
        </p:txBody>
      </p:sp>
      <p:sp>
        <p:nvSpPr>
          <p:cNvPr id="8" name="TEXT 08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08 / 72</a:t>
            </a:r>
          </a:p>
        </p:txBody>
      </p:sp>
      <p:sp>
        <p:nvSpPr>
          <p:cNvPr id="9" name="TEXT 심화 A03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A03 →</a:t>
            </a:r>
          </a:p>
        </p:txBody>
      </p:sp>
      <p:sp>
        <p:nvSpPr>
          <p:cNvPr id="10" name="Rounded Rectangle 9"/>
          <p:cNvSpPr/>
          <p:nvPr/>
        </p:nvSpPr>
        <p:spPr>
          <a:xfrm>
            <a:off x="594360" y="2578608"/>
            <a:ext cx="7406640" cy="3584448"/>
          </a:xfrm>
          <a:prstGeom prst="roundRect">
            <a:avLst>
              <a:gd name="adj" fmla="val 8000"/>
            </a:avLst>
          </a:prstGeom>
          <a:solidFill>
            <a:srgbClr val="1636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query_metrics(&#10;    service=&quot;checkout-api&quot;,&#10;  "/>
          <p:cNvSpPr txBox="1"/>
          <p:nvPr/>
        </p:nvSpPr>
        <p:spPr>
          <a:xfrm>
            <a:off x="822960" y="2779776"/>
            <a:ext cx="6949440" cy="3172968"/>
          </a:xfrm>
          <a:prstGeom prst="rect">
            <a:avLst/>
          </a:prstGeom>
          <a:noFill/>
        </p:spPr>
        <p:txBody>
          <a:bodyPr wrap="square" lIns="0" rIns="0" tIns="0" bIns="0">
            <a:noAutofit/>
          </a:bodyPr>
          <a:lstStyle/>
          <a:p>
            <a:pPr algn="l">
              <a:lnSpc>
                <a:spcPct val="116000"/>
              </a:lnSpc>
              <a:spcBef>
                <a:spcPts val="0"/>
              </a:spcBef>
              <a:spcAft>
                <a:spcPts val="0"/>
              </a:spcAft>
            </a:pPr>
            <a:r>
              <a:rPr sz="1800" b="0">
                <a:solidFill>
                  <a:srgbClr val="FFFFFF"/>
                </a:solidFill>
                <a:latin typeface="DejaVu Sans Mono"/>
                <a:ea typeface="DejaVu Sans Mono"/>
                <a:latin typeface="DejaVu Sans Mono"/>
              </a:rPr>
              <a:t>query_metrics(</a:t>
            </a:r>
          </a:p>
          <a:p>
            <a:pPr algn="l">
              <a:lnSpc>
                <a:spcPct val="116000"/>
              </a:lnSpc>
              <a:spcBef>
                <a:spcPts val="0"/>
              </a:spcBef>
              <a:spcAft>
                <a:spcPts val="0"/>
              </a:spcAft>
            </a:pPr>
            <a:r>
              <a:rPr sz="1800" b="0">
                <a:solidFill>
                  <a:srgbClr val="FFFFFF"/>
                </a:solidFill>
                <a:latin typeface="DejaVu Sans Mono"/>
                <a:ea typeface="DejaVu Sans Mono"/>
                <a:latin typeface="DejaVu Sans Mono"/>
              </a:rPr>
              <a:t>    service="checkout-api",</a:t>
            </a:r>
          </a:p>
          <a:p>
            <a:pPr algn="l">
              <a:lnSpc>
                <a:spcPct val="116000"/>
              </a:lnSpc>
              <a:spcBef>
                <a:spcPts val="0"/>
              </a:spcBef>
              <a:spcAft>
                <a:spcPts val="0"/>
              </a:spcAft>
            </a:pPr>
            <a:r>
              <a:rPr sz="1800" b="0">
                <a:solidFill>
                  <a:srgbClr val="FFFFFF"/>
                </a:solidFill>
                <a:latin typeface="DejaVu Sans Mono"/>
                <a:ea typeface="DejaVu Sans Mono"/>
                <a:latin typeface="DejaVu Sans Mono"/>
              </a:rPr>
              <a:t>    window="last_15m",</a:t>
            </a:r>
          </a:p>
          <a:p>
            <a:pPr algn="l">
              <a:lnSpc>
                <a:spcPct val="116000"/>
              </a:lnSpc>
              <a:spcBef>
                <a:spcPts val="0"/>
              </a:spcBef>
              <a:spcAft>
                <a:spcPts val="0"/>
              </a:spcAft>
            </a:pPr>
            <a:r>
              <a:rPr sz="1800" b="0">
                <a:solidFill>
                  <a:srgbClr val="FFFFFF"/>
                </a:solidFill>
                <a:latin typeface="DejaVu Sans Mono"/>
                <a:ea typeface="DejaVu Sans Mono"/>
                <a:latin typeface="DejaVu Sans Mono"/>
              </a:rPr>
              <a:t>)</a:t>
            </a:r>
          </a:p>
          <a:p>
            <a:pPr algn="l">
              <a:lnSpc>
                <a:spcPct val="116000"/>
              </a:lnSpc>
              <a:spcBef>
                <a:spcPts val="0"/>
              </a:spcBef>
              <a:spcAft>
                <a:spcPts val="0"/>
              </a:spcAft>
            </a:pPr>
            <a:r>
              <a:rPr sz="1800" b="0">
                <a:solidFill>
                  <a:srgbClr val="FFFFFF"/>
                </a:solidFill>
                <a:latin typeface="DejaVu Sans Mono"/>
                <a:ea typeface="DejaVu Sans Mono"/>
                <a:latin typeface="DejaVu Sans Mono"/>
              </a:rPr>
              <a:t># 반환 계약 예시</a:t>
            </a:r>
          </a:p>
          <a:p>
            <a:pPr algn="l">
              <a:lnSpc>
                <a:spcPct val="116000"/>
              </a:lnSpc>
              <a:spcBef>
                <a:spcPts val="0"/>
              </a:spcBef>
              <a:spcAft>
                <a:spcPts val="0"/>
              </a:spcAft>
            </a:pPr>
            <a:r>
              <a:rPr sz="1800" b="0">
                <a:solidFill>
                  <a:srgbClr val="FFFFFF"/>
                </a:solidFill>
                <a:latin typeface="DejaVu Sans Mono"/>
                <a:ea typeface="DejaVu Sans Mono"/>
                <a:latin typeface="DejaVu Sans Mono"/>
              </a:rPr>
              <a:t>{</a:t>
            </a:r>
          </a:p>
          <a:p>
            <a:pPr algn="l">
              <a:lnSpc>
                <a:spcPct val="116000"/>
              </a:lnSpc>
              <a:spcBef>
                <a:spcPts val="0"/>
              </a:spcBef>
              <a:spcAft>
                <a:spcPts val="0"/>
              </a:spcAft>
            </a:pPr>
            <a:r>
              <a:rPr sz="1800" b="0">
                <a:solidFill>
                  <a:srgbClr val="FFFFFF"/>
                </a:solidFill>
                <a:latin typeface="DejaVu Sans Mono"/>
                <a:ea typeface="DejaVu Sans Mono"/>
                <a:latin typeface="DejaVu Sans Mono"/>
              </a:rPr>
              <a:t>    "status": "ok",</a:t>
            </a:r>
          </a:p>
          <a:p>
            <a:pPr algn="l">
              <a:lnSpc>
                <a:spcPct val="116000"/>
              </a:lnSpc>
              <a:spcBef>
                <a:spcPts val="0"/>
              </a:spcBef>
              <a:spcAft>
                <a:spcPts val="0"/>
              </a:spcAft>
            </a:pPr>
            <a:r>
              <a:rPr sz="1800" b="0">
                <a:solidFill>
                  <a:srgbClr val="FFFFFF"/>
                </a:solidFill>
                <a:latin typeface="DejaVu Sans Mono"/>
                <a:ea typeface="DejaVu Sans Mono"/>
                <a:latin typeface="DejaVu Sans Mono"/>
              </a:rPr>
              <a:t>    "source_id": "metric-7",</a:t>
            </a:r>
          </a:p>
          <a:p>
            <a:pPr algn="l">
              <a:lnSpc>
                <a:spcPct val="116000"/>
              </a:lnSpc>
              <a:spcBef>
                <a:spcPts val="0"/>
              </a:spcBef>
              <a:spcAft>
                <a:spcPts val="0"/>
              </a:spcAft>
            </a:pPr>
            <a:r>
              <a:rPr sz="1800" b="0">
                <a:solidFill>
                  <a:srgbClr val="FFFFFF"/>
                </a:solidFill>
                <a:latin typeface="DejaVu Sans Mono"/>
                <a:ea typeface="DejaVu Sans Mono"/>
                <a:latin typeface="DejaVu Sans Mono"/>
              </a:rPr>
              <a:t>    "observed_at": "2026-10-20T14:00:00Z",</a:t>
            </a:r>
          </a:p>
          <a:p>
            <a:pPr algn="l">
              <a:lnSpc>
                <a:spcPct val="116000"/>
              </a:lnSpc>
              <a:spcBef>
                <a:spcPts val="0"/>
              </a:spcBef>
              <a:spcAft>
                <a:spcPts val="0"/>
              </a:spcAft>
            </a:pPr>
            <a:r>
              <a:rPr sz="1800" b="0">
                <a:solidFill>
                  <a:srgbClr val="FFFFFF"/>
                </a:solidFill>
                <a:latin typeface="DejaVu Sans Mono"/>
                <a:ea typeface="DejaVu Sans Mono"/>
                <a:latin typeface="DejaVu Sans Mono"/>
              </a:rPr>
              <a:t>    "values": {"http_503_count": 12}</a:t>
            </a:r>
          </a:p>
          <a:p>
            <a:pPr algn="l">
              <a:lnSpc>
                <a:spcPct val="116000"/>
              </a:lnSpc>
              <a:spcBef>
                <a:spcPts val="0"/>
              </a:spcBef>
              <a:spcAft>
                <a:spcPts val="0"/>
              </a:spcAft>
            </a:pPr>
            <a:r>
              <a:rPr sz="1800" b="0">
                <a:solidFill>
                  <a:srgbClr val="FFFFFF"/>
                </a:solidFill>
                <a:latin typeface="DejaVu Sans Mono"/>
                <a:ea typeface="DejaVu Sans Mono"/>
                <a:latin typeface="DejaVu Sans Mono"/>
              </a:rPr>
              <a:t>}</a:t>
            </a:r>
          </a:p>
        </p:txBody>
      </p:sp>
      <p:sp>
        <p:nvSpPr>
          <p:cNvPr id="12" name="Rounded Rectangle 11"/>
          <p:cNvSpPr/>
          <p:nvPr/>
        </p:nvSpPr>
        <p:spPr>
          <a:xfrm>
            <a:off x="8229600" y="2587752"/>
            <a:ext cx="3364992" cy="1700784"/>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2587752"/>
            <a:ext cx="54864" cy="1700784"/>
          </a:xfrm>
          <a:prstGeom prst="rect">
            <a:avLst/>
          </a:prstGeom>
          <a:solidFill>
            <a:srgbClr val="126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조회 전"/>
          <p:cNvSpPr txBox="1"/>
          <p:nvPr/>
        </p:nvSpPr>
        <p:spPr>
          <a:xfrm>
            <a:off x="8430768" y="2770632"/>
            <a:ext cx="296265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조회 전</a:t>
            </a:r>
          </a:p>
        </p:txBody>
      </p:sp>
      <p:sp>
        <p:nvSpPr>
          <p:cNvPr id="15" name="TEXT 허용 서비스·시간 범위 검사"/>
          <p:cNvSpPr txBox="1"/>
          <p:nvPr/>
        </p:nvSpPr>
        <p:spPr>
          <a:xfrm>
            <a:off x="8430768" y="3456432"/>
            <a:ext cx="2962656" cy="694944"/>
          </a:xfrm>
          <a:prstGeom prst="rect">
            <a:avLst/>
          </a:prstGeom>
          <a:noFill/>
        </p:spPr>
        <p:txBody>
          <a:bodyPr wrap="square" lIns="0" rIns="0" tIns="0" bIns="0">
            <a:noAutofit/>
          </a:bodyPr>
          <a:lstStyle/>
          <a:p>
            <a:pPr algn="l">
              <a:lnSpc>
                <a:spcPct val="116000"/>
              </a:lnSpc>
              <a:spcBef>
                <a:spcPts val="0"/>
              </a:spcBef>
              <a:spcAft>
                <a:spcPts val="0"/>
              </a:spcAft>
            </a:pPr>
            <a:r>
              <a:rPr sz="2000" b="0">
                <a:solidFill>
                  <a:srgbClr val="172B2A"/>
                </a:solidFill>
                <a:latin typeface="Noto Sans CJK KR"/>
                <a:ea typeface="Noto Sans CJK KR"/>
                <a:latin typeface="Noto Sans CJK KR"/>
              </a:rPr>
              <a:t>허용 서비스·시간 범위 검사</a:t>
            </a:r>
          </a:p>
        </p:txBody>
      </p:sp>
      <p:sp>
        <p:nvSpPr>
          <p:cNvPr id="16" name="Rounded Rectangle 15"/>
          <p:cNvSpPr/>
          <p:nvPr/>
        </p:nvSpPr>
        <p:spPr>
          <a:xfrm>
            <a:off x="8229600" y="4443983"/>
            <a:ext cx="3364992" cy="1700784"/>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0" y="4443983"/>
            <a:ext cx="54864" cy="1700784"/>
          </a:xfrm>
          <a:prstGeom prst="rect">
            <a:avLst/>
          </a:prstGeom>
          <a:solidFill>
            <a:srgbClr val="AD5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조회 후"/>
          <p:cNvSpPr txBox="1"/>
          <p:nvPr/>
        </p:nvSpPr>
        <p:spPr>
          <a:xfrm>
            <a:off x="8430768" y="4626864"/>
            <a:ext cx="296265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AD572B"/>
                </a:solidFill>
                <a:latin typeface="Noto Sans CJK KR"/>
                <a:ea typeface="Noto Sans CJK KR"/>
                <a:latin typeface="Noto Sans CJK KR"/>
              </a:rPr>
              <a:t>조회 후</a:t>
            </a:r>
          </a:p>
        </p:txBody>
      </p:sp>
      <p:sp>
        <p:nvSpPr>
          <p:cNvPr id="19" name="TEXT 성공·오류·출처를 구분"/>
          <p:cNvSpPr txBox="1"/>
          <p:nvPr/>
        </p:nvSpPr>
        <p:spPr>
          <a:xfrm>
            <a:off x="8430768" y="5312664"/>
            <a:ext cx="2962656" cy="694944"/>
          </a:xfrm>
          <a:prstGeom prst="rect">
            <a:avLst/>
          </a:prstGeom>
          <a:noFill/>
        </p:spPr>
        <p:txBody>
          <a:bodyPr wrap="square" lIns="0" rIns="0" tIns="0" bIns="0">
            <a:noAutofit/>
          </a:bodyPr>
          <a:lstStyle/>
          <a:p>
            <a:pPr algn="l">
              <a:lnSpc>
                <a:spcPct val="116000"/>
              </a:lnSpc>
              <a:spcBef>
                <a:spcPts val="0"/>
              </a:spcBef>
              <a:spcAft>
                <a:spcPts val="0"/>
              </a:spcAft>
            </a:pPr>
            <a:r>
              <a:rPr sz="2000" b="0">
                <a:solidFill>
                  <a:srgbClr val="172B2A"/>
                </a:solidFill>
                <a:latin typeface="Noto Sans CJK KR"/>
                <a:ea typeface="Noto Sans CJK KR"/>
                <a:latin typeface="Noto Sans CJK KR"/>
              </a:rPr>
              <a:t>성공·오류·출처를 구분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1  /  원리와 실행 구조"/>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1  /  원리와 실행 구조</a:t>
            </a:r>
          </a:p>
        </p:txBody>
      </p:sp>
      <p:sp>
        <p:nvSpPr>
          <p:cNvPr id="3" name="Rounded Rectangle 2"/>
          <p:cNvSpPr/>
          <p:nvPr/>
        </p:nvSpPr>
        <p:spPr>
          <a:xfrm>
            <a:off x="10195560" y="173736"/>
            <a:ext cx="1399032" cy="329184"/>
          </a:xfrm>
          <a:prstGeom prst="roundRect">
            <a:avLst>
              <a:gd name="adj" fmla="val 8000"/>
            </a:avLst>
          </a:prstGeom>
          <a:solidFill>
            <a:srgbClr val="E3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60분 경로"/>
          <p:cNvSpPr txBox="1"/>
          <p:nvPr/>
        </p:nvSpPr>
        <p:spPr>
          <a:xfrm>
            <a:off x="10241280" y="214884"/>
            <a:ext cx="1307592" cy="182880"/>
          </a:xfrm>
          <a:prstGeom prst="rect">
            <a:avLst/>
          </a:prstGeom>
          <a:noFill/>
        </p:spPr>
        <p:txBody>
          <a:bodyPr wrap="square" lIns="0" rIns="0" tIns="0" bIns="0">
            <a:noAutofit/>
          </a:bodyPr>
          <a:lstStyle/>
          <a:p>
            <a:pPr algn="ctr">
              <a:lnSpc>
                <a:spcPct val="116000"/>
              </a:lnSpc>
              <a:spcBef>
                <a:spcPts val="0"/>
              </a:spcBef>
              <a:spcAft>
                <a:spcPts val="0"/>
              </a:spcAft>
            </a:pPr>
            <a:r>
              <a:rPr sz="1000" b="1">
                <a:solidFill>
                  <a:srgbClr val="126858"/>
                </a:solidFill>
                <a:latin typeface="Noto Sans CJK KR"/>
                <a:ea typeface="Noto Sans CJK KR"/>
                <a:latin typeface="Noto Sans CJK KR"/>
              </a:rPr>
              <a:t>60분 경로</a:t>
            </a:r>
          </a:p>
        </p:txBody>
      </p:sp>
      <p:sp>
        <p:nvSpPr>
          <p:cNvPr id="5" name="TEXT Tool 호출의 실행 단계"/>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Tool 호출의 실행 단계</a:t>
            </a:r>
          </a:p>
        </p:txBody>
      </p:sp>
      <p:sp>
        <p:nvSpPr>
          <p:cNvPr id="6" name="TEXT Tool 호출 요청은 실행 의도이며 실제 작업은 프로그램이 수행한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Tool 호출 요청은 실행 의도이며 실제 작업은 프로그램이 수행한다.</a:t>
            </a:r>
          </a:p>
        </p:txBody>
      </p:sp>
      <p:cxnSp>
        <p:nvCxnSpPr>
          <p:cNvPr id="7" name="Connector 6"/>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9" name="TEXT AI AGENT FIELDNOTES  /  C03"/>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C03</a:t>
            </a:r>
          </a:p>
        </p:txBody>
      </p:sp>
      <p:sp>
        <p:nvSpPr>
          <p:cNvPr id="10" name="TEXT 09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09 / 72</a:t>
            </a:r>
          </a:p>
        </p:txBody>
      </p:sp>
      <p:sp>
        <p:nvSpPr>
          <p:cNvPr id="11" name="TEXT 심화 A03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A03 →</a:t>
            </a:r>
          </a:p>
        </p:txBody>
      </p:sp>
      <p:sp>
        <p:nvSpPr>
          <p:cNvPr id="12" name="Rounded Rectangle 11"/>
          <p:cNvSpPr/>
          <p:nvPr/>
        </p:nvSpPr>
        <p:spPr>
          <a:xfrm>
            <a:off x="594360" y="2880360"/>
            <a:ext cx="1995220" cy="1874519"/>
          </a:xfrm>
          <a:prstGeom prst="roundRect">
            <a:avLst>
              <a:gd name="adj" fmla="val 8000"/>
            </a:avLst>
          </a:prstGeom>
          <a:solidFill>
            <a:srgbClr val="E7EDFB"/>
          </a:solidFill>
          <a:ln w="10160">
            <a:solidFill>
              <a:srgbClr val="345C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01"/>
          <p:cNvSpPr txBox="1"/>
          <p:nvPr/>
        </p:nvSpPr>
        <p:spPr>
          <a:xfrm>
            <a:off x="749808" y="3044952"/>
            <a:ext cx="1684324" cy="246888"/>
          </a:xfrm>
          <a:prstGeom prst="rect">
            <a:avLst/>
          </a:prstGeom>
          <a:noFill/>
        </p:spPr>
        <p:txBody>
          <a:bodyPr wrap="square" lIns="0" rIns="0" tIns="0" bIns="0">
            <a:noAutofit/>
          </a:bodyPr>
          <a:lstStyle/>
          <a:p>
            <a:pPr algn="l">
              <a:lnSpc>
                <a:spcPct val="116000"/>
              </a:lnSpc>
              <a:spcBef>
                <a:spcPts val="0"/>
              </a:spcBef>
              <a:spcAft>
                <a:spcPts val="0"/>
              </a:spcAft>
            </a:pPr>
            <a:r>
              <a:rPr sz="1200" b="1">
                <a:solidFill>
                  <a:srgbClr val="345CB5"/>
                </a:solidFill>
                <a:latin typeface="Noto Sans CJK KR"/>
                <a:ea typeface="Noto Sans CJK KR"/>
                <a:latin typeface="Noto Sans CJK KR"/>
              </a:rPr>
              <a:t>01</a:t>
            </a:r>
          </a:p>
        </p:txBody>
      </p:sp>
      <p:sp>
        <p:nvSpPr>
          <p:cNvPr id="14" name="TEXT 모델 요청"/>
          <p:cNvSpPr txBox="1"/>
          <p:nvPr/>
        </p:nvSpPr>
        <p:spPr>
          <a:xfrm>
            <a:off x="749808" y="3511296"/>
            <a:ext cx="1684324" cy="713232"/>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345CB5"/>
                </a:solidFill>
                <a:latin typeface="Noto Sans CJK KR"/>
                <a:ea typeface="Noto Sans CJK KR"/>
                <a:latin typeface="Noto Sans CJK KR"/>
              </a:rPr>
              <a:t>모델 요청</a:t>
            </a:r>
          </a:p>
        </p:txBody>
      </p:sp>
      <p:sp>
        <p:nvSpPr>
          <p:cNvPr id="15" name="TEXT 모델 판단"/>
          <p:cNvSpPr txBox="1"/>
          <p:nvPr/>
        </p:nvSpPr>
        <p:spPr>
          <a:xfrm>
            <a:off x="749808" y="4261104"/>
            <a:ext cx="1684324" cy="365760"/>
          </a:xfrm>
          <a:prstGeom prst="rect">
            <a:avLst/>
          </a:prstGeom>
          <a:noFill/>
        </p:spPr>
        <p:txBody>
          <a:bodyPr wrap="square" lIns="0" rIns="0" tIns="0" bIns="0">
            <a:noAutofit/>
          </a:bodyPr>
          <a:lstStyle/>
          <a:p>
            <a:pPr algn="l">
              <a:lnSpc>
                <a:spcPct val="116000"/>
              </a:lnSpc>
              <a:spcBef>
                <a:spcPts val="0"/>
              </a:spcBef>
              <a:spcAft>
                <a:spcPts val="0"/>
              </a:spcAft>
            </a:pPr>
            <a:r>
              <a:rPr sz="1600" b="0">
                <a:solidFill>
                  <a:srgbClr val="345CB5"/>
                </a:solidFill>
                <a:latin typeface="Noto Sans CJK KR"/>
                <a:ea typeface="Noto Sans CJK KR"/>
                <a:latin typeface="Noto Sans CJK KR"/>
              </a:rPr>
              <a:t>모델 판단</a:t>
            </a:r>
          </a:p>
        </p:txBody>
      </p:sp>
      <p:cxnSp>
        <p:nvCxnSpPr>
          <p:cNvPr id="16" name="Connector 15"/>
          <p:cNvCxnSpPr/>
          <p:nvPr/>
        </p:nvCxnSpPr>
        <p:spPr>
          <a:xfrm>
            <a:off x="2607868" y="3803904"/>
            <a:ext cx="219456" cy="0"/>
          </a:xfrm>
          <a:prstGeom prst="line">
            <a:avLst/>
          </a:prstGeom>
          <a:ln w="22860">
            <a:solidFill>
              <a:srgbClr val="5E6E66"/>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845612" y="2880360"/>
            <a:ext cx="1995220" cy="1874519"/>
          </a:xfrm>
          <a:prstGeom prst="roundRect">
            <a:avLst>
              <a:gd name="adj" fmla="val 8000"/>
            </a:avLst>
          </a:prstGeom>
          <a:solidFill>
            <a:srgbClr val="E3EFE7"/>
          </a:solidFill>
          <a:ln w="10160">
            <a:solidFill>
              <a:srgbClr val="1268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02"/>
          <p:cNvSpPr txBox="1"/>
          <p:nvPr/>
        </p:nvSpPr>
        <p:spPr>
          <a:xfrm>
            <a:off x="3001060" y="3044952"/>
            <a:ext cx="1684324" cy="246888"/>
          </a:xfrm>
          <a:prstGeom prst="rect">
            <a:avLst/>
          </a:prstGeom>
          <a:noFill/>
        </p:spPr>
        <p:txBody>
          <a:bodyPr wrap="square" lIns="0" rIns="0" tIns="0" bIns="0">
            <a:noAutofit/>
          </a:bodyPr>
          <a:lstStyle/>
          <a:p>
            <a:pPr algn="l">
              <a:lnSpc>
                <a:spcPct val="116000"/>
              </a:lnSpc>
              <a:spcBef>
                <a:spcPts val="0"/>
              </a:spcBef>
              <a:spcAft>
                <a:spcPts val="0"/>
              </a:spcAft>
            </a:pPr>
            <a:r>
              <a:rPr sz="1200" b="1">
                <a:solidFill>
                  <a:srgbClr val="126858"/>
                </a:solidFill>
                <a:latin typeface="Noto Sans CJK KR"/>
                <a:ea typeface="Noto Sans CJK KR"/>
                <a:latin typeface="Noto Sans CJK KR"/>
              </a:rPr>
              <a:t>02</a:t>
            </a:r>
          </a:p>
        </p:txBody>
      </p:sp>
      <p:sp>
        <p:nvSpPr>
          <p:cNvPr id="19" name="TEXT 허용·인자 검사"/>
          <p:cNvSpPr txBox="1"/>
          <p:nvPr/>
        </p:nvSpPr>
        <p:spPr>
          <a:xfrm>
            <a:off x="3001060" y="3511296"/>
            <a:ext cx="1684324" cy="713232"/>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허용·인자 검사</a:t>
            </a:r>
          </a:p>
        </p:txBody>
      </p:sp>
      <p:sp>
        <p:nvSpPr>
          <p:cNvPr id="20" name="TEXT 프로그램 통제"/>
          <p:cNvSpPr txBox="1"/>
          <p:nvPr/>
        </p:nvSpPr>
        <p:spPr>
          <a:xfrm>
            <a:off x="3001060" y="4261104"/>
            <a:ext cx="1684324" cy="365760"/>
          </a:xfrm>
          <a:prstGeom prst="rect">
            <a:avLst/>
          </a:prstGeom>
          <a:noFill/>
        </p:spPr>
        <p:txBody>
          <a:bodyPr wrap="square" lIns="0" rIns="0" tIns="0" bIns="0">
            <a:noAutofit/>
          </a:bodyPr>
          <a:lstStyle/>
          <a:p>
            <a:pPr algn="l">
              <a:lnSpc>
                <a:spcPct val="116000"/>
              </a:lnSpc>
              <a:spcBef>
                <a:spcPts val="0"/>
              </a:spcBef>
              <a:spcAft>
                <a:spcPts val="0"/>
              </a:spcAft>
            </a:pPr>
            <a:r>
              <a:rPr sz="1600" b="0">
                <a:solidFill>
                  <a:srgbClr val="126858"/>
                </a:solidFill>
                <a:latin typeface="Noto Sans CJK KR"/>
                <a:ea typeface="Noto Sans CJK KR"/>
                <a:latin typeface="Noto Sans CJK KR"/>
              </a:rPr>
              <a:t>프로그램 통제</a:t>
            </a:r>
          </a:p>
        </p:txBody>
      </p:sp>
      <p:cxnSp>
        <p:nvCxnSpPr>
          <p:cNvPr id="21" name="Connector 20"/>
          <p:cNvCxnSpPr/>
          <p:nvPr/>
        </p:nvCxnSpPr>
        <p:spPr>
          <a:xfrm>
            <a:off x="4859121" y="3803904"/>
            <a:ext cx="219456" cy="0"/>
          </a:xfrm>
          <a:prstGeom prst="line">
            <a:avLst/>
          </a:prstGeom>
          <a:ln w="22860">
            <a:solidFill>
              <a:srgbClr val="5E6E66"/>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096865" y="2880360"/>
            <a:ext cx="1995220" cy="1874519"/>
          </a:xfrm>
          <a:prstGeom prst="roundRect">
            <a:avLst>
              <a:gd name="adj" fmla="val 8000"/>
            </a:avLst>
          </a:prstGeom>
          <a:solidFill>
            <a:srgbClr val="F0E9F6"/>
          </a:solidFill>
          <a:ln w="10160">
            <a:solidFill>
              <a:srgbClr val="7155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 03"/>
          <p:cNvSpPr txBox="1"/>
          <p:nvPr/>
        </p:nvSpPr>
        <p:spPr>
          <a:xfrm>
            <a:off x="5252313" y="3044952"/>
            <a:ext cx="1684324" cy="246888"/>
          </a:xfrm>
          <a:prstGeom prst="rect">
            <a:avLst/>
          </a:prstGeom>
          <a:noFill/>
        </p:spPr>
        <p:txBody>
          <a:bodyPr wrap="square" lIns="0" rIns="0" tIns="0" bIns="0">
            <a:noAutofit/>
          </a:bodyPr>
          <a:lstStyle/>
          <a:p>
            <a:pPr algn="l">
              <a:lnSpc>
                <a:spcPct val="116000"/>
              </a:lnSpc>
              <a:spcBef>
                <a:spcPts val="0"/>
              </a:spcBef>
              <a:spcAft>
                <a:spcPts val="0"/>
              </a:spcAft>
            </a:pPr>
            <a:r>
              <a:rPr sz="1200" b="1">
                <a:solidFill>
                  <a:srgbClr val="71559D"/>
                </a:solidFill>
                <a:latin typeface="Noto Sans CJK KR"/>
                <a:ea typeface="Noto Sans CJK KR"/>
                <a:latin typeface="Noto Sans CJK KR"/>
              </a:rPr>
              <a:t>03</a:t>
            </a:r>
          </a:p>
        </p:txBody>
      </p:sp>
      <p:sp>
        <p:nvSpPr>
          <p:cNvPr id="24" name="TEXT Tool 실행"/>
          <p:cNvSpPr txBox="1"/>
          <p:nvPr/>
        </p:nvSpPr>
        <p:spPr>
          <a:xfrm>
            <a:off x="5252313" y="3511296"/>
            <a:ext cx="1684324" cy="713232"/>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71559D"/>
                </a:solidFill>
                <a:latin typeface="Noto Sans CJK KR"/>
                <a:ea typeface="Noto Sans CJK KR"/>
                <a:latin typeface="Noto Sans CJK KR"/>
              </a:rPr>
              <a:t>Tool 실행</a:t>
            </a:r>
          </a:p>
        </p:txBody>
      </p:sp>
      <p:sp>
        <p:nvSpPr>
          <p:cNvPr id="25" name="TEXT 외부 조회"/>
          <p:cNvSpPr txBox="1"/>
          <p:nvPr/>
        </p:nvSpPr>
        <p:spPr>
          <a:xfrm>
            <a:off x="5252313" y="4261104"/>
            <a:ext cx="1684324" cy="365760"/>
          </a:xfrm>
          <a:prstGeom prst="rect">
            <a:avLst/>
          </a:prstGeom>
          <a:noFill/>
        </p:spPr>
        <p:txBody>
          <a:bodyPr wrap="square" lIns="0" rIns="0" tIns="0" bIns="0">
            <a:noAutofit/>
          </a:bodyPr>
          <a:lstStyle/>
          <a:p>
            <a:pPr algn="l">
              <a:lnSpc>
                <a:spcPct val="116000"/>
              </a:lnSpc>
              <a:spcBef>
                <a:spcPts val="0"/>
              </a:spcBef>
              <a:spcAft>
                <a:spcPts val="0"/>
              </a:spcAft>
            </a:pPr>
            <a:r>
              <a:rPr sz="1600" b="0">
                <a:solidFill>
                  <a:srgbClr val="71559D"/>
                </a:solidFill>
                <a:latin typeface="Noto Sans CJK KR"/>
                <a:ea typeface="Noto Sans CJK KR"/>
                <a:latin typeface="Noto Sans CJK KR"/>
              </a:rPr>
              <a:t>외부 조회</a:t>
            </a:r>
          </a:p>
        </p:txBody>
      </p:sp>
      <p:cxnSp>
        <p:nvCxnSpPr>
          <p:cNvPr id="26" name="Connector 25"/>
          <p:cNvCxnSpPr/>
          <p:nvPr/>
        </p:nvCxnSpPr>
        <p:spPr>
          <a:xfrm>
            <a:off x="7110374" y="3803904"/>
            <a:ext cx="219456" cy="0"/>
          </a:xfrm>
          <a:prstGeom prst="line">
            <a:avLst/>
          </a:prstGeom>
          <a:ln w="22860">
            <a:solidFill>
              <a:srgbClr val="5E6E66"/>
            </a:solidFill>
            <a:tailEnd type="triangle"/>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7348118" y="2880360"/>
            <a:ext cx="1995220" cy="1874519"/>
          </a:xfrm>
          <a:prstGeom prst="roundRect">
            <a:avLst>
              <a:gd name="adj" fmla="val 8000"/>
            </a:avLst>
          </a:prstGeom>
          <a:solidFill>
            <a:srgbClr val="E3EFE7"/>
          </a:solidFill>
          <a:ln w="10160">
            <a:solidFill>
              <a:srgbClr val="1268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 04"/>
          <p:cNvSpPr txBox="1"/>
          <p:nvPr/>
        </p:nvSpPr>
        <p:spPr>
          <a:xfrm>
            <a:off x="7503566" y="3044952"/>
            <a:ext cx="1684324" cy="246888"/>
          </a:xfrm>
          <a:prstGeom prst="rect">
            <a:avLst/>
          </a:prstGeom>
          <a:noFill/>
        </p:spPr>
        <p:txBody>
          <a:bodyPr wrap="square" lIns="0" rIns="0" tIns="0" bIns="0">
            <a:noAutofit/>
          </a:bodyPr>
          <a:lstStyle/>
          <a:p>
            <a:pPr algn="l">
              <a:lnSpc>
                <a:spcPct val="116000"/>
              </a:lnSpc>
              <a:spcBef>
                <a:spcPts val="0"/>
              </a:spcBef>
              <a:spcAft>
                <a:spcPts val="0"/>
              </a:spcAft>
            </a:pPr>
            <a:r>
              <a:rPr sz="1200" b="1">
                <a:solidFill>
                  <a:srgbClr val="126858"/>
                </a:solidFill>
                <a:latin typeface="Noto Sans CJK KR"/>
                <a:ea typeface="Noto Sans CJK KR"/>
                <a:latin typeface="Noto Sans CJK KR"/>
              </a:rPr>
              <a:t>04</a:t>
            </a:r>
          </a:p>
        </p:txBody>
      </p:sp>
      <p:sp>
        <p:nvSpPr>
          <p:cNvPr id="29" name="TEXT ToolMessage"/>
          <p:cNvSpPr txBox="1"/>
          <p:nvPr/>
        </p:nvSpPr>
        <p:spPr>
          <a:xfrm>
            <a:off x="7503566" y="3511296"/>
            <a:ext cx="1684324" cy="713232"/>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ToolMessage</a:t>
            </a:r>
          </a:p>
        </p:txBody>
      </p:sp>
      <p:sp>
        <p:nvSpPr>
          <p:cNvPr id="30" name="TEXT call ID 연결"/>
          <p:cNvSpPr txBox="1"/>
          <p:nvPr/>
        </p:nvSpPr>
        <p:spPr>
          <a:xfrm>
            <a:off x="7503566" y="4261104"/>
            <a:ext cx="1684324" cy="365760"/>
          </a:xfrm>
          <a:prstGeom prst="rect">
            <a:avLst/>
          </a:prstGeom>
          <a:noFill/>
        </p:spPr>
        <p:txBody>
          <a:bodyPr wrap="square" lIns="0" rIns="0" tIns="0" bIns="0">
            <a:noAutofit/>
          </a:bodyPr>
          <a:lstStyle/>
          <a:p>
            <a:pPr algn="l">
              <a:lnSpc>
                <a:spcPct val="116000"/>
              </a:lnSpc>
              <a:spcBef>
                <a:spcPts val="0"/>
              </a:spcBef>
              <a:spcAft>
                <a:spcPts val="0"/>
              </a:spcAft>
            </a:pPr>
            <a:r>
              <a:rPr sz="1600" b="0">
                <a:solidFill>
                  <a:srgbClr val="126858"/>
                </a:solidFill>
                <a:latin typeface="Noto Sans CJK KR"/>
                <a:ea typeface="Noto Sans CJK KR"/>
                <a:latin typeface="Noto Sans CJK KR"/>
              </a:rPr>
              <a:t>call ID 연결</a:t>
            </a:r>
          </a:p>
        </p:txBody>
      </p:sp>
      <p:cxnSp>
        <p:nvCxnSpPr>
          <p:cNvPr id="31" name="Connector 30"/>
          <p:cNvCxnSpPr/>
          <p:nvPr/>
        </p:nvCxnSpPr>
        <p:spPr>
          <a:xfrm>
            <a:off x="9361627" y="3803904"/>
            <a:ext cx="219456" cy="0"/>
          </a:xfrm>
          <a:prstGeom prst="line">
            <a:avLst/>
          </a:prstGeom>
          <a:ln w="22860">
            <a:solidFill>
              <a:srgbClr val="5E6E66"/>
            </a:solidFill>
            <a:tailEnd type="triangle"/>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9599371" y="2880360"/>
            <a:ext cx="1995220" cy="1874519"/>
          </a:xfrm>
          <a:prstGeom prst="roundRect">
            <a:avLst>
              <a:gd name="adj" fmla="val 8000"/>
            </a:avLst>
          </a:prstGeom>
          <a:solidFill>
            <a:srgbClr val="E7EDFB"/>
          </a:solidFill>
          <a:ln w="10160">
            <a:solidFill>
              <a:srgbClr val="345C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 05"/>
          <p:cNvSpPr txBox="1"/>
          <p:nvPr/>
        </p:nvSpPr>
        <p:spPr>
          <a:xfrm>
            <a:off x="9754819" y="3044952"/>
            <a:ext cx="1684324" cy="246888"/>
          </a:xfrm>
          <a:prstGeom prst="rect">
            <a:avLst/>
          </a:prstGeom>
          <a:noFill/>
        </p:spPr>
        <p:txBody>
          <a:bodyPr wrap="square" lIns="0" rIns="0" tIns="0" bIns="0">
            <a:noAutofit/>
          </a:bodyPr>
          <a:lstStyle/>
          <a:p>
            <a:pPr algn="l">
              <a:lnSpc>
                <a:spcPct val="116000"/>
              </a:lnSpc>
              <a:spcBef>
                <a:spcPts val="0"/>
              </a:spcBef>
              <a:spcAft>
                <a:spcPts val="0"/>
              </a:spcAft>
            </a:pPr>
            <a:r>
              <a:rPr sz="1200" b="1">
                <a:solidFill>
                  <a:srgbClr val="345CB5"/>
                </a:solidFill>
                <a:latin typeface="Noto Sans CJK KR"/>
                <a:ea typeface="Noto Sans CJK KR"/>
                <a:latin typeface="Noto Sans CJK KR"/>
              </a:rPr>
              <a:t>05</a:t>
            </a:r>
          </a:p>
        </p:txBody>
      </p:sp>
      <p:sp>
        <p:nvSpPr>
          <p:cNvPr id="34" name="TEXT 최종 응답"/>
          <p:cNvSpPr txBox="1"/>
          <p:nvPr/>
        </p:nvSpPr>
        <p:spPr>
          <a:xfrm>
            <a:off x="9754819" y="3511296"/>
            <a:ext cx="1684324" cy="713232"/>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345CB5"/>
                </a:solidFill>
                <a:latin typeface="Noto Sans CJK KR"/>
                <a:ea typeface="Noto Sans CJK KR"/>
                <a:latin typeface="Noto Sans CJK KR"/>
              </a:rPr>
              <a:t>최종 응답</a:t>
            </a:r>
          </a:p>
        </p:txBody>
      </p:sp>
      <p:sp>
        <p:nvSpPr>
          <p:cNvPr id="35" name="TEXT 구조화 결과"/>
          <p:cNvSpPr txBox="1"/>
          <p:nvPr/>
        </p:nvSpPr>
        <p:spPr>
          <a:xfrm>
            <a:off x="9754819" y="4261104"/>
            <a:ext cx="1684324" cy="365760"/>
          </a:xfrm>
          <a:prstGeom prst="rect">
            <a:avLst/>
          </a:prstGeom>
          <a:noFill/>
        </p:spPr>
        <p:txBody>
          <a:bodyPr wrap="square" lIns="0" rIns="0" tIns="0" bIns="0">
            <a:noAutofit/>
          </a:bodyPr>
          <a:lstStyle/>
          <a:p>
            <a:pPr algn="l">
              <a:lnSpc>
                <a:spcPct val="116000"/>
              </a:lnSpc>
              <a:spcBef>
                <a:spcPts val="0"/>
              </a:spcBef>
              <a:spcAft>
                <a:spcPts val="0"/>
              </a:spcAft>
            </a:pPr>
            <a:r>
              <a:rPr sz="1600" b="0">
                <a:solidFill>
                  <a:srgbClr val="345CB5"/>
                </a:solidFill>
                <a:latin typeface="Noto Sans CJK KR"/>
                <a:ea typeface="Noto Sans CJK KR"/>
                <a:latin typeface="Noto Sans CJK KR"/>
              </a:rPr>
              <a:t>구조화 결과</a:t>
            </a:r>
          </a:p>
        </p:txBody>
      </p:sp>
      <p:sp>
        <p:nvSpPr>
          <p:cNvPr id="36" name="TEXT 실행 전 권한 검사 / 실행 후 Schema·근거 검사"/>
          <p:cNvSpPr txBox="1"/>
          <p:nvPr/>
        </p:nvSpPr>
        <p:spPr>
          <a:xfrm>
            <a:off x="731520" y="5266944"/>
            <a:ext cx="10789920" cy="685800"/>
          </a:xfrm>
          <a:prstGeom prst="rect">
            <a:avLst/>
          </a:prstGeom>
          <a:noFill/>
        </p:spPr>
        <p:txBody>
          <a:bodyPr wrap="square" lIns="0" rIns="0" tIns="0" bIns="0">
            <a:noAutofit/>
          </a:bodyPr>
          <a:lstStyle/>
          <a:p>
            <a:pPr algn="l">
              <a:lnSpc>
                <a:spcPct val="116000"/>
              </a:lnSpc>
              <a:spcBef>
                <a:spcPts val="0"/>
              </a:spcBef>
              <a:spcAft>
                <a:spcPts val="0"/>
              </a:spcAft>
            </a:pPr>
            <a:r>
              <a:rPr sz="2100" b="1">
                <a:solidFill>
                  <a:srgbClr val="126858"/>
                </a:solidFill>
                <a:latin typeface="Noto Sans CJK KR"/>
                <a:ea typeface="Noto Sans CJK KR"/>
                <a:latin typeface="Noto Sans CJK KR"/>
              </a:rPr>
              <a:t>실행 전 권한 검사 / 실행 후 Schema·근거 검사</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1  /  원리와 실행 구조"/>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1  /  원리와 실행 구조</a:t>
            </a:r>
          </a:p>
        </p:txBody>
      </p:sp>
      <p:sp>
        <p:nvSpPr>
          <p:cNvPr id="3" name="TEXT 구조화된 Agent 결과"/>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구조화된 Agent 결과</a:t>
            </a:r>
          </a:p>
        </p:txBody>
      </p:sp>
      <p:sp>
        <p:nvSpPr>
          <p:cNvPr id="4" name="TEXT Schema는 결과를 다루기 쉽게 만들지만 사실을 보증하지 않는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Schema는 결과를 다루기 쉽게 만들지만 사실을 보증하지 않는다.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03"/>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C03</a:t>
            </a:r>
          </a:p>
        </p:txBody>
      </p:sp>
      <p:sp>
        <p:nvSpPr>
          <p:cNvPr id="8" name="TEXT 10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10 / 72</a:t>
            </a:r>
          </a:p>
        </p:txBody>
      </p:sp>
      <p:sp>
        <p:nvSpPr>
          <p:cNvPr id="9" name="TEXT 심화 A03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A03 →</a:t>
            </a:r>
          </a:p>
        </p:txBody>
      </p:sp>
      <p:sp>
        <p:nvSpPr>
          <p:cNvPr id="10" name="Rounded Rectangle 9"/>
          <p:cNvSpPr/>
          <p:nvPr/>
        </p:nvSpPr>
        <p:spPr>
          <a:xfrm>
            <a:off x="594360" y="2578608"/>
            <a:ext cx="7406640" cy="3584448"/>
          </a:xfrm>
          <a:prstGeom prst="roundRect">
            <a:avLst>
              <a:gd name="adj" fmla="val 8000"/>
            </a:avLst>
          </a:prstGeom>
          <a:solidFill>
            <a:srgbClr val="1636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from pydantic import BaseModel, Field&#10;&#10;class "/>
          <p:cNvSpPr txBox="1"/>
          <p:nvPr/>
        </p:nvSpPr>
        <p:spPr>
          <a:xfrm>
            <a:off x="822960" y="2779776"/>
            <a:ext cx="6949440" cy="3172968"/>
          </a:xfrm>
          <a:prstGeom prst="rect">
            <a:avLst/>
          </a:prstGeom>
          <a:noFill/>
        </p:spPr>
        <p:txBody>
          <a:bodyPr wrap="square" lIns="0" rIns="0" tIns="0" bIns="0">
            <a:noAutofit/>
          </a:bodyPr>
          <a:lstStyle/>
          <a:p>
            <a:pPr algn="l">
              <a:lnSpc>
                <a:spcPct val="116000"/>
              </a:lnSpc>
              <a:spcBef>
                <a:spcPts val="0"/>
              </a:spcBef>
              <a:spcAft>
                <a:spcPts val="0"/>
              </a:spcAft>
            </a:pPr>
            <a:r>
              <a:rPr sz="1800" b="0">
                <a:solidFill>
                  <a:srgbClr val="FFFFFF"/>
                </a:solidFill>
                <a:latin typeface="DejaVu Sans Mono"/>
                <a:ea typeface="DejaVu Sans Mono"/>
                <a:latin typeface="DejaVu Sans Mono"/>
              </a:rPr>
              <a:t>from pydantic import BaseModel, Field</a:t>
            </a:r>
          </a:p>
          <a:p>
            <a:pPr algn="l">
              <a:lnSpc>
                <a:spcPct val="116000"/>
              </a:lnSpc>
              <a:spcBef>
                <a:spcPts val="0"/>
              </a:spcBef>
              <a:spcAft>
                <a:spcPts val="0"/>
              </a:spcAft>
            </a:pPr>
            <a:r>
              <a:rPr sz="1800" b="0">
                <a:solidFill>
                  <a:srgbClr val="FFFFFF"/>
                </a:solidFill>
                <a:latin typeface="DejaVu Sans Mono"/>
                <a:ea typeface="DejaVu Sans Mono"/>
                <a:latin typeface="DejaVu Sans Mono"/>
              </a:rPr>
              <a:t/>
            </a:r>
          </a:p>
          <a:p>
            <a:pPr algn="l">
              <a:lnSpc>
                <a:spcPct val="116000"/>
              </a:lnSpc>
              <a:spcBef>
                <a:spcPts val="0"/>
              </a:spcBef>
              <a:spcAft>
                <a:spcPts val="0"/>
              </a:spcAft>
            </a:pPr>
            <a:r>
              <a:rPr sz="1800" b="0">
                <a:solidFill>
                  <a:srgbClr val="FFFFFF"/>
                </a:solidFill>
                <a:latin typeface="DejaVu Sans Mono"/>
                <a:ea typeface="DejaVu Sans Mono"/>
                <a:latin typeface="DejaVu Sans Mono"/>
              </a:rPr>
              <a:t>class Finding(BaseModel):</a:t>
            </a:r>
          </a:p>
          <a:p>
            <a:pPr algn="l">
              <a:lnSpc>
                <a:spcPct val="116000"/>
              </a:lnSpc>
              <a:spcBef>
                <a:spcPts val="0"/>
              </a:spcBef>
              <a:spcAft>
                <a:spcPts val="0"/>
              </a:spcAft>
            </a:pPr>
            <a:r>
              <a:rPr sz="1800" b="0">
                <a:solidFill>
                  <a:srgbClr val="FFFFFF"/>
                </a:solidFill>
                <a:latin typeface="DejaVu Sans Mono"/>
                <a:ea typeface="DejaVu Sans Mono"/>
                <a:latin typeface="DejaVu Sans Mono"/>
              </a:rPr>
              <a:t>    service: str</a:t>
            </a:r>
          </a:p>
          <a:p>
            <a:pPr algn="l">
              <a:lnSpc>
                <a:spcPct val="116000"/>
              </a:lnSpc>
              <a:spcBef>
                <a:spcPts val="0"/>
              </a:spcBef>
              <a:spcAft>
                <a:spcPts val="0"/>
              </a:spcAft>
            </a:pPr>
            <a:r>
              <a:rPr sz="1800" b="0">
                <a:solidFill>
                  <a:srgbClr val="FFFFFF"/>
                </a:solidFill>
                <a:latin typeface="DejaVu Sans Mono"/>
                <a:ea typeface="DejaVu Sans Mono"/>
                <a:latin typeface="DejaVu Sans Mono"/>
              </a:rPr>
              <a:t>    source_ids: list[str]</a:t>
            </a:r>
          </a:p>
          <a:p>
            <a:pPr algn="l">
              <a:lnSpc>
                <a:spcPct val="116000"/>
              </a:lnSpc>
              <a:spcBef>
                <a:spcPts val="0"/>
              </a:spcBef>
              <a:spcAft>
                <a:spcPts val="0"/>
              </a:spcAft>
            </a:pPr>
            <a:r>
              <a:rPr sz="1800" b="0">
                <a:solidFill>
                  <a:srgbClr val="FFFFFF"/>
                </a:solidFill>
                <a:latin typeface="DejaVu Sans Mono"/>
                <a:ea typeface="DejaVu Sans Mono"/>
                <a:latin typeface="DejaVu Sans Mono"/>
              </a:rPr>
              <a:t>    summary: str = Field(min_length=1)</a:t>
            </a:r>
          </a:p>
          <a:p>
            <a:pPr algn="l">
              <a:lnSpc>
                <a:spcPct val="116000"/>
              </a:lnSpc>
              <a:spcBef>
                <a:spcPts val="0"/>
              </a:spcBef>
              <a:spcAft>
                <a:spcPts val="0"/>
              </a:spcAft>
            </a:pPr>
            <a:r>
              <a:rPr sz="1800" b="0">
                <a:solidFill>
                  <a:srgbClr val="FFFFFF"/>
                </a:solidFill>
                <a:latin typeface="DejaVu Sans Mono"/>
                <a:ea typeface="DejaVu Sans Mono"/>
                <a:latin typeface="DejaVu Sans Mono"/>
              </a:rPr>
              <a:t/>
            </a:r>
          </a:p>
          <a:p>
            <a:pPr algn="l">
              <a:lnSpc>
                <a:spcPct val="116000"/>
              </a:lnSpc>
              <a:spcBef>
                <a:spcPts val="0"/>
              </a:spcBef>
              <a:spcAft>
                <a:spcPts val="0"/>
              </a:spcAft>
            </a:pPr>
            <a:r>
              <a:rPr sz="1800" b="0">
                <a:solidFill>
                  <a:srgbClr val="FFFFFF"/>
                </a:solidFill>
                <a:latin typeface="DejaVu Sans Mono"/>
                <a:ea typeface="DejaVu Sans Mono"/>
                <a:latin typeface="DejaVu Sans Mono"/>
              </a:rPr>
              <a:t>result = Finding.model_validate(payload)</a:t>
            </a:r>
          </a:p>
        </p:txBody>
      </p:sp>
      <p:sp>
        <p:nvSpPr>
          <p:cNvPr id="12" name="Rounded Rectangle 11"/>
          <p:cNvSpPr/>
          <p:nvPr/>
        </p:nvSpPr>
        <p:spPr>
          <a:xfrm>
            <a:off x="8229600" y="2587752"/>
            <a:ext cx="3364992" cy="1700784"/>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2587752"/>
            <a:ext cx="54864" cy="1700784"/>
          </a:xfrm>
          <a:prstGeom prst="rect">
            <a:avLst/>
          </a:prstGeom>
          <a:solidFill>
            <a:srgbClr val="126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형식 계약"/>
          <p:cNvSpPr txBox="1"/>
          <p:nvPr/>
        </p:nvSpPr>
        <p:spPr>
          <a:xfrm>
            <a:off x="8430768" y="2770632"/>
            <a:ext cx="296265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형식 계약</a:t>
            </a:r>
          </a:p>
        </p:txBody>
      </p:sp>
      <p:sp>
        <p:nvSpPr>
          <p:cNvPr id="15" name="TEXT 필드·타입·값 제약"/>
          <p:cNvSpPr txBox="1"/>
          <p:nvPr/>
        </p:nvSpPr>
        <p:spPr>
          <a:xfrm>
            <a:off x="8430768" y="3456432"/>
            <a:ext cx="2962656" cy="694944"/>
          </a:xfrm>
          <a:prstGeom prst="rect">
            <a:avLst/>
          </a:prstGeom>
          <a:noFill/>
        </p:spPr>
        <p:txBody>
          <a:bodyPr wrap="square" lIns="0" rIns="0" tIns="0" bIns="0">
            <a:noAutofit/>
          </a:bodyPr>
          <a:lstStyle/>
          <a:p>
            <a:pPr algn="l">
              <a:lnSpc>
                <a:spcPct val="116000"/>
              </a:lnSpc>
              <a:spcBef>
                <a:spcPts val="0"/>
              </a:spcBef>
              <a:spcAft>
                <a:spcPts val="0"/>
              </a:spcAft>
            </a:pPr>
            <a:r>
              <a:rPr sz="2000" b="0">
                <a:solidFill>
                  <a:srgbClr val="172B2A"/>
                </a:solidFill>
                <a:latin typeface="Noto Sans CJK KR"/>
                <a:ea typeface="Noto Sans CJK KR"/>
                <a:latin typeface="Noto Sans CJK KR"/>
              </a:rPr>
              <a:t>필드·타입·값 제약</a:t>
            </a:r>
          </a:p>
        </p:txBody>
      </p:sp>
      <p:sp>
        <p:nvSpPr>
          <p:cNvPr id="16" name="Rounded Rectangle 15"/>
          <p:cNvSpPr/>
          <p:nvPr/>
        </p:nvSpPr>
        <p:spPr>
          <a:xfrm>
            <a:off x="8229600" y="4443983"/>
            <a:ext cx="3364992" cy="1700784"/>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0" y="4443983"/>
            <a:ext cx="54864" cy="1700784"/>
          </a:xfrm>
          <a:prstGeom prst="rect">
            <a:avLst/>
          </a:prstGeom>
          <a:solidFill>
            <a:srgbClr val="AD5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별도 검증"/>
          <p:cNvSpPr txBox="1"/>
          <p:nvPr/>
        </p:nvSpPr>
        <p:spPr>
          <a:xfrm>
            <a:off x="8430768" y="4626864"/>
            <a:ext cx="296265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AD572B"/>
                </a:solidFill>
                <a:latin typeface="Noto Sans CJK KR"/>
                <a:ea typeface="Noto Sans CJK KR"/>
                <a:latin typeface="Noto Sans CJK KR"/>
              </a:rPr>
              <a:t>별도 검증</a:t>
            </a:r>
          </a:p>
        </p:txBody>
      </p:sp>
      <p:sp>
        <p:nvSpPr>
          <p:cNvPr id="19" name="TEXT 출처·적용 범위·실행 권한"/>
          <p:cNvSpPr txBox="1"/>
          <p:nvPr/>
        </p:nvSpPr>
        <p:spPr>
          <a:xfrm>
            <a:off x="8430768" y="5312664"/>
            <a:ext cx="2962656" cy="694944"/>
          </a:xfrm>
          <a:prstGeom prst="rect">
            <a:avLst/>
          </a:prstGeom>
          <a:noFill/>
        </p:spPr>
        <p:txBody>
          <a:bodyPr wrap="square" lIns="0" rIns="0" tIns="0" bIns="0">
            <a:noAutofit/>
          </a:bodyPr>
          <a:lstStyle/>
          <a:p>
            <a:pPr algn="l">
              <a:lnSpc>
                <a:spcPct val="116000"/>
              </a:lnSpc>
              <a:spcBef>
                <a:spcPts val="0"/>
              </a:spcBef>
              <a:spcAft>
                <a:spcPts val="0"/>
              </a:spcAft>
            </a:pPr>
            <a:r>
              <a:rPr sz="2000" b="0">
                <a:solidFill>
                  <a:srgbClr val="172B2A"/>
                </a:solidFill>
                <a:latin typeface="Noto Sans CJK KR"/>
                <a:ea typeface="Noto Sans CJK KR"/>
                <a:latin typeface="Noto Sans CJK KR"/>
              </a:rPr>
              <a:t>출처·적용 범위·실행 권한</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1  /  원리와 실행 구조"/>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1  /  원리와 실행 구조</a:t>
            </a:r>
          </a:p>
        </p:txBody>
      </p:sp>
      <p:sp>
        <p:nvSpPr>
          <p:cNvPr id="3" name="TEXT 형식 검증과 사실 검증"/>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형식 검증과 사실 검증</a:t>
            </a:r>
          </a:p>
        </p:txBody>
      </p:sp>
      <p:sp>
        <p:nvSpPr>
          <p:cNvPr id="4" name="TEXT 올바른 JSON 안에도 허위 근거가 들어갈 수 있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올바른 JSON 안에도 허위 근거가 들어갈 수 있다.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03"/>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C03</a:t>
            </a:r>
          </a:p>
        </p:txBody>
      </p:sp>
      <p:sp>
        <p:nvSpPr>
          <p:cNvPr id="8" name="TEXT 11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11 / 72</a:t>
            </a:r>
          </a:p>
        </p:txBody>
      </p:sp>
      <p:sp>
        <p:nvSpPr>
          <p:cNvPr id="9" name="TEXT 심화 A06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A06 →</a:t>
            </a:r>
          </a:p>
        </p:txBody>
      </p:sp>
      <p:sp>
        <p:nvSpPr>
          <p:cNvPr id="10" name="Rounded Rectangle 9"/>
          <p:cNvSpPr/>
          <p:nvPr/>
        </p:nvSpPr>
        <p:spPr>
          <a:xfrm>
            <a:off x="594360" y="2606040"/>
            <a:ext cx="5376672" cy="3364992"/>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2606040"/>
            <a:ext cx="54864" cy="3364992"/>
          </a:xfrm>
          <a:prstGeom prst="rect">
            <a:avLst/>
          </a:prstGeom>
          <a:solidFill>
            <a:srgbClr val="126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형식 검증 통과"/>
          <p:cNvSpPr txBox="1"/>
          <p:nvPr/>
        </p:nvSpPr>
        <p:spPr>
          <a:xfrm>
            <a:off x="795528" y="2788920"/>
            <a:ext cx="497433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형식 검증 통과</a:t>
            </a:r>
          </a:p>
        </p:txBody>
      </p:sp>
      <p:sp>
        <p:nvSpPr>
          <p:cNvPr id="13" name="TEXT "/>
          <p:cNvSpPr txBox="1"/>
          <p:nvPr/>
        </p:nvSpPr>
        <p:spPr>
          <a:xfrm>
            <a:off x="795528" y="3474720"/>
            <a:ext cx="4974336" cy="2359152"/>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a:r>
          </a:p>
        </p:txBody>
      </p:sp>
      <p:sp>
        <p:nvSpPr>
          <p:cNvPr id="14" name="TEXT • service: checkout-api"/>
          <p:cNvSpPr txBox="1"/>
          <p:nvPr/>
        </p:nvSpPr>
        <p:spPr>
          <a:xfrm>
            <a:off x="822960" y="3511296"/>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service: checkout-api</a:t>
            </a:r>
          </a:p>
        </p:txBody>
      </p:sp>
      <p:sp>
        <p:nvSpPr>
          <p:cNvPr id="15" name="TEXT • source_ids: [invented-9]"/>
          <p:cNvSpPr txBox="1"/>
          <p:nvPr/>
        </p:nvSpPr>
        <p:spPr>
          <a:xfrm>
            <a:off x="822960" y="4206240"/>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source_ids: [invented-9]</a:t>
            </a:r>
          </a:p>
        </p:txBody>
      </p:sp>
      <p:sp>
        <p:nvSpPr>
          <p:cNvPr id="16" name="TEXT • summary: 문장 형태는 정상"/>
          <p:cNvSpPr txBox="1"/>
          <p:nvPr/>
        </p:nvSpPr>
        <p:spPr>
          <a:xfrm>
            <a:off x="822960" y="4901183"/>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summary: 문장 형태는 정상</a:t>
            </a:r>
          </a:p>
        </p:txBody>
      </p:sp>
      <p:sp>
        <p:nvSpPr>
          <p:cNvPr id="17" name="Rounded Rectangle 16"/>
          <p:cNvSpPr/>
          <p:nvPr/>
        </p:nvSpPr>
        <p:spPr>
          <a:xfrm>
            <a:off x="6217920" y="2606040"/>
            <a:ext cx="5376672" cy="3364992"/>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2606040"/>
            <a:ext cx="54864" cy="3364992"/>
          </a:xfrm>
          <a:prstGeom prst="rect">
            <a:avLst/>
          </a:prstGeom>
          <a:solidFill>
            <a:srgbClr val="AD5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근거 검증 실패"/>
          <p:cNvSpPr txBox="1"/>
          <p:nvPr/>
        </p:nvSpPr>
        <p:spPr>
          <a:xfrm>
            <a:off x="6419088" y="2788920"/>
            <a:ext cx="497433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AD572B"/>
                </a:solidFill>
                <a:latin typeface="Noto Sans CJK KR"/>
                <a:ea typeface="Noto Sans CJK KR"/>
                <a:latin typeface="Noto Sans CJK KR"/>
              </a:rPr>
              <a:t>근거 검증 실패</a:t>
            </a:r>
          </a:p>
        </p:txBody>
      </p:sp>
      <p:sp>
        <p:nvSpPr>
          <p:cNvPr id="20" name="TEXT "/>
          <p:cNvSpPr txBox="1"/>
          <p:nvPr/>
        </p:nvSpPr>
        <p:spPr>
          <a:xfrm>
            <a:off x="6419088" y="3474720"/>
            <a:ext cx="4974336" cy="2359152"/>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a:r>
          </a:p>
        </p:txBody>
      </p:sp>
      <p:sp>
        <p:nvSpPr>
          <p:cNvPr id="21" name="TEXT • 실제 반환: metric-7"/>
          <p:cNvSpPr txBox="1"/>
          <p:nvPr/>
        </p:nvSpPr>
        <p:spPr>
          <a:xfrm>
            <a:off x="6446520" y="3511296"/>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실제 반환: metric-7</a:t>
            </a:r>
          </a:p>
        </p:txBody>
      </p:sp>
      <p:sp>
        <p:nvSpPr>
          <p:cNvPr id="22" name="TEXT • invented-9는 관측되지 않음"/>
          <p:cNvSpPr txBox="1"/>
          <p:nvPr/>
        </p:nvSpPr>
        <p:spPr>
          <a:xfrm>
            <a:off x="6446520" y="4206240"/>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invented-9는 관측되지 않음</a:t>
            </a:r>
          </a:p>
        </p:txBody>
      </p:sp>
      <p:sp>
        <p:nvSpPr>
          <p:cNvPr id="23" name="TEXT • Gate 차단·보고서에서 구분"/>
          <p:cNvSpPr txBox="1"/>
          <p:nvPr/>
        </p:nvSpPr>
        <p:spPr>
          <a:xfrm>
            <a:off x="6446520" y="4901183"/>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Gate 차단·보고서에서 구분</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1  /  원리와 실행 구조"/>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1  /  원리와 실행 구조</a:t>
            </a:r>
          </a:p>
        </p:txBody>
      </p:sp>
      <p:sp>
        <p:nvSpPr>
          <p:cNvPr id="3" name="Rounded Rectangle 2"/>
          <p:cNvSpPr/>
          <p:nvPr/>
        </p:nvSpPr>
        <p:spPr>
          <a:xfrm>
            <a:off x="10195560" y="173736"/>
            <a:ext cx="1399032" cy="329184"/>
          </a:xfrm>
          <a:prstGeom prst="roundRect">
            <a:avLst>
              <a:gd name="adj" fmla="val 8000"/>
            </a:avLst>
          </a:prstGeom>
          <a:solidFill>
            <a:srgbClr val="E3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60분 경로"/>
          <p:cNvSpPr txBox="1"/>
          <p:nvPr/>
        </p:nvSpPr>
        <p:spPr>
          <a:xfrm>
            <a:off x="10241280" y="214884"/>
            <a:ext cx="1307592" cy="182880"/>
          </a:xfrm>
          <a:prstGeom prst="rect">
            <a:avLst/>
          </a:prstGeom>
          <a:noFill/>
        </p:spPr>
        <p:txBody>
          <a:bodyPr wrap="square" lIns="0" rIns="0" tIns="0" bIns="0">
            <a:noAutofit/>
          </a:bodyPr>
          <a:lstStyle/>
          <a:p>
            <a:pPr algn="ctr">
              <a:lnSpc>
                <a:spcPct val="116000"/>
              </a:lnSpc>
              <a:spcBef>
                <a:spcPts val="0"/>
              </a:spcBef>
              <a:spcAft>
                <a:spcPts val="0"/>
              </a:spcAft>
            </a:pPr>
            <a:r>
              <a:rPr sz="1000" b="1">
                <a:solidFill>
                  <a:srgbClr val="126858"/>
                </a:solidFill>
                <a:latin typeface="Noto Sans CJK KR"/>
                <a:ea typeface="Noto Sans CJK KR"/>
                <a:latin typeface="Noto Sans CJK KR"/>
              </a:rPr>
              <a:t>60분 경로</a:t>
            </a:r>
          </a:p>
        </p:txBody>
      </p:sp>
      <p:sp>
        <p:nvSpPr>
          <p:cNvPr id="5" name="TEXT 업무 State"/>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업무 State</a:t>
            </a:r>
          </a:p>
        </p:txBody>
      </p:sp>
      <p:sp>
        <p:nvSpPr>
          <p:cNvPr id="6" name="TEXT 후속 단계의 결정과 재개에 필요한 정보를 명시적으로 저장한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후속 단계의 결정과 재개에 필요한 정보를 명시적으로 저장한다.</a:t>
            </a:r>
          </a:p>
        </p:txBody>
      </p:sp>
      <p:cxnSp>
        <p:nvCxnSpPr>
          <p:cNvPr id="7" name="Connector 6"/>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9" name="TEXT AI AGENT FIELDNOTES  /  C04"/>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C04</a:t>
            </a:r>
          </a:p>
        </p:txBody>
      </p:sp>
      <p:sp>
        <p:nvSpPr>
          <p:cNvPr id="10" name="TEXT 12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12 / 72</a:t>
            </a:r>
          </a:p>
        </p:txBody>
      </p:sp>
      <p:sp>
        <p:nvSpPr>
          <p:cNvPr id="11" name="TEXT 심화 A04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A04 →</a:t>
            </a:r>
          </a:p>
        </p:txBody>
      </p:sp>
      <p:graphicFrame>
        <p:nvGraphicFramePr>
          <p:cNvPr id="12" name="Table 11"/>
          <p:cNvGraphicFramePr>
            <a:graphicFrameLocks noGrp="1"/>
          </p:cNvGraphicFramePr>
          <p:nvPr/>
        </p:nvGraphicFramePr>
        <p:xfrm>
          <a:off x="594360" y="2587752"/>
          <a:ext cx="11000231" cy="3557016"/>
        </p:xfrm>
        <a:graphic>
          <a:graphicData uri="http://schemas.openxmlformats.org/drawingml/2006/table">
            <a:tbl>
              <a:tblPr firstRow="1" bandRow="1">
                <a:tableStyleId>{5C22544A-7EE6-4342-B048-85BDC9FD1C3A}</a:tableStyleId>
              </a:tblPr>
              <a:tblGrid>
                <a:gridCol w="2750058"/>
                <a:gridCol w="4290090"/>
                <a:gridCol w="3960083"/>
              </a:tblGrid>
              <a:tr h="484632">
                <a:tc>
                  <a:txBody>
                    <a:bodyPr/>
                    <a:lstStyle/>
                    <a:p>
                      <a:pPr>
                        <a:lnSpc>
                          <a:spcPct val="113000"/>
                        </a:lnSpc>
                        <a:spcAft>
                          <a:spcPts val="0"/>
                        </a:spcAft>
                      </a:pPr>
                      <a:r>
                        <a:rPr sz="1800" b="1">
                          <a:solidFill>
                            <a:srgbClr val="126858"/>
                          </a:solidFill>
                          <a:latin typeface="Noto Sans CJK KR"/>
                        </a:rPr>
                        <a:t>분류</a:t>
                      </a:r>
                    </a:p>
                  </a:txBody>
                  <a:tcPr marL="137160" marR="91440" marT="91440" marB="54864" anchor="ctr">
                    <a:solidFill>
                      <a:srgbClr val="E3EFE7"/>
                    </a:solidFill>
                  </a:tcPr>
                </a:tc>
                <a:tc>
                  <a:txBody>
                    <a:bodyPr/>
                    <a:lstStyle/>
                    <a:p>
                      <a:pPr>
                        <a:lnSpc>
                          <a:spcPct val="113000"/>
                        </a:lnSpc>
                        <a:spcAft>
                          <a:spcPts val="0"/>
                        </a:spcAft>
                      </a:pPr>
                      <a:r>
                        <a:rPr sz="1800" b="1">
                          <a:solidFill>
                            <a:srgbClr val="126858"/>
                          </a:solidFill>
                          <a:latin typeface="Noto Sans CJK KR"/>
                        </a:rPr>
                        <a:t>대표 필드</a:t>
                      </a:r>
                    </a:p>
                  </a:txBody>
                  <a:tcPr marL="137160" marR="91440" marT="91440" marB="54864" anchor="ctr">
                    <a:solidFill>
                      <a:srgbClr val="E3EFE7"/>
                    </a:solidFill>
                  </a:tcPr>
                </a:tc>
                <a:tc>
                  <a:txBody>
                    <a:bodyPr/>
                    <a:lstStyle/>
                    <a:p>
                      <a:pPr>
                        <a:lnSpc>
                          <a:spcPct val="113000"/>
                        </a:lnSpc>
                        <a:spcAft>
                          <a:spcPts val="0"/>
                        </a:spcAft>
                      </a:pPr>
                      <a:r>
                        <a:rPr sz="1800" b="1">
                          <a:solidFill>
                            <a:srgbClr val="126858"/>
                          </a:solidFill>
                          <a:latin typeface="Noto Sans CJK KR"/>
                        </a:rPr>
                        <a:t>다음 단계가 필요한 이유</a:t>
                      </a:r>
                    </a:p>
                  </a:txBody>
                  <a:tcPr marL="137160" marR="91440" marT="91440" marB="54864" anchor="ctr">
                    <a:solidFill>
                      <a:srgbClr val="E3EFE7"/>
                    </a:solidFill>
                  </a:tcPr>
                </a:tc>
              </a:tr>
              <a:tr h="768096">
                <a:tc>
                  <a:txBody>
                    <a:bodyPr/>
                    <a:lstStyle/>
                    <a:p>
                      <a:pPr>
                        <a:lnSpc>
                          <a:spcPct val="113000"/>
                        </a:lnSpc>
                        <a:spcAft>
                          <a:spcPts val="0"/>
                        </a:spcAft>
                      </a:pPr>
                      <a:r>
                        <a:rPr sz="2000" b="1">
                          <a:solidFill>
                            <a:srgbClr val="172B2A"/>
                          </a:solidFill>
                          <a:latin typeface="Noto Sans CJK KR"/>
                        </a:rPr>
                        <a:t>입력</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incident_id · service</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대상과 요청 식별</a:t>
                      </a:r>
                    </a:p>
                  </a:txBody>
                  <a:tcPr marL="137160" marR="91440" marT="91440" marB="54864" anchor="ctr">
                    <a:solidFill>
                      <a:srgbClr val="FFFEF9"/>
                    </a:solidFill>
                  </a:tcPr>
                </a:tc>
              </a:tr>
              <a:tr h="768096">
                <a:tc>
                  <a:txBody>
                    <a:bodyPr/>
                    <a:lstStyle/>
                    <a:p>
                      <a:pPr>
                        <a:lnSpc>
                          <a:spcPct val="113000"/>
                        </a:lnSpc>
                        <a:spcAft>
                          <a:spcPts val="0"/>
                        </a:spcAft>
                      </a:pPr>
                      <a:r>
                        <a:rPr sz="2000" b="1">
                          <a:solidFill>
                            <a:srgbClr val="172B2A"/>
                          </a:solidFill>
                          <a:latin typeface="Noto Sans CJK KR"/>
                        </a:rPr>
                        <a:t>조사·근거</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metrics · runbook</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정책 판단</a:t>
                      </a:r>
                    </a:p>
                  </a:txBody>
                  <a:tcPr marL="137160" marR="91440" marT="91440" marB="54864" anchor="ctr">
                    <a:solidFill>
                      <a:srgbClr val="EDF0E9"/>
                    </a:solidFill>
                  </a:tcPr>
                </a:tc>
              </a:tr>
              <a:tr h="768096">
                <a:tc>
                  <a:txBody>
                    <a:bodyPr/>
                    <a:lstStyle/>
                    <a:p>
                      <a:pPr>
                        <a:lnSpc>
                          <a:spcPct val="113000"/>
                        </a:lnSpc>
                        <a:spcAft>
                          <a:spcPts val="0"/>
                        </a:spcAft>
                      </a:pPr>
                      <a:r>
                        <a:rPr sz="2000" b="1">
                          <a:solidFill>
                            <a:srgbClr val="172B2A"/>
                          </a:solidFill>
                          <a:latin typeface="Noto Sans CJK KR"/>
                        </a:rPr>
                        <a:t>계획·승인</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plan · approval</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실행 대상 일치</a:t>
                      </a:r>
                    </a:p>
                  </a:txBody>
                  <a:tcPr marL="137160" marR="91440" marT="91440" marB="54864" anchor="ctr">
                    <a:solidFill>
                      <a:srgbClr val="FFFEF9"/>
                    </a:solidFill>
                  </a:tcPr>
                </a:tc>
              </a:tr>
              <a:tr h="768096">
                <a:tc>
                  <a:txBody>
                    <a:bodyPr/>
                    <a:lstStyle/>
                    <a:p>
                      <a:pPr>
                        <a:lnSpc>
                          <a:spcPct val="113000"/>
                        </a:lnSpc>
                        <a:spcAft>
                          <a:spcPts val="0"/>
                        </a:spcAft>
                      </a:pPr>
                      <a:r>
                        <a:rPr sz="2000" b="1">
                          <a:solidFill>
                            <a:srgbClr val="172B2A"/>
                          </a:solidFill>
                          <a:latin typeface="Noto Sans CJK KR"/>
                        </a:rPr>
                        <a:t>실행 결과</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status · execution</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보고·재개·감사</a:t>
                      </a:r>
                    </a:p>
                  </a:txBody>
                  <a:tcPr marL="137160" marR="91440" marT="91440" marB="54864" anchor="ctr">
                    <a:solidFill>
                      <a:srgbClr val="EDF0E9"/>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1  /  원리와 실행 구조"/>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1  /  원리와 실행 구조</a:t>
            </a:r>
          </a:p>
        </p:txBody>
      </p:sp>
      <p:sp>
        <p:nvSpPr>
          <p:cNvPr id="3" name="TEXT Message와 업무 결과"/>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Message와 업무 결과</a:t>
            </a:r>
          </a:p>
        </p:txBody>
      </p:sp>
      <p:sp>
        <p:nvSpPr>
          <p:cNvPr id="4" name="TEXT 대화 이력과 확정된 업무 State의 목적을 나눈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대화 이력과 확정된 업무 State의 목적을 나눈다.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04"/>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C04</a:t>
            </a:r>
          </a:p>
        </p:txBody>
      </p:sp>
      <p:sp>
        <p:nvSpPr>
          <p:cNvPr id="8" name="TEXT 13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13 / 72</a:t>
            </a:r>
          </a:p>
        </p:txBody>
      </p:sp>
      <p:sp>
        <p:nvSpPr>
          <p:cNvPr id="9" name="TEXT 심화 A04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A04 →</a:t>
            </a:r>
          </a:p>
        </p:txBody>
      </p:sp>
      <p:sp>
        <p:nvSpPr>
          <p:cNvPr id="10" name="Rounded Rectangle 9"/>
          <p:cNvSpPr/>
          <p:nvPr/>
        </p:nvSpPr>
        <p:spPr>
          <a:xfrm>
            <a:off x="594360" y="2606040"/>
            <a:ext cx="5376672" cy="3364992"/>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2606040"/>
            <a:ext cx="54864" cy="3364992"/>
          </a:xfrm>
          <a:prstGeom prst="rect">
            <a:avLst/>
          </a:prstGeom>
          <a:solidFill>
            <a:srgbClr val="126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Message History"/>
          <p:cNvSpPr txBox="1"/>
          <p:nvPr/>
        </p:nvSpPr>
        <p:spPr>
          <a:xfrm>
            <a:off x="795528" y="2788920"/>
            <a:ext cx="497433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Message History</a:t>
            </a:r>
          </a:p>
        </p:txBody>
      </p:sp>
      <p:sp>
        <p:nvSpPr>
          <p:cNvPr id="13" name="TEXT "/>
          <p:cNvSpPr txBox="1"/>
          <p:nvPr/>
        </p:nvSpPr>
        <p:spPr>
          <a:xfrm>
            <a:off x="795528" y="3474720"/>
            <a:ext cx="4974336" cy="2359152"/>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a:r>
          </a:p>
        </p:txBody>
      </p:sp>
      <p:sp>
        <p:nvSpPr>
          <p:cNvPr id="14" name="TEXT • 사용자·모델·Tool 교환"/>
          <p:cNvSpPr txBox="1"/>
          <p:nvPr/>
        </p:nvSpPr>
        <p:spPr>
          <a:xfrm>
            <a:off x="822960" y="3511296"/>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사용자·모델·Tool 교환</a:t>
            </a:r>
          </a:p>
        </p:txBody>
      </p:sp>
      <p:sp>
        <p:nvSpPr>
          <p:cNvPr id="15" name="TEXT • Context 구성에 활용"/>
          <p:cNvSpPr txBox="1"/>
          <p:nvPr/>
        </p:nvSpPr>
        <p:spPr>
          <a:xfrm>
            <a:off x="822960" y="4206240"/>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Context 구성에 활용</a:t>
            </a:r>
          </a:p>
        </p:txBody>
      </p:sp>
      <p:sp>
        <p:nvSpPr>
          <p:cNvPr id="16" name="TEXT • 긴 원문은 Trace로 관리"/>
          <p:cNvSpPr txBox="1"/>
          <p:nvPr/>
        </p:nvSpPr>
        <p:spPr>
          <a:xfrm>
            <a:off x="822960" y="4901183"/>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긴 원문은 Trace로 관리</a:t>
            </a:r>
          </a:p>
        </p:txBody>
      </p:sp>
      <p:sp>
        <p:nvSpPr>
          <p:cNvPr id="17" name="Rounded Rectangle 16"/>
          <p:cNvSpPr/>
          <p:nvPr/>
        </p:nvSpPr>
        <p:spPr>
          <a:xfrm>
            <a:off x="6217920" y="2606040"/>
            <a:ext cx="5376672" cy="3364992"/>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2606040"/>
            <a:ext cx="54864" cy="3364992"/>
          </a:xfrm>
          <a:prstGeom prst="rect">
            <a:avLst/>
          </a:prstGeom>
          <a:solidFill>
            <a:srgbClr val="AD5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업무 State"/>
          <p:cNvSpPr txBox="1"/>
          <p:nvPr/>
        </p:nvSpPr>
        <p:spPr>
          <a:xfrm>
            <a:off x="6419088" y="2788920"/>
            <a:ext cx="497433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AD572B"/>
                </a:solidFill>
                <a:latin typeface="Noto Sans CJK KR"/>
                <a:ea typeface="Noto Sans CJK KR"/>
                <a:latin typeface="Noto Sans CJK KR"/>
              </a:rPr>
              <a:t>업무 State</a:t>
            </a:r>
          </a:p>
        </p:txBody>
      </p:sp>
      <p:sp>
        <p:nvSpPr>
          <p:cNvPr id="20" name="TEXT "/>
          <p:cNvSpPr txBox="1"/>
          <p:nvPr/>
        </p:nvSpPr>
        <p:spPr>
          <a:xfrm>
            <a:off x="6419088" y="3474720"/>
            <a:ext cx="4974336" cy="2359152"/>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a:r>
          </a:p>
        </p:txBody>
      </p:sp>
      <p:sp>
        <p:nvSpPr>
          <p:cNvPr id="21" name="TEXT • 대상 서비스·계획 버전"/>
          <p:cNvSpPr txBox="1"/>
          <p:nvPr/>
        </p:nvSpPr>
        <p:spPr>
          <a:xfrm>
            <a:off x="6446520" y="3511296"/>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대상 서비스·계획 버전</a:t>
            </a:r>
          </a:p>
        </p:txBody>
      </p:sp>
      <p:sp>
        <p:nvSpPr>
          <p:cNvPr id="22" name="TEXT • 검증된 근거·승인·결과"/>
          <p:cNvSpPr txBox="1"/>
          <p:nvPr/>
        </p:nvSpPr>
        <p:spPr>
          <a:xfrm>
            <a:off x="6446520" y="4206240"/>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검증된 근거·승인·결과</a:t>
            </a:r>
          </a:p>
        </p:txBody>
      </p:sp>
      <p:sp>
        <p:nvSpPr>
          <p:cNvPr id="23" name="TEXT • 재개 가능한 명시적 값"/>
          <p:cNvSpPr txBox="1"/>
          <p:nvPr/>
        </p:nvSpPr>
        <p:spPr>
          <a:xfrm>
            <a:off x="6446520" y="4901183"/>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재개 가능한 명시적 값</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1  /  원리와 실행 구조"/>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1  /  원리와 실행 구조</a:t>
            </a:r>
          </a:p>
        </p:txBody>
      </p:sp>
      <p:sp>
        <p:nvSpPr>
          <p:cNvPr id="3" name="TEXT State 필드의 책임"/>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State 필드의 책임</a:t>
            </a:r>
          </a:p>
        </p:txBody>
      </p:sp>
      <p:sp>
        <p:nvSpPr>
          <p:cNvPr id="4" name="TEXT 필드마다 작성자·독자·갱신 규칙을 정한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필드마다 작성자·독자·갱신 규칙을 정한다.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04"/>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C04</a:t>
            </a:r>
          </a:p>
        </p:txBody>
      </p:sp>
      <p:sp>
        <p:nvSpPr>
          <p:cNvPr id="8" name="TEXT 14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14 / 72</a:t>
            </a:r>
          </a:p>
        </p:txBody>
      </p:sp>
      <p:sp>
        <p:nvSpPr>
          <p:cNvPr id="9" name="TEXT 심화 A04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A04 →</a:t>
            </a:r>
          </a:p>
        </p:txBody>
      </p:sp>
      <p:graphicFrame>
        <p:nvGraphicFramePr>
          <p:cNvPr id="10" name="Table 9"/>
          <p:cNvGraphicFramePr>
            <a:graphicFrameLocks noGrp="1"/>
          </p:cNvGraphicFramePr>
          <p:nvPr/>
        </p:nvGraphicFramePr>
        <p:xfrm>
          <a:off x="594360" y="2587752"/>
          <a:ext cx="11000231" cy="3557016"/>
        </p:xfrm>
        <a:graphic>
          <a:graphicData uri="http://schemas.openxmlformats.org/drawingml/2006/table">
            <a:tbl>
              <a:tblPr firstRow="1" bandRow="1">
                <a:tableStyleId>{5C22544A-7EE6-4342-B048-85BDC9FD1C3A}</a:tableStyleId>
              </a:tblPr>
              <a:tblGrid>
                <a:gridCol w="2530053"/>
                <a:gridCol w="2530053"/>
                <a:gridCol w="2750058"/>
                <a:gridCol w="3190067"/>
              </a:tblGrid>
              <a:tr h="484632">
                <a:tc>
                  <a:txBody>
                    <a:bodyPr/>
                    <a:lstStyle/>
                    <a:p>
                      <a:pPr>
                        <a:lnSpc>
                          <a:spcPct val="113000"/>
                        </a:lnSpc>
                        <a:spcAft>
                          <a:spcPts val="0"/>
                        </a:spcAft>
                      </a:pPr>
                      <a:r>
                        <a:rPr sz="1800" b="1">
                          <a:solidFill>
                            <a:srgbClr val="126858"/>
                          </a:solidFill>
                          <a:latin typeface="Noto Sans CJK KR"/>
                        </a:rPr>
                        <a:t>필드</a:t>
                      </a:r>
                    </a:p>
                  </a:txBody>
                  <a:tcPr marL="137160" marR="91440" marT="91440" marB="54864" anchor="ctr">
                    <a:solidFill>
                      <a:srgbClr val="E3EFE7"/>
                    </a:solidFill>
                  </a:tcPr>
                </a:tc>
                <a:tc>
                  <a:txBody>
                    <a:bodyPr/>
                    <a:lstStyle/>
                    <a:p>
                      <a:pPr>
                        <a:lnSpc>
                          <a:spcPct val="113000"/>
                        </a:lnSpc>
                        <a:spcAft>
                          <a:spcPts val="0"/>
                        </a:spcAft>
                      </a:pPr>
                      <a:r>
                        <a:rPr sz="1800" b="1">
                          <a:solidFill>
                            <a:srgbClr val="126858"/>
                          </a:solidFill>
                          <a:latin typeface="Noto Sans CJK KR"/>
                        </a:rPr>
                        <a:t>작성 Node</a:t>
                      </a:r>
                    </a:p>
                  </a:txBody>
                  <a:tcPr marL="137160" marR="91440" marT="91440" marB="54864" anchor="ctr">
                    <a:solidFill>
                      <a:srgbClr val="E3EFE7"/>
                    </a:solidFill>
                  </a:tcPr>
                </a:tc>
                <a:tc>
                  <a:txBody>
                    <a:bodyPr/>
                    <a:lstStyle/>
                    <a:p>
                      <a:pPr>
                        <a:lnSpc>
                          <a:spcPct val="113000"/>
                        </a:lnSpc>
                        <a:spcAft>
                          <a:spcPts val="0"/>
                        </a:spcAft>
                      </a:pPr>
                      <a:r>
                        <a:rPr sz="1800" b="1">
                          <a:solidFill>
                            <a:srgbClr val="126858"/>
                          </a:solidFill>
                          <a:latin typeface="Noto Sans CJK KR"/>
                        </a:rPr>
                        <a:t>읽는 Node</a:t>
                      </a:r>
                    </a:p>
                  </a:txBody>
                  <a:tcPr marL="137160" marR="91440" marT="91440" marB="54864" anchor="ctr">
                    <a:solidFill>
                      <a:srgbClr val="E3EFE7"/>
                    </a:solidFill>
                  </a:tcPr>
                </a:tc>
                <a:tc>
                  <a:txBody>
                    <a:bodyPr/>
                    <a:lstStyle/>
                    <a:p>
                      <a:pPr>
                        <a:lnSpc>
                          <a:spcPct val="113000"/>
                        </a:lnSpc>
                        <a:spcAft>
                          <a:spcPts val="0"/>
                        </a:spcAft>
                      </a:pPr>
                      <a:r>
                        <a:rPr sz="1800" b="1">
                          <a:solidFill>
                            <a:srgbClr val="126858"/>
                          </a:solidFill>
                          <a:latin typeface="Noto Sans CJK KR"/>
                        </a:rPr>
                        <a:t>갱신 방식</a:t>
                      </a:r>
                    </a:p>
                  </a:txBody>
                  <a:tcPr marL="137160" marR="91440" marT="91440" marB="54864" anchor="ctr">
                    <a:solidFill>
                      <a:srgbClr val="E3EFE7"/>
                    </a:solidFill>
                  </a:tcPr>
                </a:tc>
              </a:tr>
              <a:tr h="768096">
                <a:tc>
                  <a:txBody>
                    <a:bodyPr/>
                    <a:lstStyle/>
                    <a:p>
                      <a:pPr>
                        <a:lnSpc>
                          <a:spcPct val="113000"/>
                        </a:lnSpc>
                        <a:spcAft>
                          <a:spcPts val="0"/>
                        </a:spcAft>
                      </a:pPr>
                      <a:r>
                        <a:rPr sz="2000" b="1">
                          <a:solidFill>
                            <a:srgbClr val="172B2A"/>
                          </a:solidFill>
                          <a:latin typeface="Noto Sans CJK KR"/>
                        </a:rPr>
                        <a:t>metrics</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metrics</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gate</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단독 교체</a:t>
                      </a:r>
                    </a:p>
                  </a:txBody>
                  <a:tcPr marL="137160" marR="91440" marT="91440" marB="54864" anchor="ctr">
                    <a:solidFill>
                      <a:srgbClr val="FFFEF9"/>
                    </a:solidFill>
                  </a:tcPr>
                </a:tc>
              </a:tr>
              <a:tr h="768096">
                <a:tc>
                  <a:txBody>
                    <a:bodyPr/>
                    <a:lstStyle/>
                    <a:p>
                      <a:pPr>
                        <a:lnSpc>
                          <a:spcPct val="113000"/>
                        </a:lnSpc>
                        <a:spcAft>
                          <a:spcPts val="0"/>
                        </a:spcAft>
                      </a:pPr>
                      <a:r>
                        <a:rPr sz="2000" b="1">
                          <a:solidFill>
                            <a:srgbClr val="172B2A"/>
                          </a:solidFill>
                          <a:latin typeface="Noto Sans CJK KR"/>
                        </a:rPr>
                        <a:t>runbook</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runbook</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gate</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단독 교체</a:t>
                      </a:r>
                    </a:p>
                  </a:txBody>
                  <a:tcPr marL="137160" marR="91440" marT="91440" marB="54864" anchor="ctr">
                    <a:solidFill>
                      <a:srgbClr val="EDF0E9"/>
                    </a:solidFill>
                  </a:tcPr>
                </a:tc>
              </a:tr>
              <a:tr h="768096">
                <a:tc>
                  <a:txBody>
                    <a:bodyPr/>
                    <a:lstStyle/>
                    <a:p>
                      <a:pPr>
                        <a:lnSpc>
                          <a:spcPct val="113000"/>
                        </a:lnSpc>
                        <a:spcAft>
                          <a:spcPts val="0"/>
                        </a:spcAft>
                      </a:pPr>
                      <a:r>
                        <a:rPr sz="2000" b="1">
                          <a:solidFill>
                            <a:srgbClr val="172B2A"/>
                          </a:solidFill>
                          <a:latin typeface="Noto Sans CJK KR"/>
                        </a:rPr>
                        <a:t>status</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gate / approval / execute</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후속 분기</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순차 전이</a:t>
                      </a:r>
                    </a:p>
                  </a:txBody>
                  <a:tcPr marL="137160" marR="91440" marT="91440" marB="54864" anchor="ctr">
                    <a:solidFill>
                      <a:srgbClr val="FFFEF9"/>
                    </a:solidFill>
                  </a:tcPr>
                </a:tc>
              </a:tr>
              <a:tr h="768096">
                <a:tc>
                  <a:txBody>
                    <a:bodyPr/>
                    <a:lstStyle/>
                    <a:p>
                      <a:pPr>
                        <a:lnSpc>
                          <a:spcPct val="113000"/>
                        </a:lnSpc>
                        <a:spcAft>
                          <a:spcPts val="0"/>
                        </a:spcAft>
                      </a:pPr>
                      <a:r>
                        <a:rPr sz="2000" b="1">
                          <a:solidFill>
                            <a:srgbClr val="172B2A"/>
                          </a:solidFill>
                          <a:latin typeface="Noto Sans CJK KR"/>
                        </a:rPr>
                        <a:t>approval</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approval</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execute</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대상 검사 후 교체</a:t>
                      </a:r>
                    </a:p>
                  </a:txBody>
                  <a:tcPr marL="137160" marR="91440" marT="91440" marB="54864" anchor="ctr">
                    <a:solidFill>
                      <a:srgbClr val="EDF0E9"/>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1  /  원리와 실행 구조"/>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1  /  원리와 실행 구조</a:t>
            </a:r>
          </a:p>
        </p:txBody>
      </p:sp>
      <p:sp>
        <p:nvSpPr>
          <p:cNvPr id="3" name="Rounded Rectangle 2"/>
          <p:cNvSpPr/>
          <p:nvPr/>
        </p:nvSpPr>
        <p:spPr>
          <a:xfrm>
            <a:off x="10195560" y="173736"/>
            <a:ext cx="1399032" cy="329184"/>
          </a:xfrm>
          <a:prstGeom prst="roundRect">
            <a:avLst>
              <a:gd name="adj" fmla="val 8000"/>
            </a:avLst>
          </a:prstGeom>
          <a:solidFill>
            <a:srgbClr val="E3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60분 경로"/>
          <p:cNvSpPr txBox="1"/>
          <p:nvPr/>
        </p:nvSpPr>
        <p:spPr>
          <a:xfrm>
            <a:off x="10241280" y="214884"/>
            <a:ext cx="1307592" cy="182880"/>
          </a:xfrm>
          <a:prstGeom prst="rect">
            <a:avLst/>
          </a:prstGeom>
          <a:noFill/>
        </p:spPr>
        <p:txBody>
          <a:bodyPr wrap="square" lIns="0" rIns="0" tIns="0" bIns="0">
            <a:noAutofit/>
          </a:bodyPr>
          <a:lstStyle/>
          <a:p>
            <a:pPr algn="ctr">
              <a:lnSpc>
                <a:spcPct val="116000"/>
              </a:lnSpc>
              <a:spcBef>
                <a:spcPts val="0"/>
              </a:spcBef>
              <a:spcAft>
                <a:spcPts val="0"/>
              </a:spcAft>
            </a:pPr>
            <a:r>
              <a:rPr sz="1000" b="1">
                <a:solidFill>
                  <a:srgbClr val="126858"/>
                </a:solidFill>
                <a:latin typeface="Noto Sans CJK KR"/>
                <a:ea typeface="Noto Sans CJK KR"/>
                <a:latin typeface="Noto Sans CJK KR"/>
              </a:rPr>
              <a:t>60분 경로</a:t>
            </a:r>
          </a:p>
        </p:txBody>
      </p:sp>
      <p:sp>
        <p:nvSpPr>
          <p:cNvPr id="5" name="TEXT Node와 Edge"/>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Node와 Edge</a:t>
            </a:r>
          </a:p>
        </p:txBody>
      </p:sp>
      <p:sp>
        <p:nvSpPr>
          <p:cNvPr id="6" name="TEXT Node는 부분 갱신을 만들고 Edge는 다음 실행을 정한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Node는 부분 갱신을 만들고 Edge는 다음 실행을 정한다.</a:t>
            </a:r>
          </a:p>
        </p:txBody>
      </p:sp>
      <p:cxnSp>
        <p:nvCxnSpPr>
          <p:cNvPr id="7" name="Connector 6"/>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9" name="TEXT AI AGENT FIELDNOTES  /  C05"/>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C05</a:t>
            </a:r>
          </a:p>
        </p:txBody>
      </p:sp>
      <p:sp>
        <p:nvSpPr>
          <p:cNvPr id="10" name="TEXT 15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15 / 72</a:t>
            </a:r>
          </a:p>
        </p:txBody>
      </p:sp>
      <p:sp>
        <p:nvSpPr>
          <p:cNvPr id="11" name="TEXT 심화 A05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A05 →</a:t>
            </a:r>
          </a:p>
        </p:txBody>
      </p:sp>
      <p:sp>
        <p:nvSpPr>
          <p:cNvPr id="12" name="Rounded Rectangle 11"/>
          <p:cNvSpPr/>
          <p:nvPr/>
        </p:nvSpPr>
        <p:spPr>
          <a:xfrm>
            <a:off x="594360" y="2880360"/>
            <a:ext cx="2558034" cy="1874519"/>
          </a:xfrm>
          <a:prstGeom prst="roundRect">
            <a:avLst>
              <a:gd name="adj" fmla="val 8000"/>
            </a:avLst>
          </a:prstGeom>
          <a:solidFill>
            <a:srgbClr val="E7EDFB"/>
          </a:solidFill>
          <a:ln w="10160">
            <a:solidFill>
              <a:srgbClr val="345C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01"/>
          <p:cNvSpPr txBox="1"/>
          <p:nvPr/>
        </p:nvSpPr>
        <p:spPr>
          <a:xfrm>
            <a:off x="749808" y="3044952"/>
            <a:ext cx="2247138" cy="246888"/>
          </a:xfrm>
          <a:prstGeom prst="rect">
            <a:avLst/>
          </a:prstGeom>
          <a:noFill/>
        </p:spPr>
        <p:txBody>
          <a:bodyPr wrap="square" lIns="0" rIns="0" tIns="0" bIns="0">
            <a:noAutofit/>
          </a:bodyPr>
          <a:lstStyle/>
          <a:p>
            <a:pPr algn="l">
              <a:lnSpc>
                <a:spcPct val="116000"/>
              </a:lnSpc>
              <a:spcBef>
                <a:spcPts val="0"/>
              </a:spcBef>
              <a:spcAft>
                <a:spcPts val="0"/>
              </a:spcAft>
            </a:pPr>
            <a:r>
              <a:rPr sz="1200" b="1">
                <a:solidFill>
                  <a:srgbClr val="345CB5"/>
                </a:solidFill>
                <a:latin typeface="Noto Sans CJK KR"/>
                <a:ea typeface="Noto Sans CJK KR"/>
                <a:latin typeface="Noto Sans CJK KR"/>
              </a:rPr>
              <a:t>01</a:t>
            </a:r>
          </a:p>
        </p:txBody>
      </p:sp>
      <p:sp>
        <p:nvSpPr>
          <p:cNvPr id="14" name="TEXT 조사 Node"/>
          <p:cNvSpPr txBox="1"/>
          <p:nvPr/>
        </p:nvSpPr>
        <p:spPr>
          <a:xfrm>
            <a:off x="749808" y="3511296"/>
            <a:ext cx="2247138" cy="713232"/>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345CB5"/>
                </a:solidFill>
                <a:latin typeface="Noto Sans CJK KR"/>
                <a:ea typeface="Noto Sans CJK KR"/>
                <a:latin typeface="Noto Sans CJK KR"/>
              </a:rPr>
              <a:t>조사 Node</a:t>
            </a:r>
          </a:p>
        </p:txBody>
      </p:sp>
      <p:sp>
        <p:nvSpPr>
          <p:cNvPr id="15" name="TEXT 결과 키 갱신"/>
          <p:cNvSpPr txBox="1"/>
          <p:nvPr/>
        </p:nvSpPr>
        <p:spPr>
          <a:xfrm>
            <a:off x="749808" y="4261104"/>
            <a:ext cx="2247138" cy="365760"/>
          </a:xfrm>
          <a:prstGeom prst="rect">
            <a:avLst/>
          </a:prstGeom>
          <a:noFill/>
        </p:spPr>
        <p:txBody>
          <a:bodyPr wrap="square" lIns="0" rIns="0" tIns="0" bIns="0">
            <a:noAutofit/>
          </a:bodyPr>
          <a:lstStyle/>
          <a:p>
            <a:pPr algn="l">
              <a:lnSpc>
                <a:spcPct val="116000"/>
              </a:lnSpc>
              <a:spcBef>
                <a:spcPts val="0"/>
              </a:spcBef>
              <a:spcAft>
                <a:spcPts val="0"/>
              </a:spcAft>
            </a:pPr>
            <a:r>
              <a:rPr sz="1600" b="0">
                <a:solidFill>
                  <a:srgbClr val="345CB5"/>
                </a:solidFill>
                <a:latin typeface="Noto Sans CJK KR"/>
                <a:ea typeface="Noto Sans CJK KR"/>
                <a:latin typeface="Noto Sans CJK KR"/>
              </a:rPr>
              <a:t>결과 키 갱신</a:t>
            </a:r>
          </a:p>
        </p:txBody>
      </p:sp>
      <p:cxnSp>
        <p:nvCxnSpPr>
          <p:cNvPr id="16" name="Connector 15"/>
          <p:cNvCxnSpPr/>
          <p:nvPr/>
        </p:nvCxnSpPr>
        <p:spPr>
          <a:xfrm>
            <a:off x="3170682" y="3803904"/>
            <a:ext cx="219456" cy="0"/>
          </a:xfrm>
          <a:prstGeom prst="line">
            <a:avLst/>
          </a:prstGeom>
          <a:ln w="22860">
            <a:solidFill>
              <a:srgbClr val="5E6E66"/>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408425" y="2880360"/>
            <a:ext cx="2558034" cy="1874519"/>
          </a:xfrm>
          <a:prstGeom prst="roundRect">
            <a:avLst>
              <a:gd name="adj" fmla="val 8000"/>
            </a:avLst>
          </a:prstGeom>
          <a:solidFill>
            <a:srgbClr val="E3EFE7"/>
          </a:solidFill>
          <a:ln w="10160">
            <a:solidFill>
              <a:srgbClr val="1268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02"/>
          <p:cNvSpPr txBox="1"/>
          <p:nvPr/>
        </p:nvSpPr>
        <p:spPr>
          <a:xfrm>
            <a:off x="3563873" y="3044952"/>
            <a:ext cx="2247138" cy="246888"/>
          </a:xfrm>
          <a:prstGeom prst="rect">
            <a:avLst/>
          </a:prstGeom>
          <a:noFill/>
        </p:spPr>
        <p:txBody>
          <a:bodyPr wrap="square" lIns="0" rIns="0" tIns="0" bIns="0">
            <a:noAutofit/>
          </a:bodyPr>
          <a:lstStyle/>
          <a:p>
            <a:pPr algn="l">
              <a:lnSpc>
                <a:spcPct val="116000"/>
              </a:lnSpc>
              <a:spcBef>
                <a:spcPts val="0"/>
              </a:spcBef>
              <a:spcAft>
                <a:spcPts val="0"/>
              </a:spcAft>
            </a:pPr>
            <a:r>
              <a:rPr sz="1200" b="1">
                <a:solidFill>
                  <a:srgbClr val="126858"/>
                </a:solidFill>
                <a:latin typeface="Noto Sans CJK KR"/>
                <a:ea typeface="Noto Sans CJK KR"/>
                <a:latin typeface="Noto Sans CJK KR"/>
              </a:rPr>
              <a:t>02</a:t>
            </a:r>
          </a:p>
        </p:txBody>
      </p:sp>
      <p:sp>
        <p:nvSpPr>
          <p:cNvPr id="19" name="TEXT Gate Node"/>
          <p:cNvSpPr txBox="1"/>
          <p:nvPr/>
        </p:nvSpPr>
        <p:spPr>
          <a:xfrm>
            <a:off x="3563873" y="3511296"/>
            <a:ext cx="2247138" cy="713232"/>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Gate Node</a:t>
            </a:r>
          </a:p>
        </p:txBody>
      </p:sp>
      <p:sp>
        <p:nvSpPr>
          <p:cNvPr id="20" name="TEXT 증거 검사"/>
          <p:cNvSpPr txBox="1"/>
          <p:nvPr/>
        </p:nvSpPr>
        <p:spPr>
          <a:xfrm>
            <a:off x="3563873" y="4261104"/>
            <a:ext cx="2247138" cy="365760"/>
          </a:xfrm>
          <a:prstGeom prst="rect">
            <a:avLst/>
          </a:prstGeom>
          <a:noFill/>
        </p:spPr>
        <p:txBody>
          <a:bodyPr wrap="square" lIns="0" rIns="0" tIns="0" bIns="0">
            <a:noAutofit/>
          </a:bodyPr>
          <a:lstStyle/>
          <a:p>
            <a:pPr algn="l">
              <a:lnSpc>
                <a:spcPct val="116000"/>
              </a:lnSpc>
              <a:spcBef>
                <a:spcPts val="0"/>
              </a:spcBef>
              <a:spcAft>
                <a:spcPts val="0"/>
              </a:spcAft>
            </a:pPr>
            <a:r>
              <a:rPr sz="1600" b="0">
                <a:solidFill>
                  <a:srgbClr val="126858"/>
                </a:solidFill>
                <a:latin typeface="Noto Sans CJK KR"/>
                <a:ea typeface="Noto Sans CJK KR"/>
                <a:latin typeface="Noto Sans CJK KR"/>
              </a:rPr>
              <a:t>증거 검사</a:t>
            </a:r>
          </a:p>
        </p:txBody>
      </p:sp>
      <p:cxnSp>
        <p:nvCxnSpPr>
          <p:cNvPr id="21" name="Connector 20"/>
          <p:cNvCxnSpPr/>
          <p:nvPr/>
        </p:nvCxnSpPr>
        <p:spPr>
          <a:xfrm>
            <a:off x="5984747" y="3803904"/>
            <a:ext cx="219457" cy="0"/>
          </a:xfrm>
          <a:prstGeom prst="line">
            <a:avLst/>
          </a:prstGeom>
          <a:ln w="22860">
            <a:solidFill>
              <a:srgbClr val="5E6E66"/>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222492" y="2880360"/>
            <a:ext cx="2558034" cy="1874519"/>
          </a:xfrm>
          <a:prstGeom prst="roundRect">
            <a:avLst>
              <a:gd name="adj" fmla="val 8000"/>
            </a:avLst>
          </a:prstGeom>
          <a:solidFill>
            <a:srgbClr val="E3EFE7"/>
          </a:solidFill>
          <a:ln w="10160">
            <a:solidFill>
              <a:srgbClr val="1268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 03"/>
          <p:cNvSpPr txBox="1"/>
          <p:nvPr/>
        </p:nvSpPr>
        <p:spPr>
          <a:xfrm>
            <a:off x="6377940" y="3044952"/>
            <a:ext cx="2247138" cy="246888"/>
          </a:xfrm>
          <a:prstGeom prst="rect">
            <a:avLst/>
          </a:prstGeom>
          <a:noFill/>
        </p:spPr>
        <p:txBody>
          <a:bodyPr wrap="square" lIns="0" rIns="0" tIns="0" bIns="0">
            <a:noAutofit/>
          </a:bodyPr>
          <a:lstStyle/>
          <a:p>
            <a:pPr algn="l">
              <a:lnSpc>
                <a:spcPct val="116000"/>
              </a:lnSpc>
              <a:spcBef>
                <a:spcPts val="0"/>
              </a:spcBef>
              <a:spcAft>
                <a:spcPts val="0"/>
              </a:spcAft>
            </a:pPr>
            <a:r>
              <a:rPr sz="1200" b="1">
                <a:solidFill>
                  <a:srgbClr val="126858"/>
                </a:solidFill>
                <a:latin typeface="Noto Sans CJK KR"/>
                <a:ea typeface="Noto Sans CJK KR"/>
                <a:latin typeface="Noto Sans CJK KR"/>
              </a:rPr>
              <a:t>03</a:t>
            </a:r>
          </a:p>
        </p:txBody>
      </p:sp>
      <p:sp>
        <p:nvSpPr>
          <p:cNvPr id="24" name="TEXT 조건 분기"/>
          <p:cNvSpPr txBox="1"/>
          <p:nvPr/>
        </p:nvSpPr>
        <p:spPr>
          <a:xfrm>
            <a:off x="6377940" y="3511296"/>
            <a:ext cx="2247138" cy="713232"/>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조건 분기</a:t>
            </a:r>
          </a:p>
        </p:txBody>
      </p:sp>
      <p:sp>
        <p:nvSpPr>
          <p:cNvPr id="25" name="TEXT 명시적 라벨"/>
          <p:cNvSpPr txBox="1"/>
          <p:nvPr/>
        </p:nvSpPr>
        <p:spPr>
          <a:xfrm>
            <a:off x="6377940" y="4261104"/>
            <a:ext cx="2247138" cy="365760"/>
          </a:xfrm>
          <a:prstGeom prst="rect">
            <a:avLst/>
          </a:prstGeom>
          <a:noFill/>
        </p:spPr>
        <p:txBody>
          <a:bodyPr wrap="square" lIns="0" rIns="0" tIns="0" bIns="0">
            <a:noAutofit/>
          </a:bodyPr>
          <a:lstStyle/>
          <a:p>
            <a:pPr algn="l">
              <a:lnSpc>
                <a:spcPct val="116000"/>
              </a:lnSpc>
              <a:spcBef>
                <a:spcPts val="0"/>
              </a:spcBef>
              <a:spcAft>
                <a:spcPts val="0"/>
              </a:spcAft>
            </a:pPr>
            <a:r>
              <a:rPr sz="1600" b="0">
                <a:solidFill>
                  <a:srgbClr val="126858"/>
                </a:solidFill>
                <a:latin typeface="Noto Sans CJK KR"/>
                <a:ea typeface="Noto Sans CJK KR"/>
                <a:latin typeface="Noto Sans CJK KR"/>
              </a:rPr>
              <a:t>명시적 라벨</a:t>
            </a:r>
          </a:p>
        </p:txBody>
      </p:sp>
      <p:cxnSp>
        <p:nvCxnSpPr>
          <p:cNvPr id="26" name="Connector 25"/>
          <p:cNvCxnSpPr/>
          <p:nvPr/>
        </p:nvCxnSpPr>
        <p:spPr>
          <a:xfrm>
            <a:off x="8798813" y="3803904"/>
            <a:ext cx="219456" cy="0"/>
          </a:xfrm>
          <a:prstGeom prst="line">
            <a:avLst/>
          </a:prstGeom>
          <a:ln w="22860">
            <a:solidFill>
              <a:srgbClr val="5E6E66"/>
            </a:solidFill>
            <a:tailEnd type="triangle"/>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9036557" y="2880360"/>
            <a:ext cx="2558034" cy="1874519"/>
          </a:xfrm>
          <a:prstGeom prst="roundRect">
            <a:avLst>
              <a:gd name="adj" fmla="val 8000"/>
            </a:avLst>
          </a:prstGeom>
          <a:solidFill>
            <a:srgbClr val="E3EFE7"/>
          </a:solidFill>
          <a:ln w="10160">
            <a:solidFill>
              <a:srgbClr val="1268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 04"/>
          <p:cNvSpPr txBox="1"/>
          <p:nvPr/>
        </p:nvSpPr>
        <p:spPr>
          <a:xfrm>
            <a:off x="9192005" y="3044952"/>
            <a:ext cx="2247138" cy="246888"/>
          </a:xfrm>
          <a:prstGeom prst="rect">
            <a:avLst/>
          </a:prstGeom>
          <a:noFill/>
        </p:spPr>
        <p:txBody>
          <a:bodyPr wrap="square" lIns="0" rIns="0" tIns="0" bIns="0">
            <a:noAutofit/>
          </a:bodyPr>
          <a:lstStyle/>
          <a:p>
            <a:pPr algn="l">
              <a:lnSpc>
                <a:spcPct val="116000"/>
              </a:lnSpc>
              <a:spcBef>
                <a:spcPts val="0"/>
              </a:spcBef>
              <a:spcAft>
                <a:spcPts val="0"/>
              </a:spcAft>
            </a:pPr>
            <a:r>
              <a:rPr sz="1200" b="1">
                <a:solidFill>
                  <a:srgbClr val="126858"/>
                </a:solidFill>
                <a:latin typeface="Noto Sans CJK KR"/>
                <a:ea typeface="Noto Sans CJK KR"/>
                <a:latin typeface="Noto Sans CJK KR"/>
              </a:rPr>
              <a:t>04</a:t>
            </a:r>
          </a:p>
        </p:txBody>
      </p:sp>
      <p:sp>
        <p:nvSpPr>
          <p:cNvPr id="29" name="TEXT 승인 / 종료"/>
          <p:cNvSpPr txBox="1"/>
          <p:nvPr/>
        </p:nvSpPr>
        <p:spPr>
          <a:xfrm>
            <a:off x="9192005" y="3511296"/>
            <a:ext cx="2247138" cy="713232"/>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승인 / 종료</a:t>
            </a:r>
          </a:p>
        </p:txBody>
      </p:sp>
      <p:sp>
        <p:nvSpPr>
          <p:cNvPr id="30" name="TEXT 허용된 경로"/>
          <p:cNvSpPr txBox="1"/>
          <p:nvPr/>
        </p:nvSpPr>
        <p:spPr>
          <a:xfrm>
            <a:off x="9192005" y="4261104"/>
            <a:ext cx="2247138" cy="365760"/>
          </a:xfrm>
          <a:prstGeom prst="rect">
            <a:avLst/>
          </a:prstGeom>
          <a:noFill/>
        </p:spPr>
        <p:txBody>
          <a:bodyPr wrap="square" lIns="0" rIns="0" tIns="0" bIns="0">
            <a:noAutofit/>
          </a:bodyPr>
          <a:lstStyle/>
          <a:p>
            <a:pPr algn="l">
              <a:lnSpc>
                <a:spcPct val="116000"/>
              </a:lnSpc>
              <a:spcBef>
                <a:spcPts val="0"/>
              </a:spcBef>
              <a:spcAft>
                <a:spcPts val="0"/>
              </a:spcAft>
            </a:pPr>
            <a:r>
              <a:rPr sz="1600" b="0">
                <a:solidFill>
                  <a:srgbClr val="126858"/>
                </a:solidFill>
                <a:latin typeface="Noto Sans CJK KR"/>
                <a:ea typeface="Noto Sans CJK KR"/>
                <a:latin typeface="Noto Sans CJK KR"/>
              </a:rPr>
              <a:t>허용된 경로</a:t>
            </a:r>
          </a:p>
        </p:txBody>
      </p:sp>
      <p:sp>
        <p:nvSpPr>
          <p:cNvPr id="31" name="TEXT Node 계약: 읽는 필드 → 처리 → 쓰는 필드"/>
          <p:cNvSpPr txBox="1"/>
          <p:nvPr/>
        </p:nvSpPr>
        <p:spPr>
          <a:xfrm>
            <a:off x="731520" y="5266944"/>
            <a:ext cx="10789920" cy="685800"/>
          </a:xfrm>
          <a:prstGeom prst="rect">
            <a:avLst/>
          </a:prstGeom>
          <a:noFill/>
        </p:spPr>
        <p:txBody>
          <a:bodyPr wrap="square" lIns="0" rIns="0" tIns="0" bIns="0">
            <a:noAutofit/>
          </a:bodyPr>
          <a:lstStyle/>
          <a:p>
            <a:pPr algn="l">
              <a:lnSpc>
                <a:spcPct val="116000"/>
              </a:lnSpc>
              <a:spcBef>
                <a:spcPts val="0"/>
              </a:spcBef>
              <a:spcAft>
                <a:spcPts val="0"/>
              </a:spcAft>
            </a:pPr>
            <a:r>
              <a:rPr sz="2100" b="1">
                <a:solidFill>
                  <a:srgbClr val="126858"/>
                </a:solidFill>
                <a:latin typeface="Noto Sans CJK KR"/>
                <a:ea typeface="Noto Sans CJK KR"/>
                <a:latin typeface="Noto Sans CJK KR"/>
              </a:rPr>
              <a:t>Node 계약: 읽는 필드 → 처리 → 쓰는 필드</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1  /  원리와 실행 구조"/>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1  /  원리와 실행 구조</a:t>
            </a:r>
          </a:p>
        </p:txBody>
      </p:sp>
      <p:sp>
        <p:nvSpPr>
          <p:cNvPr id="3" name="TEXT 조건 분기"/>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조건 분기</a:t>
            </a:r>
          </a:p>
        </p:txBody>
      </p:sp>
      <p:sp>
        <p:nvSpPr>
          <p:cNvPr id="4" name="TEXT 성공·근거 부족·실패를 같은 값으로 뭉개지 않는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성공·근거 부족·실패를 같은 값으로 뭉개지 않는다.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05"/>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C05</a:t>
            </a:r>
          </a:p>
        </p:txBody>
      </p:sp>
      <p:sp>
        <p:nvSpPr>
          <p:cNvPr id="8" name="TEXT 16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16 / 72</a:t>
            </a:r>
          </a:p>
        </p:txBody>
      </p:sp>
      <p:sp>
        <p:nvSpPr>
          <p:cNvPr id="9" name="TEXT 심화 A10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A10 →</a:t>
            </a:r>
          </a:p>
        </p:txBody>
      </p:sp>
      <p:graphicFrame>
        <p:nvGraphicFramePr>
          <p:cNvPr id="10" name="Table 9"/>
          <p:cNvGraphicFramePr>
            <a:graphicFrameLocks noGrp="1"/>
          </p:cNvGraphicFramePr>
          <p:nvPr/>
        </p:nvGraphicFramePr>
        <p:xfrm>
          <a:off x="594360" y="2587752"/>
          <a:ext cx="11000231" cy="3557016"/>
        </p:xfrm>
        <a:graphic>
          <a:graphicData uri="http://schemas.openxmlformats.org/drawingml/2006/table">
            <a:tbl>
              <a:tblPr firstRow="1" bandRow="1">
                <a:tableStyleId>{5C22544A-7EE6-4342-B048-85BDC9FD1C3A}</a:tableStyleId>
              </a:tblPr>
              <a:tblGrid>
                <a:gridCol w="2750058"/>
                <a:gridCol w="4290090"/>
                <a:gridCol w="3960083"/>
              </a:tblGrid>
              <a:tr h="484632">
                <a:tc>
                  <a:txBody>
                    <a:bodyPr/>
                    <a:lstStyle/>
                    <a:p>
                      <a:pPr>
                        <a:lnSpc>
                          <a:spcPct val="113000"/>
                        </a:lnSpc>
                        <a:spcAft>
                          <a:spcPts val="0"/>
                        </a:spcAft>
                      </a:pPr>
                      <a:r>
                        <a:rPr sz="1800" b="1">
                          <a:solidFill>
                            <a:srgbClr val="126858"/>
                          </a:solidFill>
                          <a:latin typeface="Noto Sans CJK KR"/>
                        </a:rPr>
                        <a:t>상태</a:t>
                      </a:r>
                    </a:p>
                  </a:txBody>
                  <a:tcPr marL="137160" marR="91440" marT="91440" marB="54864" anchor="ctr">
                    <a:solidFill>
                      <a:srgbClr val="E3EFE7"/>
                    </a:solidFill>
                  </a:tcPr>
                </a:tc>
                <a:tc>
                  <a:txBody>
                    <a:bodyPr/>
                    <a:lstStyle/>
                    <a:p>
                      <a:pPr>
                        <a:lnSpc>
                          <a:spcPct val="113000"/>
                        </a:lnSpc>
                        <a:spcAft>
                          <a:spcPts val="0"/>
                        </a:spcAft>
                      </a:pPr>
                      <a:r>
                        <a:rPr sz="1800" b="1">
                          <a:solidFill>
                            <a:srgbClr val="126858"/>
                          </a:solidFill>
                          <a:latin typeface="Noto Sans CJK KR"/>
                        </a:rPr>
                        <a:t>의미</a:t>
                      </a:r>
                    </a:p>
                  </a:txBody>
                  <a:tcPr marL="137160" marR="91440" marT="91440" marB="54864" anchor="ctr">
                    <a:solidFill>
                      <a:srgbClr val="E3EFE7"/>
                    </a:solidFill>
                  </a:tcPr>
                </a:tc>
                <a:tc>
                  <a:txBody>
                    <a:bodyPr/>
                    <a:lstStyle/>
                    <a:p>
                      <a:pPr>
                        <a:lnSpc>
                          <a:spcPct val="113000"/>
                        </a:lnSpc>
                        <a:spcAft>
                          <a:spcPts val="0"/>
                        </a:spcAft>
                      </a:pPr>
                      <a:r>
                        <a:rPr sz="1800" b="1">
                          <a:solidFill>
                            <a:srgbClr val="126858"/>
                          </a:solidFill>
                          <a:latin typeface="Noto Sans CJK KR"/>
                        </a:rPr>
                        <a:t>다음 처리</a:t>
                      </a:r>
                    </a:p>
                  </a:txBody>
                  <a:tcPr marL="137160" marR="91440" marT="91440" marB="54864" anchor="ctr">
                    <a:solidFill>
                      <a:srgbClr val="E3EFE7"/>
                    </a:solidFill>
                  </a:tcPr>
                </a:tc>
              </a:tr>
              <a:tr h="768096">
                <a:tc>
                  <a:txBody>
                    <a:bodyPr/>
                    <a:lstStyle/>
                    <a:p>
                      <a:pPr>
                        <a:lnSpc>
                          <a:spcPct val="113000"/>
                        </a:lnSpc>
                        <a:spcAft>
                          <a:spcPts val="0"/>
                        </a:spcAft>
                      </a:pPr>
                      <a:r>
                        <a:rPr sz="2000" b="1">
                          <a:solidFill>
                            <a:srgbClr val="172B2A"/>
                          </a:solidFill>
                          <a:latin typeface="Noto Sans CJK KR"/>
                        </a:rPr>
                        <a:t>awaiting_approval</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조사·정책 통과</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승인 Node로 이동</a:t>
                      </a:r>
                    </a:p>
                  </a:txBody>
                  <a:tcPr marL="137160" marR="91440" marT="91440" marB="54864" anchor="ctr">
                    <a:solidFill>
                      <a:srgbClr val="FFFEF9"/>
                    </a:solidFill>
                  </a:tcPr>
                </a:tc>
              </a:tr>
              <a:tr h="768096">
                <a:tc>
                  <a:txBody>
                    <a:bodyPr/>
                    <a:lstStyle/>
                    <a:p>
                      <a:pPr>
                        <a:lnSpc>
                          <a:spcPct val="113000"/>
                        </a:lnSpc>
                        <a:spcAft>
                          <a:spcPts val="0"/>
                        </a:spcAft>
                      </a:pPr>
                      <a:r>
                        <a:rPr sz="2000" b="1">
                          <a:solidFill>
                            <a:srgbClr val="172B2A"/>
                          </a:solidFill>
                          <a:latin typeface="Noto Sans CJK KR"/>
                        </a:rPr>
                        <a:t>blocked</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근거·대상 조건 미충족</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사유를 남기고 종료</a:t>
                      </a:r>
                    </a:p>
                  </a:txBody>
                  <a:tcPr marL="137160" marR="91440" marT="91440" marB="54864" anchor="ctr">
                    <a:solidFill>
                      <a:srgbClr val="EDF0E9"/>
                    </a:solidFill>
                  </a:tcPr>
                </a:tc>
              </a:tr>
              <a:tr h="768096">
                <a:tc>
                  <a:txBody>
                    <a:bodyPr/>
                    <a:lstStyle/>
                    <a:p>
                      <a:pPr>
                        <a:lnSpc>
                          <a:spcPct val="113000"/>
                        </a:lnSpc>
                        <a:spcAft>
                          <a:spcPts val="0"/>
                        </a:spcAft>
                      </a:pPr>
                      <a:r>
                        <a:rPr sz="2000" b="1">
                          <a:solidFill>
                            <a:srgbClr val="172B2A"/>
                          </a:solidFill>
                          <a:latin typeface="Noto Sans CJK KR"/>
                        </a:rPr>
                        <a:t>rejected</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사람의 명시적 거부</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실행 없이 보고</a:t>
                      </a:r>
                    </a:p>
                  </a:txBody>
                  <a:tcPr marL="137160" marR="91440" marT="91440" marB="54864" anchor="ctr">
                    <a:solidFill>
                      <a:srgbClr val="FFFEF9"/>
                    </a:solidFill>
                  </a:tcPr>
                </a:tc>
              </a:tr>
              <a:tr h="768096">
                <a:tc>
                  <a:txBody>
                    <a:bodyPr/>
                    <a:lstStyle/>
                    <a:p>
                      <a:pPr>
                        <a:lnSpc>
                          <a:spcPct val="113000"/>
                        </a:lnSpc>
                        <a:spcAft>
                          <a:spcPts val="0"/>
                        </a:spcAft>
                      </a:pPr>
                      <a:r>
                        <a:rPr sz="2000" b="1">
                          <a:solidFill>
                            <a:srgbClr val="172B2A"/>
                          </a:solidFill>
                          <a:latin typeface="Noto Sans CJK KR"/>
                        </a:rPr>
                        <a:t>simulated</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승인 후 학습용 실행 완료</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시뮬레이션 결과 보고</a:t>
                      </a:r>
                    </a:p>
                  </a:txBody>
                  <a:tcPr marL="137160" marR="91440" marT="91440" marB="54864" anchor="ctr">
                    <a:solidFill>
                      <a:srgbClr val="EDF0E9"/>
                    </a:solidFill>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1  /  원리와 실행 구조"/>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1  /  원리와 실행 구조</a:t>
            </a:r>
          </a:p>
        </p:txBody>
      </p:sp>
      <p:sp>
        <p:nvSpPr>
          <p:cNvPr id="3" name="TEXT 병렬 조사와 합류"/>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병렬 조사와 합류</a:t>
            </a:r>
          </a:p>
        </p:txBody>
      </p:sp>
      <p:sp>
        <p:nvSpPr>
          <p:cNvPr id="4" name="TEXT 독립 입력은 병렬로 처리하고 필수 결과를 모두 기다린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독립 입력은 병렬로 처리하고 필수 결과를 모두 기다린다.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05"/>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C05</a:t>
            </a:r>
          </a:p>
        </p:txBody>
      </p:sp>
      <p:sp>
        <p:nvSpPr>
          <p:cNvPr id="8" name="TEXT 17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17 / 72</a:t>
            </a:r>
          </a:p>
        </p:txBody>
      </p:sp>
      <p:sp>
        <p:nvSpPr>
          <p:cNvPr id="9" name="TEXT 심화 A05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A05 →</a:t>
            </a:r>
          </a:p>
        </p:txBody>
      </p:sp>
      <p:sp>
        <p:nvSpPr>
          <p:cNvPr id="10" name="Rounded Rectangle 9"/>
          <p:cNvSpPr/>
          <p:nvPr/>
        </p:nvSpPr>
        <p:spPr>
          <a:xfrm>
            <a:off x="731520" y="3593592"/>
            <a:ext cx="1463040" cy="731520"/>
          </a:xfrm>
          <a:prstGeom prst="roundRect">
            <a:avLst>
              <a:gd name="adj" fmla="val 8000"/>
            </a:avLst>
          </a:prstGeom>
          <a:solidFill>
            <a:srgbClr val="E3EFE7"/>
          </a:solidFill>
          <a:ln w="10160">
            <a:solidFill>
              <a:srgbClr val="1268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접수"/>
          <p:cNvSpPr txBox="1"/>
          <p:nvPr/>
        </p:nvSpPr>
        <p:spPr>
          <a:xfrm>
            <a:off x="804672" y="3685032"/>
            <a:ext cx="1316736" cy="603504"/>
          </a:xfrm>
          <a:prstGeom prst="rect">
            <a:avLst/>
          </a:prstGeom>
          <a:noFill/>
        </p:spPr>
        <p:txBody>
          <a:bodyPr wrap="square" lIns="0" rIns="0" tIns="0" bIns="0">
            <a:noAutofit/>
          </a:bodyPr>
          <a:lstStyle/>
          <a:p>
            <a:pPr algn="ctr">
              <a:lnSpc>
                <a:spcPct val="116000"/>
              </a:lnSpc>
              <a:spcBef>
                <a:spcPts val="0"/>
              </a:spcBef>
              <a:spcAft>
                <a:spcPts val="0"/>
              </a:spcAft>
            </a:pPr>
            <a:r>
              <a:rPr sz="1900" b="1">
                <a:solidFill>
                  <a:srgbClr val="126858"/>
                </a:solidFill>
                <a:latin typeface="Noto Sans CJK KR"/>
                <a:ea typeface="Noto Sans CJK KR"/>
                <a:latin typeface="Noto Sans CJK KR"/>
              </a:rPr>
              <a:t>접수</a:t>
            </a:r>
          </a:p>
        </p:txBody>
      </p:sp>
      <p:sp>
        <p:nvSpPr>
          <p:cNvPr id="12" name="Rounded Rectangle 11"/>
          <p:cNvSpPr/>
          <p:nvPr/>
        </p:nvSpPr>
        <p:spPr>
          <a:xfrm>
            <a:off x="2743200" y="2788920"/>
            <a:ext cx="2103120" cy="777240"/>
          </a:xfrm>
          <a:prstGeom prst="roundRect">
            <a:avLst>
              <a:gd name="adj" fmla="val 8000"/>
            </a:avLst>
          </a:prstGeom>
          <a:solidFill>
            <a:srgbClr val="E7EDFB"/>
          </a:solidFill>
          <a:ln w="10160">
            <a:solidFill>
              <a:srgbClr val="345C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Metrics 조사"/>
          <p:cNvSpPr txBox="1"/>
          <p:nvPr/>
        </p:nvSpPr>
        <p:spPr>
          <a:xfrm>
            <a:off x="2816352" y="2880360"/>
            <a:ext cx="1956815" cy="649224"/>
          </a:xfrm>
          <a:prstGeom prst="rect">
            <a:avLst/>
          </a:prstGeom>
          <a:noFill/>
        </p:spPr>
        <p:txBody>
          <a:bodyPr wrap="square" lIns="0" rIns="0" tIns="0" bIns="0">
            <a:noAutofit/>
          </a:bodyPr>
          <a:lstStyle/>
          <a:p>
            <a:pPr algn="ctr">
              <a:lnSpc>
                <a:spcPct val="116000"/>
              </a:lnSpc>
              <a:spcBef>
                <a:spcPts val="0"/>
              </a:spcBef>
              <a:spcAft>
                <a:spcPts val="0"/>
              </a:spcAft>
            </a:pPr>
            <a:r>
              <a:rPr sz="1900" b="1">
                <a:solidFill>
                  <a:srgbClr val="345CB5"/>
                </a:solidFill>
                <a:latin typeface="Noto Sans CJK KR"/>
                <a:ea typeface="Noto Sans CJK KR"/>
                <a:latin typeface="Noto Sans CJK KR"/>
              </a:rPr>
              <a:t>Metrics 조사</a:t>
            </a:r>
          </a:p>
        </p:txBody>
      </p:sp>
      <p:sp>
        <p:nvSpPr>
          <p:cNvPr id="14" name="Rounded Rectangle 13"/>
          <p:cNvSpPr/>
          <p:nvPr/>
        </p:nvSpPr>
        <p:spPr>
          <a:xfrm>
            <a:off x="2743200" y="4361688"/>
            <a:ext cx="2103120" cy="777240"/>
          </a:xfrm>
          <a:prstGeom prst="roundRect">
            <a:avLst>
              <a:gd name="adj" fmla="val 8000"/>
            </a:avLst>
          </a:prstGeom>
          <a:solidFill>
            <a:srgbClr val="E7EDFB"/>
          </a:solidFill>
          <a:ln w="10160">
            <a:solidFill>
              <a:srgbClr val="345C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 Runbook 조사"/>
          <p:cNvSpPr txBox="1"/>
          <p:nvPr/>
        </p:nvSpPr>
        <p:spPr>
          <a:xfrm>
            <a:off x="2816352" y="4453127"/>
            <a:ext cx="1956815" cy="649224"/>
          </a:xfrm>
          <a:prstGeom prst="rect">
            <a:avLst/>
          </a:prstGeom>
          <a:noFill/>
        </p:spPr>
        <p:txBody>
          <a:bodyPr wrap="square" lIns="0" rIns="0" tIns="0" bIns="0">
            <a:noAutofit/>
          </a:bodyPr>
          <a:lstStyle/>
          <a:p>
            <a:pPr algn="ctr">
              <a:lnSpc>
                <a:spcPct val="116000"/>
              </a:lnSpc>
              <a:spcBef>
                <a:spcPts val="0"/>
              </a:spcBef>
              <a:spcAft>
                <a:spcPts val="0"/>
              </a:spcAft>
            </a:pPr>
            <a:r>
              <a:rPr sz="1900" b="1">
                <a:solidFill>
                  <a:srgbClr val="345CB5"/>
                </a:solidFill>
                <a:latin typeface="Noto Sans CJK KR"/>
                <a:ea typeface="Noto Sans CJK KR"/>
                <a:latin typeface="Noto Sans CJK KR"/>
              </a:rPr>
              <a:t>Runbook 조사</a:t>
            </a:r>
          </a:p>
        </p:txBody>
      </p:sp>
      <p:sp>
        <p:nvSpPr>
          <p:cNvPr id="16" name="Rounded Rectangle 15"/>
          <p:cNvSpPr/>
          <p:nvPr/>
        </p:nvSpPr>
        <p:spPr>
          <a:xfrm>
            <a:off x="5486400" y="3593592"/>
            <a:ext cx="1371600" cy="731520"/>
          </a:xfrm>
          <a:prstGeom prst="roundRect">
            <a:avLst>
              <a:gd name="adj" fmla="val 8000"/>
            </a:avLst>
          </a:prstGeom>
          <a:solidFill>
            <a:srgbClr val="E3EFE7"/>
          </a:solidFill>
          <a:ln w="10160">
            <a:solidFill>
              <a:srgbClr val="1268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Gate"/>
          <p:cNvSpPr txBox="1"/>
          <p:nvPr/>
        </p:nvSpPr>
        <p:spPr>
          <a:xfrm>
            <a:off x="5559552" y="3685032"/>
            <a:ext cx="1225296" cy="603504"/>
          </a:xfrm>
          <a:prstGeom prst="rect">
            <a:avLst/>
          </a:prstGeom>
          <a:noFill/>
        </p:spPr>
        <p:txBody>
          <a:bodyPr wrap="square" lIns="0" rIns="0" tIns="0" bIns="0">
            <a:noAutofit/>
          </a:bodyPr>
          <a:lstStyle/>
          <a:p>
            <a:pPr algn="ctr">
              <a:lnSpc>
                <a:spcPct val="116000"/>
              </a:lnSpc>
              <a:spcBef>
                <a:spcPts val="0"/>
              </a:spcBef>
              <a:spcAft>
                <a:spcPts val="0"/>
              </a:spcAft>
            </a:pPr>
            <a:r>
              <a:rPr sz="1900" b="1">
                <a:solidFill>
                  <a:srgbClr val="126858"/>
                </a:solidFill>
                <a:latin typeface="Noto Sans CJK KR"/>
                <a:ea typeface="Noto Sans CJK KR"/>
                <a:latin typeface="Noto Sans CJK KR"/>
              </a:rPr>
              <a:t>Gate</a:t>
            </a:r>
          </a:p>
        </p:txBody>
      </p:sp>
      <p:cxnSp>
        <p:nvCxnSpPr>
          <p:cNvPr id="18" name="Connector 17"/>
          <p:cNvCxnSpPr/>
          <p:nvPr/>
        </p:nvCxnSpPr>
        <p:spPr>
          <a:xfrm flipV="1">
            <a:off x="2194560" y="3182112"/>
            <a:ext cx="548640" cy="777240"/>
          </a:xfrm>
          <a:prstGeom prst="line">
            <a:avLst/>
          </a:prstGeom>
          <a:ln w="21590">
            <a:solidFill>
              <a:srgbClr val="5E6E66"/>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194560" y="3959352"/>
            <a:ext cx="548640" cy="795528"/>
          </a:xfrm>
          <a:prstGeom prst="line">
            <a:avLst/>
          </a:prstGeom>
          <a:ln w="21590">
            <a:solidFill>
              <a:srgbClr val="5E6E66"/>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846320" y="3182112"/>
            <a:ext cx="640080" cy="777240"/>
          </a:xfrm>
          <a:prstGeom prst="line">
            <a:avLst/>
          </a:prstGeom>
          <a:ln w="21590">
            <a:solidFill>
              <a:srgbClr val="5E6E66"/>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4846320" y="3959352"/>
            <a:ext cx="640080" cy="795528"/>
          </a:xfrm>
          <a:prstGeom prst="line">
            <a:avLst/>
          </a:prstGeom>
          <a:ln w="21590">
            <a:solidFill>
              <a:srgbClr val="5E6E66"/>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406640" y="2688336"/>
            <a:ext cx="4160520" cy="2423160"/>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406640" y="2688336"/>
            <a:ext cx="54864" cy="2423160"/>
          </a:xfrm>
          <a:prstGeom prst="rect">
            <a:avLst/>
          </a:prstGeom>
          <a:solidFill>
            <a:srgbClr val="126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 합류의 계약"/>
          <p:cNvSpPr txBox="1"/>
          <p:nvPr/>
        </p:nvSpPr>
        <p:spPr>
          <a:xfrm>
            <a:off x="7607808" y="2871216"/>
            <a:ext cx="3758183"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합류의 계약</a:t>
            </a:r>
          </a:p>
        </p:txBody>
      </p:sp>
      <p:sp>
        <p:nvSpPr>
          <p:cNvPr id="25" name="TEXT 서로 다른 결과 키&#10;필수 조사 모두 완료&#10;실패 상태도 Gate가 판단"/>
          <p:cNvSpPr txBox="1"/>
          <p:nvPr/>
        </p:nvSpPr>
        <p:spPr>
          <a:xfrm>
            <a:off x="7607808" y="3557015"/>
            <a:ext cx="3758183" cy="1417319"/>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72B2A"/>
                </a:solidFill>
                <a:latin typeface="Noto Sans CJK KR"/>
                <a:ea typeface="Noto Sans CJK KR"/>
                <a:latin typeface="Noto Sans CJK KR"/>
              </a:rPr>
              <a:t>서로 다른 결과 키</a:t>
            </a:r>
          </a:p>
          <a:p>
            <a:pPr algn="l">
              <a:lnSpc>
                <a:spcPct val="116000"/>
              </a:lnSpc>
              <a:spcBef>
                <a:spcPts val="0"/>
              </a:spcBef>
              <a:spcAft>
                <a:spcPts val="0"/>
              </a:spcAft>
            </a:pPr>
            <a:r>
              <a:rPr sz="2100" b="0">
                <a:solidFill>
                  <a:srgbClr val="172B2A"/>
                </a:solidFill>
                <a:latin typeface="Noto Sans CJK KR"/>
                <a:ea typeface="Noto Sans CJK KR"/>
                <a:latin typeface="Noto Sans CJK KR"/>
              </a:rPr>
              <a:t>필수 조사 모두 완료</a:t>
            </a:r>
          </a:p>
          <a:p>
            <a:pPr algn="l">
              <a:lnSpc>
                <a:spcPct val="116000"/>
              </a:lnSpc>
              <a:spcBef>
                <a:spcPts val="0"/>
              </a:spcBef>
              <a:spcAft>
                <a:spcPts val="0"/>
              </a:spcAft>
            </a:pPr>
            <a:r>
              <a:rPr sz="2100" b="0">
                <a:solidFill>
                  <a:srgbClr val="172B2A"/>
                </a:solidFill>
                <a:latin typeface="Noto Sans CJK KR"/>
                <a:ea typeface="Noto Sans CJK KR"/>
                <a:latin typeface="Noto Sans CJK KR"/>
              </a:rPr>
              <a:t>실패 상태도 Gate가 판단</a:t>
            </a:r>
          </a:p>
        </p:txBody>
      </p:sp>
      <p:sp>
        <p:nvSpPr>
          <p:cNvPr id="26" name="Rounded Rectangle 25"/>
          <p:cNvSpPr/>
          <p:nvPr/>
        </p:nvSpPr>
        <p:spPr>
          <a:xfrm>
            <a:off x="731520" y="5486400"/>
            <a:ext cx="10817352" cy="548640"/>
          </a:xfrm>
          <a:prstGeom prst="roundRect">
            <a:avLst>
              <a:gd name="adj" fmla="val 8000"/>
            </a:avLst>
          </a:prstGeom>
          <a:solidFill>
            <a:srgbClr val="1636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 add_edge([&quot;metrics&quot;, &quot;runbook&quot;], &quot;gate&quot;)"/>
          <p:cNvSpPr txBox="1"/>
          <p:nvPr/>
        </p:nvSpPr>
        <p:spPr>
          <a:xfrm>
            <a:off x="914400" y="5623560"/>
            <a:ext cx="10451592" cy="274320"/>
          </a:xfrm>
          <a:prstGeom prst="rect">
            <a:avLst/>
          </a:prstGeom>
          <a:noFill/>
        </p:spPr>
        <p:txBody>
          <a:bodyPr wrap="square" lIns="0" rIns="0" tIns="0" bIns="0">
            <a:noAutofit/>
          </a:bodyPr>
          <a:lstStyle/>
          <a:p>
            <a:pPr algn="l">
              <a:lnSpc>
                <a:spcPct val="116000"/>
              </a:lnSpc>
              <a:spcBef>
                <a:spcPts val="0"/>
              </a:spcBef>
              <a:spcAft>
                <a:spcPts val="0"/>
              </a:spcAft>
            </a:pPr>
            <a:r>
              <a:rPr sz="1900" b="0">
                <a:solidFill>
                  <a:srgbClr val="FFFFFF"/>
                </a:solidFill>
                <a:latin typeface="DejaVu Sans Mono"/>
                <a:ea typeface="DejaVu Sans Mono"/>
                <a:latin typeface="DejaVu Sans Mono"/>
              </a:rPr>
              <a:t>add_edge(["metrics", "runbook"], "gate")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1  /  원리와 실행 구조"/>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1  /  원리와 실행 구조</a:t>
            </a:r>
          </a:p>
        </p:txBody>
      </p:sp>
      <p:sp>
        <p:nvSpPr>
          <p:cNvPr id="3" name="TEXT Multi-Agent의 선택 기준"/>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Multi-Agent의 선택 기준</a:t>
            </a:r>
          </a:p>
        </p:txBody>
      </p:sp>
      <p:sp>
        <p:nvSpPr>
          <p:cNvPr id="4" name="TEXT 역할 분리의 이익이 호출·Context·합류 비용보다 큰지 판단한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역할 분리의 이익이 호출·Context·합류 비용보다 큰지 판단한다.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01"/>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C01</a:t>
            </a:r>
          </a:p>
        </p:txBody>
      </p:sp>
      <p:sp>
        <p:nvSpPr>
          <p:cNvPr id="8" name="TEXT 18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18 / 72</a:t>
            </a:r>
          </a:p>
        </p:txBody>
      </p:sp>
      <p:sp>
        <p:nvSpPr>
          <p:cNvPr id="9" name="TEXT 심화 A02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A02 →</a:t>
            </a:r>
          </a:p>
        </p:txBody>
      </p:sp>
      <p:sp>
        <p:nvSpPr>
          <p:cNvPr id="10" name="Rounded Rectangle 9"/>
          <p:cNvSpPr/>
          <p:nvPr/>
        </p:nvSpPr>
        <p:spPr>
          <a:xfrm>
            <a:off x="594360" y="2606040"/>
            <a:ext cx="5376672" cy="3364992"/>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2606040"/>
            <a:ext cx="54864" cy="3364992"/>
          </a:xfrm>
          <a:prstGeom prst="rect">
            <a:avLst/>
          </a:prstGeom>
          <a:solidFill>
            <a:srgbClr val="126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분리가 도움이 되는 때"/>
          <p:cNvSpPr txBox="1"/>
          <p:nvPr/>
        </p:nvSpPr>
        <p:spPr>
          <a:xfrm>
            <a:off x="795528" y="2788920"/>
            <a:ext cx="497433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분리가 도움이 되는 때</a:t>
            </a:r>
          </a:p>
        </p:txBody>
      </p:sp>
      <p:sp>
        <p:nvSpPr>
          <p:cNvPr id="13" name="TEXT "/>
          <p:cNvSpPr txBox="1"/>
          <p:nvPr/>
        </p:nvSpPr>
        <p:spPr>
          <a:xfrm>
            <a:off x="795528" y="3474720"/>
            <a:ext cx="4974336" cy="2359152"/>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a:r>
          </a:p>
        </p:txBody>
      </p:sp>
      <p:sp>
        <p:nvSpPr>
          <p:cNvPr id="14" name="TEXT • 도구와 권한이 다르다"/>
          <p:cNvSpPr txBox="1"/>
          <p:nvPr/>
        </p:nvSpPr>
        <p:spPr>
          <a:xfrm>
            <a:off x="822960" y="3511296"/>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도구와 권한이 다르다</a:t>
            </a:r>
          </a:p>
        </p:txBody>
      </p:sp>
      <p:sp>
        <p:nvSpPr>
          <p:cNvPr id="15" name="TEXT • 입력·평가 기준이 다르다"/>
          <p:cNvSpPr txBox="1"/>
          <p:nvPr/>
        </p:nvSpPr>
        <p:spPr>
          <a:xfrm>
            <a:off x="822960" y="4206240"/>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입력·평가 기준이 다르다</a:t>
            </a:r>
          </a:p>
        </p:txBody>
      </p:sp>
      <p:sp>
        <p:nvSpPr>
          <p:cNvPr id="16" name="TEXT • 독립적으로 조사할 수 있다"/>
          <p:cNvSpPr txBox="1"/>
          <p:nvPr/>
        </p:nvSpPr>
        <p:spPr>
          <a:xfrm>
            <a:off x="822960" y="4901183"/>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독립적으로 조사할 수 있다</a:t>
            </a:r>
          </a:p>
        </p:txBody>
      </p:sp>
      <p:sp>
        <p:nvSpPr>
          <p:cNvPr id="17" name="Rounded Rectangle 16"/>
          <p:cNvSpPr/>
          <p:nvPr/>
        </p:nvSpPr>
        <p:spPr>
          <a:xfrm>
            <a:off x="6217920" y="2606040"/>
            <a:ext cx="5376672" cy="3364992"/>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2606040"/>
            <a:ext cx="54864" cy="3364992"/>
          </a:xfrm>
          <a:prstGeom prst="rect">
            <a:avLst/>
          </a:prstGeom>
          <a:solidFill>
            <a:srgbClr val="AD5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늘어나는 비용"/>
          <p:cNvSpPr txBox="1"/>
          <p:nvPr/>
        </p:nvSpPr>
        <p:spPr>
          <a:xfrm>
            <a:off x="6419088" y="2788920"/>
            <a:ext cx="497433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AD572B"/>
                </a:solidFill>
                <a:latin typeface="Noto Sans CJK KR"/>
                <a:ea typeface="Noto Sans CJK KR"/>
                <a:latin typeface="Noto Sans CJK KR"/>
              </a:rPr>
              <a:t>늘어나는 비용</a:t>
            </a:r>
          </a:p>
        </p:txBody>
      </p:sp>
      <p:sp>
        <p:nvSpPr>
          <p:cNvPr id="20" name="TEXT "/>
          <p:cNvSpPr txBox="1"/>
          <p:nvPr/>
        </p:nvSpPr>
        <p:spPr>
          <a:xfrm>
            <a:off x="6419088" y="3474720"/>
            <a:ext cx="4974336" cy="2359152"/>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a:r>
          </a:p>
        </p:txBody>
      </p:sp>
      <p:sp>
        <p:nvSpPr>
          <p:cNvPr id="21" name="TEXT • 모델 호출과 지연"/>
          <p:cNvSpPr txBox="1"/>
          <p:nvPr/>
        </p:nvSpPr>
        <p:spPr>
          <a:xfrm>
            <a:off x="6446520" y="3511296"/>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모델 호출과 지연</a:t>
            </a:r>
          </a:p>
        </p:txBody>
      </p:sp>
      <p:sp>
        <p:nvSpPr>
          <p:cNvPr id="22" name="TEXT • 결과 계약·Context 전달"/>
          <p:cNvSpPr txBox="1"/>
          <p:nvPr/>
        </p:nvSpPr>
        <p:spPr>
          <a:xfrm>
            <a:off x="6446520" y="4206240"/>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결과 계약·Context 전달</a:t>
            </a:r>
          </a:p>
        </p:txBody>
      </p:sp>
      <p:sp>
        <p:nvSpPr>
          <p:cNvPr id="23" name="TEXT • 충돌 해결·오류 추적"/>
          <p:cNvSpPr txBox="1"/>
          <p:nvPr/>
        </p:nvSpPr>
        <p:spPr>
          <a:xfrm>
            <a:off x="6446520" y="4901183"/>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충돌 해결·오류 추적</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1  /  원리와 실행 구조"/>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1  /  원리와 실행 구조</a:t>
            </a:r>
          </a:p>
        </p:txBody>
      </p:sp>
      <p:sp>
        <p:nvSpPr>
          <p:cNvPr id="3" name="TEXT 실습 1 · State 설계"/>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실습 1 · State 설계</a:t>
            </a:r>
          </a:p>
        </p:txBody>
      </p:sp>
      <p:sp>
        <p:nvSpPr>
          <p:cNvPr id="4" name="TEXT 요구사항을 필드 계약과 5–7개 Node의 Graph로 바꾼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요구사항을 필드 계약과 5–7개 Node의 Graph로 바꾼다.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04·C05"/>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C04·C05</a:t>
            </a:r>
          </a:p>
        </p:txBody>
      </p:sp>
      <p:sp>
        <p:nvSpPr>
          <p:cNvPr id="8" name="TEXT 19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19 / 72</a:t>
            </a:r>
          </a:p>
        </p:txBody>
      </p:sp>
      <p:sp>
        <p:nvSpPr>
          <p:cNvPr id="9" name="TEXT 심화 A04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A04 →</a:t>
            </a:r>
          </a:p>
        </p:txBody>
      </p:sp>
      <p:sp>
        <p:nvSpPr>
          <p:cNvPr id="10" name="Rounded Rectangle 9"/>
          <p:cNvSpPr/>
          <p:nvPr/>
        </p:nvSpPr>
        <p:spPr>
          <a:xfrm>
            <a:off x="594360" y="2660904"/>
            <a:ext cx="3547872" cy="1426464"/>
          </a:xfrm>
          <a:prstGeom prst="roundRect">
            <a:avLst>
              <a:gd name="adj" fmla="val 8000"/>
            </a:avLst>
          </a:prstGeom>
          <a:solidFill>
            <a:srgbClr val="E3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0–8분"/>
          <p:cNvSpPr txBox="1"/>
          <p:nvPr/>
        </p:nvSpPr>
        <p:spPr>
          <a:xfrm>
            <a:off x="777240" y="2816352"/>
            <a:ext cx="3182112" cy="365760"/>
          </a:xfrm>
          <a:prstGeom prst="rect">
            <a:avLst/>
          </a:prstGeom>
          <a:noFill/>
        </p:spPr>
        <p:txBody>
          <a:bodyPr wrap="square" lIns="0" rIns="0" tIns="0" bIns="0">
            <a:noAutofit/>
          </a:bodyPr>
          <a:lstStyle/>
          <a:p>
            <a:pPr algn="l">
              <a:lnSpc>
                <a:spcPct val="116000"/>
              </a:lnSpc>
              <a:spcBef>
                <a:spcPts val="0"/>
              </a:spcBef>
              <a:spcAft>
                <a:spcPts val="0"/>
              </a:spcAft>
            </a:pPr>
            <a:r>
              <a:rPr sz="2300" b="1">
                <a:solidFill>
                  <a:srgbClr val="126858"/>
                </a:solidFill>
                <a:latin typeface="Noto Sans CJK KR"/>
                <a:ea typeface="Noto Sans CJK KR"/>
                <a:latin typeface="Noto Sans CJK KR"/>
              </a:rPr>
              <a:t>0–8분</a:t>
            </a:r>
          </a:p>
        </p:txBody>
      </p:sp>
      <p:sp>
        <p:nvSpPr>
          <p:cNvPr id="12" name="TEXT 입력·결과 필드 나누기"/>
          <p:cNvSpPr txBox="1"/>
          <p:nvPr/>
        </p:nvSpPr>
        <p:spPr>
          <a:xfrm>
            <a:off x="777240" y="3374136"/>
            <a:ext cx="3182112" cy="502920"/>
          </a:xfrm>
          <a:prstGeom prst="rect">
            <a:avLst/>
          </a:prstGeom>
          <a:noFill/>
        </p:spPr>
        <p:txBody>
          <a:bodyPr wrap="square" lIns="0" rIns="0" tIns="0" bIns="0">
            <a:noAutofit/>
          </a:bodyPr>
          <a:lstStyle/>
          <a:p>
            <a:pPr algn="l">
              <a:lnSpc>
                <a:spcPct val="116000"/>
              </a:lnSpc>
              <a:spcBef>
                <a:spcPts val="0"/>
              </a:spcBef>
              <a:spcAft>
                <a:spcPts val="0"/>
              </a:spcAft>
            </a:pPr>
            <a:r>
              <a:rPr sz="2000" b="0">
                <a:solidFill>
                  <a:srgbClr val="172B2A"/>
                </a:solidFill>
                <a:latin typeface="Noto Sans CJK KR"/>
                <a:ea typeface="Noto Sans CJK KR"/>
                <a:latin typeface="Noto Sans CJK KR"/>
              </a:rPr>
              <a:t>입력·결과 필드 나누기</a:t>
            </a:r>
          </a:p>
        </p:txBody>
      </p:sp>
      <p:sp>
        <p:nvSpPr>
          <p:cNvPr id="13" name="Rounded Rectangle 12"/>
          <p:cNvSpPr/>
          <p:nvPr/>
        </p:nvSpPr>
        <p:spPr>
          <a:xfrm>
            <a:off x="4315968" y="2660904"/>
            <a:ext cx="3547872" cy="1426464"/>
          </a:xfrm>
          <a:prstGeom prst="roundRect">
            <a:avLst>
              <a:gd name="adj" fmla="val 8000"/>
            </a:avLst>
          </a:prstGeom>
          <a:solidFill>
            <a:srgbClr val="E3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8–20분"/>
          <p:cNvSpPr txBox="1"/>
          <p:nvPr/>
        </p:nvSpPr>
        <p:spPr>
          <a:xfrm>
            <a:off x="4498848" y="2816352"/>
            <a:ext cx="3182112" cy="365760"/>
          </a:xfrm>
          <a:prstGeom prst="rect">
            <a:avLst/>
          </a:prstGeom>
          <a:noFill/>
        </p:spPr>
        <p:txBody>
          <a:bodyPr wrap="square" lIns="0" rIns="0" tIns="0" bIns="0">
            <a:noAutofit/>
          </a:bodyPr>
          <a:lstStyle/>
          <a:p>
            <a:pPr algn="l">
              <a:lnSpc>
                <a:spcPct val="116000"/>
              </a:lnSpc>
              <a:spcBef>
                <a:spcPts val="0"/>
              </a:spcBef>
              <a:spcAft>
                <a:spcPts val="0"/>
              </a:spcAft>
            </a:pPr>
            <a:r>
              <a:rPr sz="2300" b="1">
                <a:solidFill>
                  <a:srgbClr val="126858"/>
                </a:solidFill>
                <a:latin typeface="Noto Sans CJK KR"/>
                <a:ea typeface="Noto Sans CJK KR"/>
                <a:latin typeface="Noto Sans CJK KR"/>
              </a:rPr>
              <a:t>8–20분</a:t>
            </a:r>
          </a:p>
        </p:txBody>
      </p:sp>
      <p:sp>
        <p:nvSpPr>
          <p:cNvPr id="15" name="TEXT 작성·읽기 Node 지정"/>
          <p:cNvSpPr txBox="1"/>
          <p:nvPr/>
        </p:nvSpPr>
        <p:spPr>
          <a:xfrm>
            <a:off x="4498848" y="3374136"/>
            <a:ext cx="3182112" cy="502920"/>
          </a:xfrm>
          <a:prstGeom prst="rect">
            <a:avLst/>
          </a:prstGeom>
          <a:noFill/>
        </p:spPr>
        <p:txBody>
          <a:bodyPr wrap="square" lIns="0" rIns="0" tIns="0" bIns="0">
            <a:noAutofit/>
          </a:bodyPr>
          <a:lstStyle/>
          <a:p>
            <a:pPr algn="l">
              <a:lnSpc>
                <a:spcPct val="116000"/>
              </a:lnSpc>
              <a:spcBef>
                <a:spcPts val="0"/>
              </a:spcBef>
              <a:spcAft>
                <a:spcPts val="0"/>
              </a:spcAft>
            </a:pPr>
            <a:r>
              <a:rPr sz="2000" b="0">
                <a:solidFill>
                  <a:srgbClr val="172B2A"/>
                </a:solidFill>
                <a:latin typeface="Noto Sans CJK KR"/>
                <a:ea typeface="Noto Sans CJK KR"/>
                <a:latin typeface="Noto Sans CJK KR"/>
              </a:rPr>
              <a:t>작성·읽기 Node 지정</a:t>
            </a:r>
          </a:p>
        </p:txBody>
      </p:sp>
      <p:sp>
        <p:nvSpPr>
          <p:cNvPr id="16" name="Rounded Rectangle 15"/>
          <p:cNvSpPr/>
          <p:nvPr/>
        </p:nvSpPr>
        <p:spPr>
          <a:xfrm>
            <a:off x="8037576" y="2660904"/>
            <a:ext cx="3547872" cy="1426464"/>
          </a:xfrm>
          <a:prstGeom prst="roundRect">
            <a:avLst>
              <a:gd name="adj" fmla="val 8000"/>
            </a:avLst>
          </a:prstGeom>
          <a:solidFill>
            <a:srgbClr val="E3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20–30분"/>
          <p:cNvSpPr txBox="1"/>
          <p:nvPr/>
        </p:nvSpPr>
        <p:spPr>
          <a:xfrm>
            <a:off x="8220456" y="2816352"/>
            <a:ext cx="3182112" cy="365760"/>
          </a:xfrm>
          <a:prstGeom prst="rect">
            <a:avLst/>
          </a:prstGeom>
          <a:noFill/>
        </p:spPr>
        <p:txBody>
          <a:bodyPr wrap="square" lIns="0" rIns="0" tIns="0" bIns="0">
            <a:noAutofit/>
          </a:bodyPr>
          <a:lstStyle/>
          <a:p>
            <a:pPr algn="l">
              <a:lnSpc>
                <a:spcPct val="116000"/>
              </a:lnSpc>
              <a:spcBef>
                <a:spcPts val="0"/>
              </a:spcBef>
              <a:spcAft>
                <a:spcPts val="0"/>
              </a:spcAft>
            </a:pPr>
            <a:r>
              <a:rPr sz="2300" b="1">
                <a:solidFill>
                  <a:srgbClr val="126858"/>
                </a:solidFill>
                <a:latin typeface="Noto Sans CJK KR"/>
                <a:ea typeface="Noto Sans CJK KR"/>
                <a:latin typeface="Noto Sans CJK KR"/>
              </a:rPr>
              <a:t>20–30분</a:t>
            </a:r>
          </a:p>
        </p:txBody>
      </p:sp>
      <p:sp>
        <p:nvSpPr>
          <p:cNvPr id="18" name="TEXT 병렬 충돌·저장 검토"/>
          <p:cNvSpPr txBox="1"/>
          <p:nvPr/>
        </p:nvSpPr>
        <p:spPr>
          <a:xfrm>
            <a:off x="8220456" y="3374136"/>
            <a:ext cx="3182112" cy="502920"/>
          </a:xfrm>
          <a:prstGeom prst="rect">
            <a:avLst/>
          </a:prstGeom>
          <a:noFill/>
        </p:spPr>
        <p:txBody>
          <a:bodyPr wrap="square" lIns="0" rIns="0" tIns="0" bIns="0">
            <a:noAutofit/>
          </a:bodyPr>
          <a:lstStyle/>
          <a:p>
            <a:pPr algn="l">
              <a:lnSpc>
                <a:spcPct val="116000"/>
              </a:lnSpc>
              <a:spcBef>
                <a:spcPts val="0"/>
              </a:spcBef>
              <a:spcAft>
                <a:spcPts val="0"/>
              </a:spcAft>
            </a:pPr>
            <a:r>
              <a:rPr sz="2000" b="0">
                <a:solidFill>
                  <a:srgbClr val="172B2A"/>
                </a:solidFill>
                <a:latin typeface="Noto Sans CJK KR"/>
                <a:ea typeface="Noto Sans CJK KR"/>
                <a:latin typeface="Noto Sans CJK KR"/>
              </a:rPr>
              <a:t>병렬 충돌·저장 검토</a:t>
            </a:r>
          </a:p>
        </p:txBody>
      </p:sp>
      <p:sp>
        <p:nvSpPr>
          <p:cNvPr id="19" name="TEXT 제출: State 계약표 + Graph 스케치"/>
          <p:cNvSpPr txBox="1"/>
          <p:nvPr/>
        </p:nvSpPr>
        <p:spPr>
          <a:xfrm>
            <a:off x="731520" y="4443984"/>
            <a:ext cx="10789920" cy="530352"/>
          </a:xfrm>
          <a:prstGeom prst="rect">
            <a:avLst/>
          </a:prstGeom>
          <a:noFill/>
        </p:spPr>
        <p:txBody>
          <a:bodyPr wrap="square" lIns="0" rIns="0" tIns="0" bIns="0">
            <a:noAutofit/>
          </a:bodyPr>
          <a:lstStyle/>
          <a:p>
            <a:pPr algn="l">
              <a:lnSpc>
                <a:spcPct val="116000"/>
              </a:lnSpc>
              <a:spcBef>
                <a:spcPts val="0"/>
              </a:spcBef>
              <a:spcAft>
                <a:spcPts val="0"/>
              </a:spcAft>
            </a:pPr>
            <a:r>
              <a:rPr sz="2500" b="1">
                <a:solidFill>
                  <a:srgbClr val="172B2A"/>
                </a:solidFill>
                <a:latin typeface="Noto Sans CJK KR"/>
                <a:ea typeface="Noto Sans CJK KR"/>
                <a:latin typeface="Noto Sans CJK KR"/>
              </a:rPr>
              <a:t>제출: State 계약표 + Graph 스케치</a:t>
            </a:r>
          </a:p>
        </p:txBody>
      </p:sp>
      <p:sp>
        <p:nvSpPr>
          <p:cNvPr id="20" name="TEXT ✓ 필수·선택·미실행·실패를 구분한다&#10;✓ 병렬 키 충돌과 런타임 객체 저장을 피한"/>
          <p:cNvSpPr txBox="1"/>
          <p:nvPr/>
        </p:nvSpPr>
        <p:spPr>
          <a:xfrm>
            <a:off x="731520" y="5166360"/>
            <a:ext cx="10789920" cy="822960"/>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 필수·선택·미실행·실패를 구분한다</a:t>
            </a:r>
          </a:p>
          <a:p>
            <a:pPr algn="l">
              <a:lnSpc>
                <a:spcPct val="116000"/>
              </a:lnSpc>
              <a:spcBef>
                <a:spcPts val="0"/>
              </a:spcBef>
              <a:spcAft>
                <a:spcPts val="0"/>
              </a:spcAft>
            </a:pPr>
            <a:r>
              <a:rPr sz="2100" b="0">
                <a:solidFill>
                  <a:srgbClr val="126858"/>
                </a:solidFill>
                <a:latin typeface="Noto Sans CJK KR"/>
                <a:ea typeface="Noto Sans CJK KR"/>
                <a:latin typeface="Noto Sans CJK KR"/>
              </a:rPr>
              <a:t>✓ 병렬 키 충돌과 런타임 객체 저장을 피한다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1  /  원리와 실행 구조"/>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1  /  원리와 실행 구조</a:t>
            </a:r>
          </a:p>
        </p:txBody>
      </p:sp>
      <p:sp>
        <p:nvSpPr>
          <p:cNvPr id="3" name="TEXT 1회차 점검"/>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1회차 점검</a:t>
            </a:r>
          </a:p>
        </p:txBody>
      </p:sp>
      <p:sp>
        <p:nvSpPr>
          <p:cNvPr id="4" name="TEXT 각 필드의 책임과 실행 통제 위치를 설명한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각 필드의 책임과 실행 통제 위치를 설명한다.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01–C05"/>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C01–C05</a:t>
            </a:r>
          </a:p>
        </p:txBody>
      </p:sp>
      <p:sp>
        <p:nvSpPr>
          <p:cNvPr id="8" name="TEXT 20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20 / 72</a:t>
            </a:r>
          </a:p>
        </p:txBody>
      </p:sp>
      <p:sp>
        <p:nvSpPr>
          <p:cNvPr id="9" name="TEXT 심화 A01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A01 →</a:t>
            </a:r>
          </a:p>
        </p:txBody>
      </p:sp>
      <p:sp>
        <p:nvSpPr>
          <p:cNvPr id="10" name="Rounded Rectangle 9"/>
          <p:cNvSpPr/>
          <p:nvPr/>
        </p:nvSpPr>
        <p:spPr>
          <a:xfrm>
            <a:off x="594360" y="2596896"/>
            <a:ext cx="11000232" cy="914400"/>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01"/>
          <p:cNvSpPr txBox="1"/>
          <p:nvPr/>
        </p:nvSpPr>
        <p:spPr>
          <a:xfrm>
            <a:off x="822960" y="2779776"/>
            <a:ext cx="566928" cy="411480"/>
          </a:xfrm>
          <a:prstGeom prst="rect">
            <a:avLst/>
          </a:prstGeom>
          <a:noFill/>
        </p:spPr>
        <p:txBody>
          <a:bodyPr wrap="square" lIns="0" rIns="0" tIns="0" bIns="0">
            <a:noAutofit/>
          </a:bodyPr>
          <a:lstStyle/>
          <a:p>
            <a:pPr algn="l">
              <a:lnSpc>
                <a:spcPct val="116000"/>
              </a:lnSpc>
              <a:spcBef>
                <a:spcPts val="0"/>
              </a:spcBef>
              <a:spcAft>
                <a:spcPts val="0"/>
              </a:spcAft>
            </a:pPr>
            <a:r>
              <a:rPr sz="2300" b="1">
                <a:solidFill>
                  <a:srgbClr val="126858"/>
                </a:solidFill>
                <a:latin typeface="Noto Sans CJK KR"/>
                <a:ea typeface="Noto Sans CJK KR"/>
                <a:latin typeface="Noto Sans CJK KR"/>
              </a:rPr>
              <a:t>01</a:t>
            </a:r>
          </a:p>
        </p:txBody>
      </p:sp>
      <p:sp>
        <p:nvSpPr>
          <p:cNvPr id="12" name="TEXT 모델의 Tool 요청과 실제 실행은 무엇이 다른가?"/>
          <p:cNvSpPr txBox="1"/>
          <p:nvPr/>
        </p:nvSpPr>
        <p:spPr>
          <a:xfrm>
            <a:off x="1517904" y="2752344"/>
            <a:ext cx="9692640" cy="621792"/>
          </a:xfrm>
          <a:prstGeom prst="rect">
            <a:avLst/>
          </a:prstGeom>
          <a:noFill/>
        </p:spPr>
        <p:txBody>
          <a:bodyPr wrap="square" lIns="0" rIns="0" tIns="0" bIns="0">
            <a:noAutofit/>
          </a:bodyPr>
          <a:lstStyle/>
          <a:p>
            <a:pPr algn="l">
              <a:lnSpc>
                <a:spcPct val="116000"/>
              </a:lnSpc>
              <a:spcBef>
                <a:spcPts val="0"/>
              </a:spcBef>
              <a:spcAft>
                <a:spcPts val="0"/>
              </a:spcAft>
            </a:pPr>
            <a:r>
              <a:rPr sz="2300" b="0">
                <a:solidFill>
                  <a:srgbClr val="172B2A"/>
                </a:solidFill>
                <a:latin typeface="Noto Sans CJK KR"/>
                <a:ea typeface="Noto Sans CJK KR"/>
                <a:latin typeface="Noto Sans CJK KR"/>
              </a:rPr>
              <a:t>모델의 Tool 요청과 실제 실행은 무엇이 다른가?</a:t>
            </a:r>
          </a:p>
        </p:txBody>
      </p:sp>
      <p:sp>
        <p:nvSpPr>
          <p:cNvPr id="13" name="Rounded Rectangle 12"/>
          <p:cNvSpPr/>
          <p:nvPr/>
        </p:nvSpPr>
        <p:spPr>
          <a:xfrm>
            <a:off x="594360" y="3639311"/>
            <a:ext cx="11000232" cy="914400"/>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02"/>
          <p:cNvSpPr txBox="1"/>
          <p:nvPr/>
        </p:nvSpPr>
        <p:spPr>
          <a:xfrm>
            <a:off x="822960" y="3822191"/>
            <a:ext cx="566928" cy="411480"/>
          </a:xfrm>
          <a:prstGeom prst="rect">
            <a:avLst/>
          </a:prstGeom>
          <a:noFill/>
        </p:spPr>
        <p:txBody>
          <a:bodyPr wrap="square" lIns="0" rIns="0" tIns="0" bIns="0">
            <a:noAutofit/>
          </a:bodyPr>
          <a:lstStyle/>
          <a:p>
            <a:pPr algn="l">
              <a:lnSpc>
                <a:spcPct val="116000"/>
              </a:lnSpc>
              <a:spcBef>
                <a:spcPts val="0"/>
              </a:spcBef>
              <a:spcAft>
                <a:spcPts val="0"/>
              </a:spcAft>
            </a:pPr>
            <a:r>
              <a:rPr sz="2300" b="1">
                <a:solidFill>
                  <a:srgbClr val="126858"/>
                </a:solidFill>
                <a:latin typeface="Noto Sans CJK KR"/>
                <a:ea typeface="Noto Sans CJK KR"/>
                <a:latin typeface="Noto Sans CJK KR"/>
              </a:rPr>
              <a:t>02</a:t>
            </a:r>
          </a:p>
        </p:txBody>
      </p:sp>
      <p:sp>
        <p:nvSpPr>
          <p:cNvPr id="15" name="TEXT 병렬 조사에서 같은 키를 쓰면 어떻게 해결하는가?"/>
          <p:cNvSpPr txBox="1"/>
          <p:nvPr/>
        </p:nvSpPr>
        <p:spPr>
          <a:xfrm>
            <a:off x="1517904" y="3794759"/>
            <a:ext cx="9692640" cy="621792"/>
          </a:xfrm>
          <a:prstGeom prst="rect">
            <a:avLst/>
          </a:prstGeom>
          <a:noFill/>
        </p:spPr>
        <p:txBody>
          <a:bodyPr wrap="square" lIns="0" rIns="0" tIns="0" bIns="0">
            <a:noAutofit/>
          </a:bodyPr>
          <a:lstStyle/>
          <a:p>
            <a:pPr algn="l">
              <a:lnSpc>
                <a:spcPct val="116000"/>
              </a:lnSpc>
              <a:spcBef>
                <a:spcPts val="0"/>
              </a:spcBef>
              <a:spcAft>
                <a:spcPts val="0"/>
              </a:spcAft>
            </a:pPr>
            <a:r>
              <a:rPr sz="2300" b="0">
                <a:solidFill>
                  <a:srgbClr val="172B2A"/>
                </a:solidFill>
                <a:latin typeface="Noto Sans CJK KR"/>
                <a:ea typeface="Noto Sans CJK KR"/>
                <a:latin typeface="Noto Sans CJK KR"/>
              </a:rPr>
              <a:t>병렬 조사에서 같은 키를 쓰면 어떻게 해결하는가?</a:t>
            </a:r>
          </a:p>
        </p:txBody>
      </p:sp>
      <p:sp>
        <p:nvSpPr>
          <p:cNvPr id="16" name="Rounded Rectangle 15"/>
          <p:cNvSpPr/>
          <p:nvPr/>
        </p:nvSpPr>
        <p:spPr>
          <a:xfrm>
            <a:off x="594360" y="4681727"/>
            <a:ext cx="11000232" cy="914400"/>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03"/>
          <p:cNvSpPr txBox="1"/>
          <p:nvPr/>
        </p:nvSpPr>
        <p:spPr>
          <a:xfrm>
            <a:off x="822960" y="4864607"/>
            <a:ext cx="566928" cy="411480"/>
          </a:xfrm>
          <a:prstGeom prst="rect">
            <a:avLst/>
          </a:prstGeom>
          <a:noFill/>
        </p:spPr>
        <p:txBody>
          <a:bodyPr wrap="square" lIns="0" rIns="0" tIns="0" bIns="0">
            <a:noAutofit/>
          </a:bodyPr>
          <a:lstStyle/>
          <a:p>
            <a:pPr algn="l">
              <a:lnSpc>
                <a:spcPct val="116000"/>
              </a:lnSpc>
              <a:spcBef>
                <a:spcPts val="0"/>
              </a:spcBef>
              <a:spcAft>
                <a:spcPts val="0"/>
              </a:spcAft>
            </a:pPr>
            <a:r>
              <a:rPr sz="2300" b="1">
                <a:solidFill>
                  <a:srgbClr val="126858"/>
                </a:solidFill>
                <a:latin typeface="Noto Sans CJK KR"/>
                <a:ea typeface="Noto Sans CJK KR"/>
                <a:latin typeface="Noto Sans CJK KR"/>
              </a:rPr>
              <a:t>03</a:t>
            </a:r>
          </a:p>
        </p:txBody>
      </p:sp>
      <p:sp>
        <p:nvSpPr>
          <p:cNvPr id="18" name="TEXT TypedDict와 런타임 validation은 어떤 차이가 있는가?"/>
          <p:cNvSpPr txBox="1"/>
          <p:nvPr/>
        </p:nvSpPr>
        <p:spPr>
          <a:xfrm>
            <a:off x="1517904" y="4837175"/>
            <a:ext cx="9692640" cy="621792"/>
          </a:xfrm>
          <a:prstGeom prst="rect">
            <a:avLst/>
          </a:prstGeom>
          <a:noFill/>
        </p:spPr>
        <p:txBody>
          <a:bodyPr wrap="square" lIns="0" rIns="0" tIns="0" bIns="0">
            <a:noAutofit/>
          </a:bodyPr>
          <a:lstStyle/>
          <a:p>
            <a:pPr algn="l">
              <a:lnSpc>
                <a:spcPct val="116000"/>
              </a:lnSpc>
              <a:spcBef>
                <a:spcPts val="0"/>
              </a:spcBef>
              <a:spcAft>
                <a:spcPts val="0"/>
              </a:spcAft>
            </a:pPr>
            <a:r>
              <a:rPr sz="2300" b="0">
                <a:solidFill>
                  <a:srgbClr val="172B2A"/>
                </a:solidFill>
                <a:latin typeface="Noto Sans CJK KR"/>
                <a:ea typeface="Noto Sans CJK KR"/>
                <a:latin typeface="Noto Sans CJK KR"/>
              </a:rPr>
              <a:t>TypedDict와 런타임 validation은 어떤 차이가 있는가?</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2  /  근거·승인·복구"/>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2  /  근거·승인·복구</a:t>
            </a:r>
          </a:p>
        </p:txBody>
      </p:sp>
      <p:sp>
        <p:nvSpPr>
          <p:cNvPr id="3" name="TEXT 업무 지식과 검색"/>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업무 지식과 검색</a:t>
            </a:r>
          </a:p>
        </p:txBody>
      </p:sp>
      <p:sp>
        <p:nvSpPr>
          <p:cNvPr id="4" name="TEXT 모델이 모르는 현재 업무 근거를 외부 문서에서 찾는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모델이 모르는 현재 업무 근거를 외부 문서에서 찾는다.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06"/>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C06</a:t>
            </a:r>
          </a:p>
        </p:txBody>
      </p:sp>
      <p:sp>
        <p:nvSpPr>
          <p:cNvPr id="8" name="TEXT 21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21 / 72</a:t>
            </a:r>
          </a:p>
        </p:txBody>
      </p:sp>
      <p:sp>
        <p:nvSpPr>
          <p:cNvPr id="9" name="TEXT 심화 A06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A06 →</a:t>
            </a:r>
          </a:p>
        </p:txBody>
      </p:sp>
      <p:sp>
        <p:nvSpPr>
          <p:cNvPr id="10" name="Rounded Rectangle 9"/>
          <p:cNvSpPr/>
          <p:nvPr/>
        </p:nvSpPr>
        <p:spPr>
          <a:xfrm>
            <a:off x="594360" y="2660904"/>
            <a:ext cx="3547872" cy="3154680"/>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2660904"/>
            <a:ext cx="54864" cy="3154680"/>
          </a:xfrm>
          <a:prstGeom prst="rect">
            <a:avLst/>
          </a:prstGeom>
          <a:solidFill>
            <a:srgbClr val="126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질문"/>
          <p:cNvSpPr txBox="1"/>
          <p:nvPr/>
        </p:nvSpPr>
        <p:spPr>
          <a:xfrm>
            <a:off x="795528" y="2843784"/>
            <a:ext cx="314553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질문</a:t>
            </a:r>
          </a:p>
        </p:txBody>
      </p:sp>
      <p:sp>
        <p:nvSpPr>
          <p:cNvPr id="13" name="TEXT checkout-api에 적용할&#10;Runbook은 무엇인가?"/>
          <p:cNvSpPr txBox="1"/>
          <p:nvPr/>
        </p:nvSpPr>
        <p:spPr>
          <a:xfrm>
            <a:off x="795528" y="3529584"/>
            <a:ext cx="3145536" cy="2148840"/>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checkout-api에 적용할</a:t>
            </a:r>
          </a:p>
          <a:p>
            <a:pPr algn="l">
              <a:lnSpc>
                <a:spcPct val="116000"/>
              </a:lnSpc>
              <a:spcBef>
                <a:spcPts val="0"/>
              </a:spcBef>
              <a:spcAft>
                <a:spcPts val="0"/>
              </a:spcAft>
            </a:pPr>
            <a:r>
              <a:rPr sz="2200" b="0">
                <a:solidFill>
                  <a:srgbClr val="172B2A"/>
                </a:solidFill>
                <a:latin typeface="Noto Sans CJK KR"/>
                <a:ea typeface="Noto Sans CJK KR"/>
                <a:latin typeface="Noto Sans CJK KR"/>
              </a:rPr>
              <a:t>Runbook은 무엇인가?</a:t>
            </a:r>
          </a:p>
        </p:txBody>
      </p:sp>
      <p:sp>
        <p:nvSpPr>
          <p:cNvPr id="14" name="Rounded Rectangle 13"/>
          <p:cNvSpPr/>
          <p:nvPr/>
        </p:nvSpPr>
        <p:spPr>
          <a:xfrm>
            <a:off x="4315968" y="2660904"/>
            <a:ext cx="3547872" cy="3154680"/>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15968" y="2660904"/>
            <a:ext cx="54864" cy="3154680"/>
          </a:xfrm>
          <a:prstGeom prst="rect">
            <a:avLst/>
          </a:prstGeom>
          <a:solidFill>
            <a:srgbClr val="345C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필요한 자료"/>
          <p:cNvSpPr txBox="1"/>
          <p:nvPr/>
        </p:nvSpPr>
        <p:spPr>
          <a:xfrm>
            <a:off x="4517136" y="2843784"/>
            <a:ext cx="314553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345CB5"/>
                </a:solidFill>
                <a:latin typeface="Noto Sans CJK KR"/>
                <a:ea typeface="Noto Sans CJK KR"/>
                <a:latin typeface="Noto Sans CJK KR"/>
              </a:rPr>
              <a:t>필요한 자료</a:t>
            </a:r>
          </a:p>
        </p:txBody>
      </p:sp>
      <p:sp>
        <p:nvSpPr>
          <p:cNvPr id="17" name="TEXT 서비스·환경·버전별&#10;현재 지침과 변경 이력"/>
          <p:cNvSpPr txBox="1"/>
          <p:nvPr/>
        </p:nvSpPr>
        <p:spPr>
          <a:xfrm>
            <a:off x="4517136" y="3529584"/>
            <a:ext cx="3145536" cy="2148840"/>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서비스·환경·버전별</a:t>
            </a:r>
          </a:p>
          <a:p>
            <a:pPr algn="l">
              <a:lnSpc>
                <a:spcPct val="116000"/>
              </a:lnSpc>
              <a:spcBef>
                <a:spcPts val="0"/>
              </a:spcBef>
              <a:spcAft>
                <a:spcPts val="0"/>
              </a:spcAft>
            </a:pPr>
            <a:r>
              <a:rPr sz="2200" b="0">
                <a:solidFill>
                  <a:srgbClr val="172B2A"/>
                </a:solidFill>
                <a:latin typeface="Noto Sans CJK KR"/>
                <a:ea typeface="Noto Sans CJK KR"/>
                <a:latin typeface="Noto Sans CJK KR"/>
              </a:rPr>
              <a:t>현재 지침과 변경 이력</a:t>
            </a:r>
          </a:p>
        </p:txBody>
      </p:sp>
      <p:sp>
        <p:nvSpPr>
          <p:cNvPr id="18" name="Rounded Rectangle 17"/>
          <p:cNvSpPr/>
          <p:nvPr/>
        </p:nvSpPr>
        <p:spPr>
          <a:xfrm>
            <a:off x="8037576" y="2660904"/>
            <a:ext cx="3547872" cy="3154680"/>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37576" y="2660904"/>
            <a:ext cx="54864" cy="3154680"/>
          </a:xfrm>
          <a:prstGeom prst="rect">
            <a:avLst/>
          </a:prstGeom>
          <a:solidFill>
            <a:srgbClr val="AD5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 실패 시 대응"/>
          <p:cNvSpPr txBox="1"/>
          <p:nvPr/>
        </p:nvSpPr>
        <p:spPr>
          <a:xfrm>
            <a:off x="8238744" y="2843784"/>
            <a:ext cx="314553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AD572B"/>
                </a:solidFill>
                <a:latin typeface="Noto Sans CJK KR"/>
                <a:ea typeface="Noto Sans CJK KR"/>
                <a:latin typeface="Noto Sans CJK KR"/>
              </a:rPr>
              <a:t>실패 시 대응</a:t>
            </a:r>
          </a:p>
        </p:txBody>
      </p:sp>
      <p:sp>
        <p:nvSpPr>
          <p:cNvPr id="21" name="TEXT 검색 없음·무관한 결과&#10;추가 조사 또는 중단"/>
          <p:cNvSpPr txBox="1"/>
          <p:nvPr/>
        </p:nvSpPr>
        <p:spPr>
          <a:xfrm>
            <a:off x="8238744" y="3529584"/>
            <a:ext cx="3145536" cy="2148840"/>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검색 없음·무관한 결과</a:t>
            </a:r>
          </a:p>
          <a:p>
            <a:pPr algn="l">
              <a:lnSpc>
                <a:spcPct val="116000"/>
              </a:lnSpc>
              <a:spcBef>
                <a:spcPts val="0"/>
              </a:spcBef>
              <a:spcAft>
                <a:spcPts val="0"/>
              </a:spcAft>
            </a:pPr>
            <a:r>
              <a:rPr sz="2200" b="0">
                <a:solidFill>
                  <a:srgbClr val="172B2A"/>
                </a:solidFill>
                <a:latin typeface="Noto Sans CJK KR"/>
                <a:ea typeface="Noto Sans CJK KR"/>
                <a:latin typeface="Noto Sans CJK KR"/>
              </a:rPr>
              <a:t>추가 조사 또는 중단</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2  /  근거·승인·복구"/>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2  /  근거·승인·복구</a:t>
            </a:r>
          </a:p>
        </p:txBody>
      </p:sp>
      <p:sp>
        <p:nvSpPr>
          <p:cNvPr id="3" name="Rounded Rectangle 2"/>
          <p:cNvSpPr/>
          <p:nvPr/>
        </p:nvSpPr>
        <p:spPr>
          <a:xfrm>
            <a:off x="10195560" y="173736"/>
            <a:ext cx="1399032" cy="329184"/>
          </a:xfrm>
          <a:prstGeom prst="roundRect">
            <a:avLst>
              <a:gd name="adj" fmla="val 8000"/>
            </a:avLst>
          </a:prstGeom>
          <a:solidFill>
            <a:srgbClr val="E3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60분 경로"/>
          <p:cNvSpPr txBox="1"/>
          <p:nvPr/>
        </p:nvSpPr>
        <p:spPr>
          <a:xfrm>
            <a:off x="10241280" y="214884"/>
            <a:ext cx="1307592" cy="182880"/>
          </a:xfrm>
          <a:prstGeom prst="rect">
            <a:avLst/>
          </a:prstGeom>
          <a:noFill/>
        </p:spPr>
        <p:txBody>
          <a:bodyPr wrap="square" lIns="0" rIns="0" tIns="0" bIns="0">
            <a:noAutofit/>
          </a:bodyPr>
          <a:lstStyle/>
          <a:p>
            <a:pPr algn="ctr">
              <a:lnSpc>
                <a:spcPct val="116000"/>
              </a:lnSpc>
              <a:spcBef>
                <a:spcPts val="0"/>
              </a:spcBef>
              <a:spcAft>
                <a:spcPts val="0"/>
              </a:spcAft>
            </a:pPr>
            <a:r>
              <a:rPr sz="1000" b="1">
                <a:solidFill>
                  <a:srgbClr val="126858"/>
                </a:solidFill>
                <a:latin typeface="Noto Sans CJK KR"/>
                <a:ea typeface="Noto Sans CJK KR"/>
                <a:latin typeface="Noto Sans CJK KR"/>
              </a:rPr>
              <a:t>60분 경로</a:t>
            </a:r>
          </a:p>
        </p:txBody>
      </p:sp>
      <p:sp>
        <p:nvSpPr>
          <p:cNvPr id="5" name="TEXT RAG 구성 요소"/>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RAG 구성 요소</a:t>
            </a:r>
          </a:p>
        </p:txBody>
      </p:sp>
      <p:sp>
        <p:nvSpPr>
          <p:cNvPr id="6" name="TEXT 적재·검색·생성·근거 검증의 책임을 나눈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적재·검색·생성·근거 검증의 책임을 나눈다.</a:t>
            </a:r>
          </a:p>
        </p:txBody>
      </p:sp>
      <p:cxnSp>
        <p:nvCxnSpPr>
          <p:cNvPr id="7" name="Connector 6"/>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9" name="TEXT AI AGENT FIELDNOTES  /  C06"/>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C06</a:t>
            </a:r>
          </a:p>
        </p:txBody>
      </p:sp>
      <p:sp>
        <p:nvSpPr>
          <p:cNvPr id="10" name="TEXT 22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22 / 72</a:t>
            </a:r>
          </a:p>
        </p:txBody>
      </p:sp>
      <p:sp>
        <p:nvSpPr>
          <p:cNvPr id="11" name="TEXT 심화 A06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A06 →</a:t>
            </a:r>
          </a:p>
        </p:txBody>
      </p:sp>
      <p:sp>
        <p:nvSpPr>
          <p:cNvPr id="12" name="Rounded Rectangle 11"/>
          <p:cNvSpPr/>
          <p:nvPr/>
        </p:nvSpPr>
        <p:spPr>
          <a:xfrm>
            <a:off x="594360" y="2880360"/>
            <a:ext cx="1995220" cy="1874519"/>
          </a:xfrm>
          <a:prstGeom prst="roundRect">
            <a:avLst>
              <a:gd name="adj" fmla="val 8000"/>
            </a:avLst>
          </a:prstGeom>
          <a:solidFill>
            <a:srgbClr val="F0E9F6"/>
          </a:solidFill>
          <a:ln w="10160">
            <a:solidFill>
              <a:srgbClr val="7155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01"/>
          <p:cNvSpPr txBox="1"/>
          <p:nvPr/>
        </p:nvSpPr>
        <p:spPr>
          <a:xfrm>
            <a:off x="749808" y="3044952"/>
            <a:ext cx="1684324" cy="246888"/>
          </a:xfrm>
          <a:prstGeom prst="rect">
            <a:avLst/>
          </a:prstGeom>
          <a:noFill/>
        </p:spPr>
        <p:txBody>
          <a:bodyPr wrap="square" lIns="0" rIns="0" tIns="0" bIns="0">
            <a:noAutofit/>
          </a:bodyPr>
          <a:lstStyle/>
          <a:p>
            <a:pPr algn="l">
              <a:lnSpc>
                <a:spcPct val="116000"/>
              </a:lnSpc>
              <a:spcBef>
                <a:spcPts val="0"/>
              </a:spcBef>
              <a:spcAft>
                <a:spcPts val="0"/>
              </a:spcAft>
            </a:pPr>
            <a:r>
              <a:rPr sz="1200" b="1">
                <a:solidFill>
                  <a:srgbClr val="71559D"/>
                </a:solidFill>
                <a:latin typeface="Noto Sans CJK KR"/>
                <a:ea typeface="Noto Sans CJK KR"/>
                <a:latin typeface="Noto Sans CJK KR"/>
              </a:rPr>
              <a:t>01</a:t>
            </a:r>
          </a:p>
        </p:txBody>
      </p:sp>
      <p:sp>
        <p:nvSpPr>
          <p:cNvPr id="14" name="TEXT 문서·Chunk"/>
          <p:cNvSpPr txBox="1"/>
          <p:nvPr/>
        </p:nvSpPr>
        <p:spPr>
          <a:xfrm>
            <a:off x="749808" y="3511296"/>
            <a:ext cx="1684324" cy="713232"/>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71559D"/>
                </a:solidFill>
                <a:latin typeface="Noto Sans CJK KR"/>
                <a:ea typeface="Noto Sans CJK KR"/>
                <a:latin typeface="Noto Sans CJK KR"/>
              </a:rPr>
              <a:t>문서·Chunk</a:t>
            </a:r>
          </a:p>
        </p:txBody>
      </p:sp>
      <p:sp>
        <p:nvSpPr>
          <p:cNvPr id="15" name="TEXT 원문·Metadata"/>
          <p:cNvSpPr txBox="1"/>
          <p:nvPr/>
        </p:nvSpPr>
        <p:spPr>
          <a:xfrm>
            <a:off x="749808" y="4261104"/>
            <a:ext cx="1684324" cy="365760"/>
          </a:xfrm>
          <a:prstGeom prst="rect">
            <a:avLst/>
          </a:prstGeom>
          <a:noFill/>
        </p:spPr>
        <p:txBody>
          <a:bodyPr wrap="square" lIns="0" rIns="0" tIns="0" bIns="0">
            <a:noAutofit/>
          </a:bodyPr>
          <a:lstStyle/>
          <a:p>
            <a:pPr algn="l">
              <a:lnSpc>
                <a:spcPct val="116000"/>
              </a:lnSpc>
              <a:spcBef>
                <a:spcPts val="0"/>
              </a:spcBef>
              <a:spcAft>
                <a:spcPts val="0"/>
              </a:spcAft>
            </a:pPr>
            <a:r>
              <a:rPr sz="1600" b="0">
                <a:solidFill>
                  <a:srgbClr val="71559D"/>
                </a:solidFill>
                <a:latin typeface="Noto Sans CJK KR"/>
                <a:ea typeface="Noto Sans CJK KR"/>
                <a:latin typeface="Noto Sans CJK KR"/>
              </a:rPr>
              <a:t>원문·Metadata</a:t>
            </a:r>
          </a:p>
        </p:txBody>
      </p:sp>
      <p:cxnSp>
        <p:nvCxnSpPr>
          <p:cNvPr id="16" name="Connector 15"/>
          <p:cNvCxnSpPr/>
          <p:nvPr/>
        </p:nvCxnSpPr>
        <p:spPr>
          <a:xfrm>
            <a:off x="2607868" y="3803904"/>
            <a:ext cx="219456" cy="0"/>
          </a:xfrm>
          <a:prstGeom prst="line">
            <a:avLst/>
          </a:prstGeom>
          <a:ln w="22860">
            <a:solidFill>
              <a:srgbClr val="5E6E66"/>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845612" y="2880360"/>
            <a:ext cx="1995220" cy="1874519"/>
          </a:xfrm>
          <a:prstGeom prst="roundRect">
            <a:avLst>
              <a:gd name="adj" fmla="val 8000"/>
            </a:avLst>
          </a:prstGeom>
          <a:solidFill>
            <a:srgbClr val="E7EDFB"/>
          </a:solidFill>
          <a:ln w="10160">
            <a:solidFill>
              <a:srgbClr val="345C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02"/>
          <p:cNvSpPr txBox="1"/>
          <p:nvPr/>
        </p:nvSpPr>
        <p:spPr>
          <a:xfrm>
            <a:off x="3001060" y="3044952"/>
            <a:ext cx="1684324" cy="246888"/>
          </a:xfrm>
          <a:prstGeom prst="rect">
            <a:avLst/>
          </a:prstGeom>
          <a:noFill/>
        </p:spPr>
        <p:txBody>
          <a:bodyPr wrap="square" lIns="0" rIns="0" tIns="0" bIns="0">
            <a:noAutofit/>
          </a:bodyPr>
          <a:lstStyle/>
          <a:p>
            <a:pPr algn="l">
              <a:lnSpc>
                <a:spcPct val="116000"/>
              </a:lnSpc>
              <a:spcBef>
                <a:spcPts val="0"/>
              </a:spcBef>
              <a:spcAft>
                <a:spcPts val="0"/>
              </a:spcAft>
            </a:pPr>
            <a:r>
              <a:rPr sz="1200" b="1">
                <a:solidFill>
                  <a:srgbClr val="345CB5"/>
                </a:solidFill>
                <a:latin typeface="Noto Sans CJK KR"/>
                <a:ea typeface="Noto Sans CJK KR"/>
                <a:latin typeface="Noto Sans CJK KR"/>
              </a:rPr>
              <a:t>02</a:t>
            </a:r>
          </a:p>
        </p:txBody>
      </p:sp>
      <p:sp>
        <p:nvSpPr>
          <p:cNvPr id="19" name="TEXT Embedding"/>
          <p:cNvSpPr txBox="1"/>
          <p:nvPr/>
        </p:nvSpPr>
        <p:spPr>
          <a:xfrm>
            <a:off x="3001060" y="3511296"/>
            <a:ext cx="1684324" cy="713232"/>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345CB5"/>
                </a:solidFill>
                <a:latin typeface="Noto Sans CJK KR"/>
                <a:ea typeface="Noto Sans CJK KR"/>
                <a:latin typeface="Noto Sans CJK KR"/>
              </a:rPr>
              <a:t>Embedding</a:t>
            </a:r>
          </a:p>
        </p:txBody>
      </p:sp>
      <p:sp>
        <p:nvSpPr>
          <p:cNvPr id="20" name="TEXT 벡터 생성"/>
          <p:cNvSpPr txBox="1"/>
          <p:nvPr/>
        </p:nvSpPr>
        <p:spPr>
          <a:xfrm>
            <a:off x="3001060" y="4261104"/>
            <a:ext cx="1684324" cy="365760"/>
          </a:xfrm>
          <a:prstGeom prst="rect">
            <a:avLst/>
          </a:prstGeom>
          <a:noFill/>
        </p:spPr>
        <p:txBody>
          <a:bodyPr wrap="square" lIns="0" rIns="0" tIns="0" bIns="0">
            <a:noAutofit/>
          </a:bodyPr>
          <a:lstStyle/>
          <a:p>
            <a:pPr algn="l">
              <a:lnSpc>
                <a:spcPct val="116000"/>
              </a:lnSpc>
              <a:spcBef>
                <a:spcPts val="0"/>
              </a:spcBef>
              <a:spcAft>
                <a:spcPts val="0"/>
              </a:spcAft>
            </a:pPr>
            <a:r>
              <a:rPr sz="1600" b="0">
                <a:solidFill>
                  <a:srgbClr val="345CB5"/>
                </a:solidFill>
                <a:latin typeface="Noto Sans CJK KR"/>
                <a:ea typeface="Noto Sans CJK KR"/>
                <a:latin typeface="Noto Sans CJK KR"/>
              </a:rPr>
              <a:t>벡터 생성</a:t>
            </a:r>
          </a:p>
        </p:txBody>
      </p:sp>
      <p:cxnSp>
        <p:nvCxnSpPr>
          <p:cNvPr id="21" name="Connector 20"/>
          <p:cNvCxnSpPr/>
          <p:nvPr/>
        </p:nvCxnSpPr>
        <p:spPr>
          <a:xfrm>
            <a:off x="4859121" y="3803904"/>
            <a:ext cx="219456" cy="0"/>
          </a:xfrm>
          <a:prstGeom prst="line">
            <a:avLst/>
          </a:prstGeom>
          <a:ln w="22860">
            <a:solidFill>
              <a:srgbClr val="5E6E66"/>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096865" y="2880360"/>
            <a:ext cx="1995220" cy="1874519"/>
          </a:xfrm>
          <a:prstGeom prst="roundRect">
            <a:avLst>
              <a:gd name="adj" fmla="val 8000"/>
            </a:avLst>
          </a:prstGeom>
          <a:solidFill>
            <a:srgbClr val="F0E9F6"/>
          </a:solidFill>
          <a:ln w="10160">
            <a:solidFill>
              <a:srgbClr val="7155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 03"/>
          <p:cNvSpPr txBox="1"/>
          <p:nvPr/>
        </p:nvSpPr>
        <p:spPr>
          <a:xfrm>
            <a:off x="5252313" y="3044952"/>
            <a:ext cx="1684324" cy="246888"/>
          </a:xfrm>
          <a:prstGeom prst="rect">
            <a:avLst/>
          </a:prstGeom>
          <a:noFill/>
        </p:spPr>
        <p:txBody>
          <a:bodyPr wrap="square" lIns="0" rIns="0" tIns="0" bIns="0">
            <a:noAutofit/>
          </a:bodyPr>
          <a:lstStyle/>
          <a:p>
            <a:pPr algn="l">
              <a:lnSpc>
                <a:spcPct val="116000"/>
              </a:lnSpc>
              <a:spcBef>
                <a:spcPts val="0"/>
              </a:spcBef>
              <a:spcAft>
                <a:spcPts val="0"/>
              </a:spcAft>
            </a:pPr>
            <a:r>
              <a:rPr sz="1200" b="1">
                <a:solidFill>
                  <a:srgbClr val="71559D"/>
                </a:solidFill>
                <a:latin typeface="Noto Sans CJK KR"/>
                <a:ea typeface="Noto Sans CJK KR"/>
                <a:latin typeface="Noto Sans CJK KR"/>
              </a:rPr>
              <a:t>03</a:t>
            </a:r>
          </a:p>
        </p:txBody>
      </p:sp>
      <p:sp>
        <p:nvSpPr>
          <p:cNvPr id="24" name="TEXT Vector Store"/>
          <p:cNvSpPr txBox="1"/>
          <p:nvPr/>
        </p:nvSpPr>
        <p:spPr>
          <a:xfrm>
            <a:off x="5252313" y="3511296"/>
            <a:ext cx="1684324" cy="713232"/>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71559D"/>
                </a:solidFill>
                <a:latin typeface="Noto Sans CJK KR"/>
                <a:ea typeface="Noto Sans CJK KR"/>
                <a:latin typeface="Noto Sans CJK KR"/>
              </a:rPr>
              <a:t>Vector Store</a:t>
            </a:r>
          </a:p>
        </p:txBody>
      </p:sp>
      <p:sp>
        <p:nvSpPr>
          <p:cNvPr id="25" name="TEXT 저장·검색"/>
          <p:cNvSpPr txBox="1"/>
          <p:nvPr/>
        </p:nvSpPr>
        <p:spPr>
          <a:xfrm>
            <a:off x="5252313" y="4261104"/>
            <a:ext cx="1684324" cy="365760"/>
          </a:xfrm>
          <a:prstGeom prst="rect">
            <a:avLst/>
          </a:prstGeom>
          <a:noFill/>
        </p:spPr>
        <p:txBody>
          <a:bodyPr wrap="square" lIns="0" rIns="0" tIns="0" bIns="0">
            <a:noAutofit/>
          </a:bodyPr>
          <a:lstStyle/>
          <a:p>
            <a:pPr algn="l">
              <a:lnSpc>
                <a:spcPct val="116000"/>
              </a:lnSpc>
              <a:spcBef>
                <a:spcPts val="0"/>
              </a:spcBef>
              <a:spcAft>
                <a:spcPts val="0"/>
              </a:spcAft>
            </a:pPr>
            <a:r>
              <a:rPr sz="1600" b="0">
                <a:solidFill>
                  <a:srgbClr val="71559D"/>
                </a:solidFill>
                <a:latin typeface="Noto Sans CJK KR"/>
                <a:ea typeface="Noto Sans CJK KR"/>
                <a:latin typeface="Noto Sans CJK KR"/>
              </a:rPr>
              <a:t>저장·검색</a:t>
            </a:r>
          </a:p>
        </p:txBody>
      </p:sp>
      <p:cxnSp>
        <p:nvCxnSpPr>
          <p:cNvPr id="26" name="Connector 25"/>
          <p:cNvCxnSpPr/>
          <p:nvPr/>
        </p:nvCxnSpPr>
        <p:spPr>
          <a:xfrm>
            <a:off x="7110374" y="3803904"/>
            <a:ext cx="219456" cy="0"/>
          </a:xfrm>
          <a:prstGeom prst="line">
            <a:avLst/>
          </a:prstGeom>
          <a:ln w="22860">
            <a:solidFill>
              <a:srgbClr val="5E6E66"/>
            </a:solidFill>
            <a:tailEnd type="triangle"/>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7348118" y="2880360"/>
            <a:ext cx="1995220" cy="1874519"/>
          </a:xfrm>
          <a:prstGeom prst="roundRect">
            <a:avLst>
              <a:gd name="adj" fmla="val 8000"/>
            </a:avLst>
          </a:prstGeom>
          <a:solidFill>
            <a:srgbClr val="F0E9F6"/>
          </a:solidFill>
          <a:ln w="10160">
            <a:solidFill>
              <a:srgbClr val="7155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 04"/>
          <p:cNvSpPr txBox="1"/>
          <p:nvPr/>
        </p:nvSpPr>
        <p:spPr>
          <a:xfrm>
            <a:off x="7503566" y="3044952"/>
            <a:ext cx="1684324" cy="246888"/>
          </a:xfrm>
          <a:prstGeom prst="rect">
            <a:avLst/>
          </a:prstGeom>
          <a:noFill/>
        </p:spPr>
        <p:txBody>
          <a:bodyPr wrap="square" lIns="0" rIns="0" tIns="0" bIns="0">
            <a:noAutofit/>
          </a:bodyPr>
          <a:lstStyle/>
          <a:p>
            <a:pPr algn="l">
              <a:lnSpc>
                <a:spcPct val="116000"/>
              </a:lnSpc>
              <a:spcBef>
                <a:spcPts val="0"/>
              </a:spcBef>
              <a:spcAft>
                <a:spcPts val="0"/>
              </a:spcAft>
            </a:pPr>
            <a:r>
              <a:rPr sz="1200" b="1">
                <a:solidFill>
                  <a:srgbClr val="71559D"/>
                </a:solidFill>
                <a:latin typeface="Noto Sans CJK KR"/>
                <a:ea typeface="Noto Sans CJK KR"/>
                <a:latin typeface="Noto Sans CJK KR"/>
              </a:rPr>
              <a:t>04</a:t>
            </a:r>
          </a:p>
        </p:txBody>
      </p:sp>
      <p:sp>
        <p:nvSpPr>
          <p:cNvPr id="29" name="TEXT Retrieval"/>
          <p:cNvSpPr txBox="1"/>
          <p:nvPr/>
        </p:nvSpPr>
        <p:spPr>
          <a:xfrm>
            <a:off x="7503566" y="3511296"/>
            <a:ext cx="1684324" cy="713232"/>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71559D"/>
                </a:solidFill>
                <a:latin typeface="Noto Sans CJK KR"/>
                <a:ea typeface="Noto Sans CJK KR"/>
                <a:latin typeface="Noto Sans CJK KR"/>
              </a:rPr>
              <a:t>Retrieval</a:t>
            </a:r>
          </a:p>
        </p:txBody>
      </p:sp>
      <p:sp>
        <p:nvSpPr>
          <p:cNvPr id="30" name="TEXT 후보 근거"/>
          <p:cNvSpPr txBox="1"/>
          <p:nvPr/>
        </p:nvSpPr>
        <p:spPr>
          <a:xfrm>
            <a:off x="7503566" y="4261104"/>
            <a:ext cx="1684324" cy="365760"/>
          </a:xfrm>
          <a:prstGeom prst="rect">
            <a:avLst/>
          </a:prstGeom>
          <a:noFill/>
        </p:spPr>
        <p:txBody>
          <a:bodyPr wrap="square" lIns="0" rIns="0" tIns="0" bIns="0">
            <a:noAutofit/>
          </a:bodyPr>
          <a:lstStyle/>
          <a:p>
            <a:pPr algn="l">
              <a:lnSpc>
                <a:spcPct val="116000"/>
              </a:lnSpc>
              <a:spcBef>
                <a:spcPts val="0"/>
              </a:spcBef>
              <a:spcAft>
                <a:spcPts val="0"/>
              </a:spcAft>
            </a:pPr>
            <a:r>
              <a:rPr sz="1600" b="0">
                <a:solidFill>
                  <a:srgbClr val="71559D"/>
                </a:solidFill>
                <a:latin typeface="Noto Sans CJK KR"/>
                <a:ea typeface="Noto Sans CJK KR"/>
                <a:latin typeface="Noto Sans CJK KR"/>
              </a:rPr>
              <a:t>후보 근거</a:t>
            </a:r>
          </a:p>
        </p:txBody>
      </p:sp>
      <p:cxnSp>
        <p:nvCxnSpPr>
          <p:cNvPr id="31" name="Connector 30"/>
          <p:cNvCxnSpPr/>
          <p:nvPr/>
        </p:nvCxnSpPr>
        <p:spPr>
          <a:xfrm>
            <a:off x="9361627" y="3803904"/>
            <a:ext cx="219456" cy="0"/>
          </a:xfrm>
          <a:prstGeom prst="line">
            <a:avLst/>
          </a:prstGeom>
          <a:ln w="22860">
            <a:solidFill>
              <a:srgbClr val="5E6E66"/>
            </a:solidFill>
            <a:tailEnd type="triangle"/>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9599371" y="2880360"/>
            <a:ext cx="1995220" cy="1874519"/>
          </a:xfrm>
          <a:prstGeom prst="roundRect">
            <a:avLst>
              <a:gd name="adj" fmla="val 8000"/>
            </a:avLst>
          </a:prstGeom>
          <a:solidFill>
            <a:srgbClr val="E3EFE7"/>
          </a:solidFill>
          <a:ln w="10160">
            <a:solidFill>
              <a:srgbClr val="1268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 05"/>
          <p:cNvSpPr txBox="1"/>
          <p:nvPr/>
        </p:nvSpPr>
        <p:spPr>
          <a:xfrm>
            <a:off x="9754819" y="3044952"/>
            <a:ext cx="1684324" cy="246888"/>
          </a:xfrm>
          <a:prstGeom prst="rect">
            <a:avLst/>
          </a:prstGeom>
          <a:noFill/>
        </p:spPr>
        <p:txBody>
          <a:bodyPr wrap="square" lIns="0" rIns="0" tIns="0" bIns="0">
            <a:noAutofit/>
          </a:bodyPr>
          <a:lstStyle/>
          <a:p>
            <a:pPr algn="l">
              <a:lnSpc>
                <a:spcPct val="116000"/>
              </a:lnSpc>
              <a:spcBef>
                <a:spcPts val="0"/>
              </a:spcBef>
              <a:spcAft>
                <a:spcPts val="0"/>
              </a:spcAft>
            </a:pPr>
            <a:r>
              <a:rPr sz="1200" b="1">
                <a:solidFill>
                  <a:srgbClr val="126858"/>
                </a:solidFill>
                <a:latin typeface="Noto Sans CJK KR"/>
                <a:ea typeface="Noto Sans CJK KR"/>
                <a:latin typeface="Noto Sans CJK KR"/>
              </a:rPr>
              <a:t>05</a:t>
            </a:r>
          </a:p>
        </p:txBody>
      </p:sp>
      <p:sp>
        <p:nvSpPr>
          <p:cNvPr id="34" name="TEXT 생성·검증"/>
          <p:cNvSpPr txBox="1"/>
          <p:nvPr/>
        </p:nvSpPr>
        <p:spPr>
          <a:xfrm>
            <a:off x="9754819" y="3511296"/>
            <a:ext cx="1684324" cy="713232"/>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생성·검증</a:t>
            </a:r>
          </a:p>
        </p:txBody>
      </p:sp>
      <p:sp>
        <p:nvSpPr>
          <p:cNvPr id="35" name="TEXT 주장과 대조"/>
          <p:cNvSpPr txBox="1"/>
          <p:nvPr/>
        </p:nvSpPr>
        <p:spPr>
          <a:xfrm>
            <a:off x="9754819" y="4261104"/>
            <a:ext cx="1684324" cy="365760"/>
          </a:xfrm>
          <a:prstGeom prst="rect">
            <a:avLst/>
          </a:prstGeom>
          <a:noFill/>
        </p:spPr>
        <p:txBody>
          <a:bodyPr wrap="square" lIns="0" rIns="0" tIns="0" bIns="0">
            <a:noAutofit/>
          </a:bodyPr>
          <a:lstStyle/>
          <a:p>
            <a:pPr algn="l">
              <a:lnSpc>
                <a:spcPct val="116000"/>
              </a:lnSpc>
              <a:spcBef>
                <a:spcPts val="0"/>
              </a:spcBef>
              <a:spcAft>
                <a:spcPts val="0"/>
              </a:spcAft>
            </a:pPr>
            <a:r>
              <a:rPr sz="1600" b="0">
                <a:solidFill>
                  <a:srgbClr val="126858"/>
                </a:solidFill>
                <a:latin typeface="Noto Sans CJK KR"/>
                <a:ea typeface="Noto Sans CJK KR"/>
                <a:latin typeface="Noto Sans CJK KR"/>
              </a:rPr>
              <a:t>주장과 대조</a:t>
            </a:r>
          </a:p>
        </p:txBody>
      </p:sp>
      <p:sp>
        <p:nvSpPr>
          <p:cNvPr id="36" name="TEXT 검색 후보를 받았다는 사실과 답변이 그 근거로 지지된다는 판단은 다르다."/>
          <p:cNvSpPr txBox="1"/>
          <p:nvPr/>
        </p:nvSpPr>
        <p:spPr>
          <a:xfrm>
            <a:off x="731520" y="5266944"/>
            <a:ext cx="10789920" cy="685800"/>
          </a:xfrm>
          <a:prstGeom prst="rect">
            <a:avLst/>
          </a:prstGeom>
          <a:noFill/>
        </p:spPr>
        <p:txBody>
          <a:bodyPr wrap="square" lIns="0" rIns="0" tIns="0" bIns="0">
            <a:noAutofit/>
          </a:bodyPr>
          <a:lstStyle/>
          <a:p>
            <a:pPr algn="l">
              <a:lnSpc>
                <a:spcPct val="116000"/>
              </a:lnSpc>
              <a:spcBef>
                <a:spcPts val="0"/>
              </a:spcBef>
              <a:spcAft>
                <a:spcPts val="0"/>
              </a:spcAft>
            </a:pPr>
            <a:r>
              <a:rPr sz="2100" b="1">
                <a:solidFill>
                  <a:srgbClr val="126858"/>
                </a:solidFill>
                <a:latin typeface="Noto Sans CJK KR"/>
                <a:ea typeface="Noto Sans CJK KR"/>
                <a:latin typeface="Noto Sans CJK KR"/>
              </a:rPr>
              <a:t>검색 후보를 받았다는 사실과 답변이 그 근거로 지지된다는 판단은 다르다.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2  /  근거·승인·복구"/>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2  /  근거·승인·복구</a:t>
            </a:r>
          </a:p>
        </p:txBody>
      </p:sp>
      <p:sp>
        <p:nvSpPr>
          <p:cNvPr id="3" name="TEXT Embedding과 Qdrant"/>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Embedding과 Qdrant</a:t>
            </a:r>
          </a:p>
        </p:txBody>
      </p:sp>
      <p:sp>
        <p:nvSpPr>
          <p:cNvPr id="4" name="TEXT 벡터를 만드는 모델과 벡터를 저장·검색하는 시스템은 다르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벡터를 만드는 모델과 벡터를 저장·검색하는 시스템은 다르다.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06"/>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C06</a:t>
            </a:r>
          </a:p>
        </p:txBody>
      </p:sp>
      <p:sp>
        <p:nvSpPr>
          <p:cNvPr id="8" name="TEXT 23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23 / 72</a:t>
            </a:r>
          </a:p>
        </p:txBody>
      </p:sp>
      <p:sp>
        <p:nvSpPr>
          <p:cNvPr id="9" name="TEXT 심화 A06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A06 →</a:t>
            </a:r>
          </a:p>
        </p:txBody>
      </p:sp>
      <p:sp>
        <p:nvSpPr>
          <p:cNvPr id="10" name="Rounded Rectangle 9"/>
          <p:cNvSpPr/>
          <p:nvPr/>
        </p:nvSpPr>
        <p:spPr>
          <a:xfrm>
            <a:off x="594360" y="2606040"/>
            <a:ext cx="5376672" cy="3364992"/>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2606040"/>
            <a:ext cx="54864" cy="3364992"/>
          </a:xfrm>
          <a:prstGeom prst="rect">
            <a:avLst/>
          </a:prstGeom>
          <a:solidFill>
            <a:srgbClr val="126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BGE-M3 · 임베딩 모델"/>
          <p:cNvSpPr txBox="1"/>
          <p:nvPr/>
        </p:nvSpPr>
        <p:spPr>
          <a:xfrm>
            <a:off x="795528" y="2788920"/>
            <a:ext cx="497433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BGE-M3 · 임베딩 모델</a:t>
            </a:r>
          </a:p>
        </p:txBody>
      </p:sp>
      <p:sp>
        <p:nvSpPr>
          <p:cNvPr id="13" name="TEXT "/>
          <p:cNvSpPr txBox="1"/>
          <p:nvPr/>
        </p:nvSpPr>
        <p:spPr>
          <a:xfrm>
            <a:off x="795528" y="3474720"/>
            <a:ext cx="4974336" cy="2359152"/>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a:r>
          </a:p>
        </p:txBody>
      </p:sp>
      <p:sp>
        <p:nvSpPr>
          <p:cNvPr id="14" name="TEXT • 문서·질의를 벡터로 변환"/>
          <p:cNvSpPr txBox="1"/>
          <p:nvPr/>
        </p:nvSpPr>
        <p:spPr>
          <a:xfrm>
            <a:off x="822960" y="3511296"/>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문서·질의를 벡터로 변환</a:t>
            </a:r>
          </a:p>
        </p:txBody>
      </p:sp>
      <p:sp>
        <p:nvSpPr>
          <p:cNvPr id="15" name="TEXT • 모델·차원·전처리 버전 관리"/>
          <p:cNvSpPr txBox="1"/>
          <p:nvPr/>
        </p:nvSpPr>
        <p:spPr>
          <a:xfrm>
            <a:off x="822960" y="4206240"/>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모델·차원·전처리 버전 관리</a:t>
            </a:r>
          </a:p>
        </p:txBody>
      </p:sp>
      <p:sp>
        <p:nvSpPr>
          <p:cNvPr id="16" name="TEXT • 벡터 공간의 의미를 결정"/>
          <p:cNvSpPr txBox="1"/>
          <p:nvPr/>
        </p:nvSpPr>
        <p:spPr>
          <a:xfrm>
            <a:off x="822960" y="4901183"/>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벡터 공간의 의미를 결정</a:t>
            </a:r>
          </a:p>
        </p:txBody>
      </p:sp>
      <p:sp>
        <p:nvSpPr>
          <p:cNvPr id="17" name="Rounded Rectangle 16"/>
          <p:cNvSpPr/>
          <p:nvPr/>
        </p:nvSpPr>
        <p:spPr>
          <a:xfrm>
            <a:off x="6217920" y="2606040"/>
            <a:ext cx="5376672" cy="3364992"/>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2606040"/>
            <a:ext cx="54864" cy="3364992"/>
          </a:xfrm>
          <a:prstGeom prst="rect">
            <a:avLst/>
          </a:prstGeom>
          <a:solidFill>
            <a:srgbClr val="AD5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Qdrant · Vector Store"/>
          <p:cNvSpPr txBox="1"/>
          <p:nvPr/>
        </p:nvSpPr>
        <p:spPr>
          <a:xfrm>
            <a:off x="6419088" y="2788920"/>
            <a:ext cx="497433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AD572B"/>
                </a:solidFill>
                <a:latin typeface="Noto Sans CJK KR"/>
                <a:ea typeface="Noto Sans CJK KR"/>
                <a:latin typeface="Noto Sans CJK KR"/>
              </a:rPr>
              <a:t>Qdrant · Vector Store</a:t>
            </a:r>
          </a:p>
        </p:txBody>
      </p:sp>
      <p:sp>
        <p:nvSpPr>
          <p:cNvPr id="20" name="TEXT "/>
          <p:cNvSpPr txBox="1"/>
          <p:nvPr/>
        </p:nvSpPr>
        <p:spPr>
          <a:xfrm>
            <a:off x="6419088" y="3474720"/>
            <a:ext cx="4974336" cy="2359152"/>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a:r>
          </a:p>
        </p:txBody>
      </p:sp>
      <p:sp>
        <p:nvSpPr>
          <p:cNvPr id="21" name="TEXT • 벡터와 Metadata 저장"/>
          <p:cNvSpPr txBox="1"/>
          <p:nvPr/>
        </p:nvSpPr>
        <p:spPr>
          <a:xfrm>
            <a:off x="6446520" y="3511296"/>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벡터와 Metadata 저장</a:t>
            </a:r>
          </a:p>
        </p:txBody>
      </p:sp>
      <p:sp>
        <p:nvSpPr>
          <p:cNvPr id="22" name="TEXT • 유사도 검색·필터"/>
          <p:cNvSpPr txBox="1"/>
          <p:nvPr/>
        </p:nvSpPr>
        <p:spPr>
          <a:xfrm>
            <a:off x="6446520" y="4206240"/>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유사도 검색·필터</a:t>
            </a:r>
          </a:p>
        </p:txBody>
      </p:sp>
      <p:sp>
        <p:nvSpPr>
          <p:cNvPr id="23" name="TEXT • 컬렉션·인덱스 운영"/>
          <p:cNvSpPr txBox="1"/>
          <p:nvPr/>
        </p:nvSpPr>
        <p:spPr>
          <a:xfrm>
            <a:off x="6446520" y="4901183"/>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컬렉션·인덱스 운영</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2  /  근거·승인·복구"/>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2  /  근거·승인·복구</a:t>
            </a:r>
          </a:p>
        </p:txBody>
      </p:sp>
      <p:sp>
        <p:nvSpPr>
          <p:cNvPr id="3" name="TEXT 문서 Metadata"/>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문서 Metadata</a:t>
            </a:r>
          </a:p>
        </p:txBody>
      </p:sp>
      <p:sp>
        <p:nvSpPr>
          <p:cNvPr id="4" name="TEXT 문서의 버전·적용 범위·권한이 사용 가능성을 바꾼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문서의 버전·적용 범위·권한이 사용 가능성을 바꾼다.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06"/>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C06</a:t>
            </a:r>
          </a:p>
        </p:txBody>
      </p:sp>
      <p:sp>
        <p:nvSpPr>
          <p:cNvPr id="8" name="TEXT 24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24 / 72</a:t>
            </a:r>
          </a:p>
        </p:txBody>
      </p:sp>
      <p:sp>
        <p:nvSpPr>
          <p:cNvPr id="9" name="TEXT 심화 A06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A06 →</a:t>
            </a:r>
          </a:p>
        </p:txBody>
      </p:sp>
      <p:graphicFrame>
        <p:nvGraphicFramePr>
          <p:cNvPr id="10" name="Table 9"/>
          <p:cNvGraphicFramePr>
            <a:graphicFrameLocks noGrp="1"/>
          </p:cNvGraphicFramePr>
          <p:nvPr/>
        </p:nvGraphicFramePr>
        <p:xfrm>
          <a:off x="594360" y="2587752"/>
          <a:ext cx="11000231" cy="3557016"/>
        </p:xfrm>
        <a:graphic>
          <a:graphicData uri="http://schemas.openxmlformats.org/drawingml/2006/table">
            <a:tbl>
              <a:tblPr firstRow="1" bandRow="1">
                <a:tableStyleId>{5C22544A-7EE6-4342-B048-85BDC9FD1C3A}</a:tableStyleId>
              </a:tblPr>
              <a:tblGrid>
                <a:gridCol w="2750058"/>
                <a:gridCol w="4290090"/>
                <a:gridCol w="3960083"/>
              </a:tblGrid>
              <a:tr h="484632">
                <a:tc>
                  <a:txBody>
                    <a:bodyPr/>
                    <a:lstStyle/>
                    <a:p>
                      <a:pPr>
                        <a:lnSpc>
                          <a:spcPct val="113000"/>
                        </a:lnSpc>
                        <a:spcAft>
                          <a:spcPts val="0"/>
                        </a:spcAft>
                      </a:pPr>
                      <a:r>
                        <a:rPr sz="1800" b="1">
                          <a:solidFill>
                            <a:srgbClr val="126858"/>
                          </a:solidFill>
                          <a:latin typeface="Noto Sans CJK KR"/>
                        </a:rPr>
                        <a:t>필드</a:t>
                      </a:r>
                    </a:p>
                  </a:txBody>
                  <a:tcPr marL="137160" marR="91440" marT="91440" marB="54864" anchor="ctr">
                    <a:solidFill>
                      <a:srgbClr val="E3EFE7"/>
                    </a:solidFill>
                  </a:tcPr>
                </a:tc>
                <a:tc>
                  <a:txBody>
                    <a:bodyPr/>
                    <a:lstStyle/>
                    <a:p>
                      <a:pPr>
                        <a:lnSpc>
                          <a:spcPct val="113000"/>
                        </a:lnSpc>
                        <a:spcAft>
                          <a:spcPts val="0"/>
                        </a:spcAft>
                      </a:pPr>
                      <a:r>
                        <a:rPr sz="1800" b="1">
                          <a:solidFill>
                            <a:srgbClr val="126858"/>
                          </a:solidFill>
                          <a:latin typeface="Noto Sans CJK KR"/>
                        </a:rPr>
                        <a:t>교육용 값</a:t>
                      </a:r>
                    </a:p>
                  </a:txBody>
                  <a:tcPr marL="137160" marR="91440" marT="91440" marB="54864" anchor="ctr">
                    <a:solidFill>
                      <a:srgbClr val="E3EFE7"/>
                    </a:solidFill>
                  </a:tcPr>
                </a:tc>
                <a:tc>
                  <a:txBody>
                    <a:bodyPr/>
                    <a:lstStyle/>
                    <a:p>
                      <a:pPr>
                        <a:lnSpc>
                          <a:spcPct val="113000"/>
                        </a:lnSpc>
                        <a:spcAft>
                          <a:spcPts val="0"/>
                        </a:spcAft>
                      </a:pPr>
                      <a:r>
                        <a:rPr sz="1800" b="1">
                          <a:solidFill>
                            <a:srgbClr val="126858"/>
                          </a:solidFill>
                          <a:latin typeface="Noto Sans CJK KR"/>
                        </a:rPr>
                        <a:t>검증 목적</a:t>
                      </a:r>
                    </a:p>
                  </a:txBody>
                  <a:tcPr marL="137160" marR="91440" marT="91440" marB="54864" anchor="ctr">
                    <a:solidFill>
                      <a:srgbClr val="E3EFE7"/>
                    </a:solidFill>
                  </a:tcPr>
                </a:tc>
              </a:tr>
              <a:tr h="768096">
                <a:tc>
                  <a:txBody>
                    <a:bodyPr/>
                    <a:lstStyle/>
                    <a:p>
                      <a:pPr>
                        <a:lnSpc>
                          <a:spcPct val="113000"/>
                        </a:lnSpc>
                        <a:spcAft>
                          <a:spcPts val="0"/>
                        </a:spcAft>
                      </a:pPr>
                      <a:r>
                        <a:rPr sz="2000" b="1">
                          <a:solidFill>
                            <a:srgbClr val="172B2A"/>
                          </a:solidFill>
                          <a:latin typeface="Noto Sans CJK KR"/>
                        </a:rPr>
                        <a:t>source_id · version</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runbook-12 · v3</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동일 문서·버전 식별</a:t>
                      </a:r>
                    </a:p>
                  </a:txBody>
                  <a:tcPr marL="137160" marR="91440" marT="91440" marB="54864" anchor="ctr">
                    <a:solidFill>
                      <a:srgbClr val="FFFEF9"/>
                    </a:solidFill>
                  </a:tcPr>
                </a:tc>
              </a:tr>
              <a:tr h="768096">
                <a:tc>
                  <a:txBody>
                    <a:bodyPr/>
                    <a:lstStyle/>
                    <a:p>
                      <a:pPr>
                        <a:lnSpc>
                          <a:spcPct val="113000"/>
                        </a:lnSpc>
                        <a:spcAft>
                          <a:spcPts val="0"/>
                        </a:spcAft>
                      </a:pPr>
                      <a:r>
                        <a:rPr sz="2000" b="1">
                          <a:solidFill>
                            <a:srgbClr val="172B2A"/>
                          </a:solidFill>
                          <a:latin typeface="Noto Sans CJK KR"/>
                        </a:rPr>
                        <a:t>service · environment</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checkout-api · staging</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대상 범위 일치</a:t>
                      </a:r>
                    </a:p>
                  </a:txBody>
                  <a:tcPr marL="137160" marR="91440" marT="91440" marB="54864" anchor="ctr">
                    <a:solidFill>
                      <a:srgbClr val="EDF0E9"/>
                    </a:solidFill>
                  </a:tcPr>
                </a:tc>
              </a:tr>
              <a:tr h="768096">
                <a:tc>
                  <a:txBody>
                    <a:bodyPr/>
                    <a:lstStyle/>
                    <a:p>
                      <a:pPr>
                        <a:lnSpc>
                          <a:spcPct val="113000"/>
                        </a:lnSpc>
                        <a:spcAft>
                          <a:spcPts val="0"/>
                        </a:spcAft>
                      </a:pPr>
                      <a:r>
                        <a:rPr sz="2000" b="1">
                          <a:solidFill>
                            <a:srgbClr val="172B2A"/>
                          </a:solidFill>
                          <a:latin typeface="Noto Sans CJK KR"/>
                        </a:rPr>
                        <a:t>updated_at</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2026-10-01</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최신성 검토</a:t>
                      </a:r>
                    </a:p>
                  </a:txBody>
                  <a:tcPr marL="137160" marR="91440" marT="91440" marB="54864" anchor="ctr">
                    <a:solidFill>
                      <a:srgbClr val="FFFEF9"/>
                    </a:solidFill>
                  </a:tcPr>
                </a:tc>
              </a:tr>
              <a:tr h="768096">
                <a:tc>
                  <a:txBody>
                    <a:bodyPr/>
                    <a:lstStyle/>
                    <a:p>
                      <a:pPr>
                        <a:lnSpc>
                          <a:spcPct val="113000"/>
                        </a:lnSpc>
                        <a:spcAft>
                          <a:spcPts val="0"/>
                        </a:spcAft>
                      </a:pPr>
                      <a:r>
                        <a:rPr sz="2000" b="1">
                          <a:solidFill>
                            <a:srgbClr val="172B2A"/>
                          </a:solidFill>
                          <a:latin typeface="Noto Sans CJK KR"/>
                        </a:rPr>
                        <a:t>access_scope</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operations-read</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사용자 접근 범위</a:t>
                      </a:r>
                    </a:p>
                  </a:txBody>
                  <a:tcPr marL="137160" marR="91440" marT="91440" marB="54864" anchor="ctr">
                    <a:solidFill>
                      <a:srgbClr val="EDF0E9"/>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2  /  근거·승인·복구"/>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2  /  근거·승인·복구</a:t>
            </a:r>
          </a:p>
        </p:txBody>
      </p:sp>
      <p:sp>
        <p:nvSpPr>
          <p:cNvPr id="3" name="Rounded Rectangle 2"/>
          <p:cNvSpPr/>
          <p:nvPr/>
        </p:nvSpPr>
        <p:spPr>
          <a:xfrm>
            <a:off x="10195560" y="173736"/>
            <a:ext cx="1399032" cy="329184"/>
          </a:xfrm>
          <a:prstGeom prst="roundRect">
            <a:avLst>
              <a:gd name="adj" fmla="val 8000"/>
            </a:avLst>
          </a:prstGeom>
          <a:solidFill>
            <a:srgbClr val="E3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60분 경로"/>
          <p:cNvSpPr txBox="1"/>
          <p:nvPr/>
        </p:nvSpPr>
        <p:spPr>
          <a:xfrm>
            <a:off x="10241280" y="214884"/>
            <a:ext cx="1307592" cy="182880"/>
          </a:xfrm>
          <a:prstGeom prst="rect">
            <a:avLst/>
          </a:prstGeom>
          <a:noFill/>
        </p:spPr>
        <p:txBody>
          <a:bodyPr wrap="square" lIns="0" rIns="0" tIns="0" bIns="0">
            <a:noAutofit/>
          </a:bodyPr>
          <a:lstStyle/>
          <a:p>
            <a:pPr algn="ctr">
              <a:lnSpc>
                <a:spcPct val="116000"/>
              </a:lnSpc>
              <a:spcBef>
                <a:spcPts val="0"/>
              </a:spcBef>
              <a:spcAft>
                <a:spcPts val="0"/>
              </a:spcAft>
            </a:pPr>
            <a:r>
              <a:rPr sz="1000" b="1">
                <a:solidFill>
                  <a:srgbClr val="126858"/>
                </a:solidFill>
                <a:latin typeface="Noto Sans CJK KR"/>
                <a:ea typeface="Noto Sans CJK KR"/>
                <a:latin typeface="Noto Sans CJK KR"/>
              </a:rPr>
              <a:t>60분 경로</a:t>
            </a:r>
          </a:p>
        </p:txBody>
      </p:sp>
      <p:sp>
        <p:nvSpPr>
          <p:cNvPr id="5" name="TEXT 인용 출처 검증"/>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인용 출처 검증</a:t>
            </a:r>
          </a:p>
        </p:txBody>
      </p:sp>
      <p:sp>
        <p:nvSpPr>
          <p:cNvPr id="6" name="TEXT 모델 인용 ID를 실제 Tool 응답에서 관측한 ID와 대조한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모델 인용 ID를 실제 Tool 응답에서 관측한 ID와 대조한다.</a:t>
            </a:r>
          </a:p>
        </p:txBody>
      </p:sp>
      <p:cxnSp>
        <p:nvCxnSpPr>
          <p:cNvPr id="7" name="Connector 6"/>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9" name="TEXT AI AGENT FIELDNOTES  /  C06"/>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C06</a:t>
            </a:r>
          </a:p>
        </p:txBody>
      </p:sp>
      <p:sp>
        <p:nvSpPr>
          <p:cNvPr id="10" name="TEXT 25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25 / 72</a:t>
            </a:r>
          </a:p>
        </p:txBody>
      </p:sp>
      <p:sp>
        <p:nvSpPr>
          <p:cNvPr id="11" name="TEXT 심화 A06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A06 →</a:t>
            </a:r>
          </a:p>
        </p:txBody>
      </p:sp>
      <p:sp>
        <p:nvSpPr>
          <p:cNvPr id="12" name="Rounded Rectangle 11"/>
          <p:cNvSpPr/>
          <p:nvPr/>
        </p:nvSpPr>
        <p:spPr>
          <a:xfrm>
            <a:off x="594360" y="2670048"/>
            <a:ext cx="3547872" cy="2240280"/>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94360" y="2670048"/>
            <a:ext cx="54864" cy="2240280"/>
          </a:xfrm>
          <a:prstGeom prst="rect">
            <a:avLst/>
          </a:prstGeom>
          <a:solidFill>
            <a:srgbClr val="71559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실제 관측"/>
          <p:cNvSpPr txBox="1"/>
          <p:nvPr/>
        </p:nvSpPr>
        <p:spPr>
          <a:xfrm>
            <a:off x="795528" y="2852928"/>
            <a:ext cx="314553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71559D"/>
                </a:solidFill>
                <a:latin typeface="Noto Sans CJK KR"/>
                <a:ea typeface="Noto Sans CJK KR"/>
                <a:latin typeface="Noto Sans CJK KR"/>
              </a:rPr>
              <a:t>실제 관측</a:t>
            </a:r>
          </a:p>
        </p:txBody>
      </p:sp>
      <p:sp>
        <p:nvSpPr>
          <p:cNvPr id="15" name="TEXT metric-7&#10;runbook-12"/>
          <p:cNvSpPr txBox="1"/>
          <p:nvPr/>
        </p:nvSpPr>
        <p:spPr>
          <a:xfrm>
            <a:off x="795528" y="3538728"/>
            <a:ext cx="3145536" cy="1234440"/>
          </a:xfrm>
          <a:prstGeom prst="rect">
            <a:avLst/>
          </a:prstGeom>
          <a:noFill/>
        </p:spPr>
        <p:txBody>
          <a:bodyPr wrap="square" lIns="0" rIns="0" tIns="0" bIns="0">
            <a:noAutofit/>
          </a:bodyPr>
          <a:lstStyle/>
          <a:p>
            <a:pPr algn="l">
              <a:lnSpc>
                <a:spcPct val="116000"/>
              </a:lnSpc>
              <a:spcBef>
                <a:spcPts val="0"/>
              </a:spcBef>
              <a:spcAft>
                <a:spcPts val="0"/>
              </a:spcAft>
            </a:pPr>
            <a:r>
              <a:rPr sz="2300" b="0">
                <a:solidFill>
                  <a:srgbClr val="172B2A"/>
                </a:solidFill>
                <a:latin typeface="Noto Sans CJK KR"/>
                <a:ea typeface="Noto Sans CJK KR"/>
                <a:latin typeface="Noto Sans CJK KR"/>
              </a:rPr>
              <a:t>metric-7</a:t>
            </a:r>
          </a:p>
          <a:p>
            <a:pPr algn="l">
              <a:lnSpc>
                <a:spcPct val="116000"/>
              </a:lnSpc>
              <a:spcBef>
                <a:spcPts val="0"/>
              </a:spcBef>
              <a:spcAft>
                <a:spcPts val="0"/>
              </a:spcAft>
            </a:pPr>
            <a:r>
              <a:rPr sz="2300" b="0">
                <a:solidFill>
                  <a:srgbClr val="172B2A"/>
                </a:solidFill>
                <a:latin typeface="Noto Sans CJK KR"/>
                <a:ea typeface="Noto Sans CJK KR"/>
                <a:latin typeface="Noto Sans CJK KR"/>
              </a:rPr>
              <a:t>runbook-12</a:t>
            </a:r>
          </a:p>
        </p:txBody>
      </p:sp>
      <p:sp>
        <p:nvSpPr>
          <p:cNvPr id="16" name="Rounded Rectangle 15"/>
          <p:cNvSpPr/>
          <p:nvPr/>
        </p:nvSpPr>
        <p:spPr>
          <a:xfrm>
            <a:off x="4315968" y="2670048"/>
            <a:ext cx="3547872" cy="2240280"/>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15968" y="2670048"/>
            <a:ext cx="54864" cy="2240280"/>
          </a:xfrm>
          <a:prstGeom prst="rect">
            <a:avLst/>
          </a:prstGeom>
          <a:solidFill>
            <a:srgbClr val="345C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모델 인용"/>
          <p:cNvSpPr txBox="1"/>
          <p:nvPr/>
        </p:nvSpPr>
        <p:spPr>
          <a:xfrm>
            <a:off x="4517136" y="2852928"/>
            <a:ext cx="314553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345CB5"/>
                </a:solidFill>
                <a:latin typeface="Noto Sans CJK KR"/>
                <a:ea typeface="Noto Sans CJK KR"/>
                <a:latin typeface="Noto Sans CJK KR"/>
              </a:rPr>
              <a:t>모델 인용</a:t>
            </a:r>
          </a:p>
        </p:txBody>
      </p:sp>
      <p:sp>
        <p:nvSpPr>
          <p:cNvPr id="19" name="TEXT runbook-12&#10;invented-9"/>
          <p:cNvSpPr txBox="1"/>
          <p:nvPr/>
        </p:nvSpPr>
        <p:spPr>
          <a:xfrm>
            <a:off x="4517136" y="3538728"/>
            <a:ext cx="3145536" cy="1234440"/>
          </a:xfrm>
          <a:prstGeom prst="rect">
            <a:avLst/>
          </a:prstGeom>
          <a:noFill/>
        </p:spPr>
        <p:txBody>
          <a:bodyPr wrap="square" lIns="0" rIns="0" tIns="0" bIns="0">
            <a:noAutofit/>
          </a:bodyPr>
          <a:lstStyle/>
          <a:p>
            <a:pPr algn="l">
              <a:lnSpc>
                <a:spcPct val="116000"/>
              </a:lnSpc>
              <a:spcBef>
                <a:spcPts val="0"/>
              </a:spcBef>
              <a:spcAft>
                <a:spcPts val="0"/>
              </a:spcAft>
            </a:pPr>
            <a:r>
              <a:rPr sz="2300" b="0">
                <a:solidFill>
                  <a:srgbClr val="172B2A"/>
                </a:solidFill>
                <a:latin typeface="Noto Sans CJK KR"/>
                <a:ea typeface="Noto Sans CJK KR"/>
                <a:latin typeface="Noto Sans CJK KR"/>
              </a:rPr>
              <a:t>runbook-12</a:t>
            </a:r>
          </a:p>
          <a:p>
            <a:pPr algn="l">
              <a:lnSpc>
                <a:spcPct val="116000"/>
              </a:lnSpc>
              <a:spcBef>
                <a:spcPts val="0"/>
              </a:spcBef>
              <a:spcAft>
                <a:spcPts val="0"/>
              </a:spcAft>
            </a:pPr>
            <a:r>
              <a:rPr sz="2300" b="0">
                <a:solidFill>
                  <a:srgbClr val="172B2A"/>
                </a:solidFill>
                <a:latin typeface="Noto Sans CJK KR"/>
                <a:ea typeface="Noto Sans CJK KR"/>
                <a:latin typeface="Noto Sans CJK KR"/>
              </a:rPr>
              <a:t>invented-9</a:t>
            </a:r>
          </a:p>
        </p:txBody>
      </p:sp>
      <p:sp>
        <p:nvSpPr>
          <p:cNvPr id="20" name="Rounded Rectangle 19"/>
          <p:cNvSpPr/>
          <p:nvPr/>
        </p:nvSpPr>
        <p:spPr>
          <a:xfrm>
            <a:off x="8037576" y="2670048"/>
            <a:ext cx="3547872" cy="2240280"/>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37576" y="2670048"/>
            <a:ext cx="54864" cy="2240280"/>
          </a:xfrm>
          <a:prstGeom prst="rect">
            <a:avLst/>
          </a:prstGeom>
          <a:solidFill>
            <a:srgbClr val="126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 검증된 교집합"/>
          <p:cNvSpPr txBox="1"/>
          <p:nvPr/>
        </p:nvSpPr>
        <p:spPr>
          <a:xfrm>
            <a:off x="8238744" y="2852928"/>
            <a:ext cx="314553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검증된 교집합</a:t>
            </a:r>
          </a:p>
        </p:txBody>
      </p:sp>
      <p:sp>
        <p:nvSpPr>
          <p:cNvPr id="23" name="TEXT runbook-12"/>
          <p:cNvSpPr txBox="1"/>
          <p:nvPr/>
        </p:nvSpPr>
        <p:spPr>
          <a:xfrm>
            <a:off x="8238744" y="3538728"/>
            <a:ext cx="3145536" cy="1234440"/>
          </a:xfrm>
          <a:prstGeom prst="rect">
            <a:avLst/>
          </a:prstGeom>
          <a:noFill/>
        </p:spPr>
        <p:txBody>
          <a:bodyPr wrap="square" lIns="0" rIns="0" tIns="0" bIns="0">
            <a:noAutofit/>
          </a:bodyPr>
          <a:lstStyle/>
          <a:p>
            <a:pPr algn="l">
              <a:lnSpc>
                <a:spcPct val="116000"/>
              </a:lnSpc>
              <a:spcBef>
                <a:spcPts val="0"/>
              </a:spcBef>
              <a:spcAft>
                <a:spcPts val="0"/>
              </a:spcAft>
            </a:pPr>
            <a:r>
              <a:rPr sz="2300" b="0">
                <a:solidFill>
                  <a:srgbClr val="172B2A"/>
                </a:solidFill>
                <a:latin typeface="Noto Sans CJK KR"/>
                <a:ea typeface="Noto Sans CJK KR"/>
                <a:latin typeface="Noto Sans CJK KR"/>
              </a:rPr>
              <a:t>runbook-12</a:t>
            </a:r>
          </a:p>
        </p:txBody>
      </p:sp>
      <p:sp>
        <p:nvSpPr>
          <p:cNvPr id="24" name="Rounded Rectangle 23"/>
          <p:cNvSpPr/>
          <p:nvPr/>
        </p:nvSpPr>
        <p:spPr>
          <a:xfrm>
            <a:off x="594360" y="5202936"/>
            <a:ext cx="11000232" cy="758952"/>
          </a:xfrm>
          <a:prstGeom prst="roundRect">
            <a:avLst>
              <a:gd name="adj" fmla="val 8000"/>
            </a:avLst>
          </a:prstGeom>
          <a:solidFill>
            <a:srgbClr val="F7EA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 제외: invented-9  |  원래 주장과 검증된 근거를 구분해서 보고"/>
          <p:cNvSpPr txBox="1"/>
          <p:nvPr/>
        </p:nvSpPr>
        <p:spPr>
          <a:xfrm>
            <a:off x="795528" y="5385816"/>
            <a:ext cx="10607040" cy="393192"/>
          </a:xfrm>
          <a:prstGeom prst="rect">
            <a:avLst/>
          </a:prstGeom>
          <a:noFill/>
        </p:spPr>
        <p:txBody>
          <a:bodyPr wrap="square" lIns="0" rIns="0" tIns="0" bIns="0">
            <a:noAutofit/>
          </a:bodyPr>
          <a:lstStyle/>
          <a:p>
            <a:pPr algn="l">
              <a:lnSpc>
                <a:spcPct val="116000"/>
              </a:lnSpc>
              <a:spcBef>
                <a:spcPts val="0"/>
              </a:spcBef>
              <a:spcAft>
                <a:spcPts val="0"/>
              </a:spcAft>
            </a:pPr>
            <a:r>
              <a:rPr sz="2000" b="1">
                <a:solidFill>
                  <a:srgbClr val="AD572B"/>
                </a:solidFill>
                <a:latin typeface="Noto Sans CJK KR"/>
                <a:ea typeface="Noto Sans CJK KR"/>
                <a:latin typeface="Noto Sans CJK KR"/>
              </a:rPr>
              <a:t>제외: invented-9  |  원래 주장과 검증된 근거를 구분해서 보고</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2  /  근거·승인·복구"/>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2  /  근거·승인·복구</a:t>
            </a:r>
          </a:p>
        </p:txBody>
      </p:sp>
      <p:sp>
        <p:nvSpPr>
          <p:cNvPr id="3" name="TEXT 근거의 타당성"/>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근거의 타당성</a:t>
            </a:r>
          </a:p>
        </p:txBody>
      </p:sp>
      <p:sp>
        <p:nvSpPr>
          <p:cNvPr id="4" name="TEXT 존재하는 출처라도 주장·대상·시점이 맞는지 검사한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존재하는 출처라도 주장·대상·시점이 맞는지 검사한다.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06"/>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C06</a:t>
            </a:r>
          </a:p>
        </p:txBody>
      </p:sp>
      <p:sp>
        <p:nvSpPr>
          <p:cNvPr id="8" name="TEXT 26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26 / 72</a:t>
            </a:r>
          </a:p>
        </p:txBody>
      </p:sp>
      <p:sp>
        <p:nvSpPr>
          <p:cNvPr id="9" name="TEXT 심화 A06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A06 →</a:t>
            </a:r>
          </a:p>
        </p:txBody>
      </p:sp>
      <p:sp>
        <p:nvSpPr>
          <p:cNvPr id="10" name="Rounded Rectangle 9"/>
          <p:cNvSpPr/>
          <p:nvPr/>
        </p:nvSpPr>
        <p:spPr>
          <a:xfrm>
            <a:off x="594360" y="2660904"/>
            <a:ext cx="3547872" cy="3154680"/>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2660904"/>
            <a:ext cx="54864" cy="3154680"/>
          </a:xfrm>
          <a:prstGeom prst="rect">
            <a:avLst/>
          </a:prstGeom>
          <a:solidFill>
            <a:srgbClr val="126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존재·의미"/>
          <p:cNvSpPr txBox="1"/>
          <p:nvPr/>
        </p:nvSpPr>
        <p:spPr>
          <a:xfrm>
            <a:off x="795528" y="2843784"/>
            <a:ext cx="314553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존재·의미</a:t>
            </a:r>
          </a:p>
        </p:txBody>
      </p:sp>
      <p:sp>
        <p:nvSpPr>
          <p:cNvPr id="13" name="TEXT 실제로 관측한 ID인가?&#10;문서가 주장을 지지하는가?"/>
          <p:cNvSpPr txBox="1"/>
          <p:nvPr/>
        </p:nvSpPr>
        <p:spPr>
          <a:xfrm>
            <a:off x="795528" y="3529584"/>
            <a:ext cx="3145536" cy="2148840"/>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실제로 관측한 ID인가?</a:t>
            </a:r>
          </a:p>
          <a:p>
            <a:pPr algn="l">
              <a:lnSpc>
                <a:spcPct val="116000"/>
              </a:lnSpc>
              <a:spcBef>
                <a:spcPts val="0"/>
              </a:spcBef>
              <a:spcAft>
                <a:spcPts val="0"/>
              </a:spcAft>
            </a:pPr>
            <a:r>
              <a:rPr sz="2200" b="0">
                <a:solidFill>
                  <a:srgbClr val="172B2A"/>
                </a:solidFill>
                <a:latin typeface="Noto Sans CJK KR"/>
                <a:ea typeface="Noto Sans CJK KR"/>
                <a:latin typeface="Noto Sans CJK KR"/>
              </a:rPr>
              <a:t>문서가 주장을 지지하는가?</a:t>
            </a:r>
          </a:p>
        </p:txBody>
      </p:sp>
      <p:sp>
        <p:nvSpPr>
          <p:cNvPr id="14" name="Rounded Rectangle 13"/>
          <p:cNvSpPr/>
          <p:nvPr/>
        </p:nvSpPr>
        <p:spPr>
          <a:xfrm>
            <a:off x="4315968" y="2660904"/>
            <a:ext cx="3547872" cy="3154680"/>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15968" y="2660904"/>
            <a:ext cx="54864" cy="3154680"/>
          </a:xfrm>
          <a:prstGeom prst="rect">
            <a:avLst/>
          </a:prstGeom>
          <a:solidFill>
            <a:srgbClr val="345C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시점·범위"/>
          <p:cNvSpPr txBox="1"/>
          <p:nvPr/>
        </p:nvSpPr>
        <p:spPr>
          <a:xfrm>
            <a:off x="4517136" y="2843784"/>
            <a:ext cx="314553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345CB5"/>
                </a:solidFill>
                <a:latin typeface="Noto Sans CJK KR"/>
                <a:ea typeface="Noto Sans CJK KR"/>
                <a:latin typeface="Noto Sans CJK KR"/>
              </a:rPr>
              <a:t>시점·범위</a:t>
            </a:r>
          </a:p>
        </p:txBody>
      </p:sp>
      <p:sp>
        <p:nvSpPr>
          <p:cNvPr id="17" name="TEXT 현재 버전인가?&#10;이 서비스·환경에 맞는가?"/>
          <p:cNvSpPr txBox="1"/>
          <p:nvPr/>
        </p:nvSpPr>
        <p:spPr>
          <a:xfrm>
            <a:off x="4517136" y="3529584"/>
            <a:ext cx="3145536" cy="2148840"/>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현재 버전인가?</a:t>
            </a:r>
          </a:p>
          <a:p>
            <a:pPr algn="l">
              <a:lnSpc>
                <a:spcPct val="116000"/>
              </a:lnSpc>
              <a:spcBef>
                <a:spcPts val="0"/>
              </a:spcBef>
              <a:spcAft>
                <a:spcPts val="0"/>
              </a:spcAft>
            </a:pPr>
            <a:r>
              <a:rPr sz="2200" b="0">
                <a:solidFill>
                  <a:srgbClr val="172B2A"/>
                </a:solidFill>
                <a:latin typeface="Noto Sans CJK KR"/>
                <a:ea typeface="Noto Sans CJK KR"/>
                <a:latin typeface="Noto Sans CJK KR"/>
              </a:rPr>
              <a:t>이 서비스·환경에 맞는가?</a:t>
            </a:r>
          </a:p>
        </p:txBody>
      </p:sp>
      <p:sp>
        <p:nvSpPr>
          <p:cNvPr id="18" name="Rounded Rectangle 17"/>
          <p:cNvSpPr/>
          <p:nvPr/>
        </p:nvSpPr>
        <p:spPr>
          <a:xfrm>
            <a:off x="8037576" y="2660904"/>
            <a:ext cx="3547872" cy="3154680"/>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37576" y="2660904"/>
            <a:ext cx="54864" cy="3154680"/>
          </a:xfrm>
          <a:prstGeom prst="rect">
            <a:avLst/>
          </a:prstGeom>
          <a:solidFill>
            <a:srgbClr val="AD5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 권한·표시"/>
          <p:cNvSpPr txBox="1"/>
          <p:nvPr/>
        </p:nvSpPr>
        <p:spPr>
          <a:xfrm>
            <a:off x="8238744" y="2843784"/>
            <a:ext cx="314553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AD572B"/>
                </a:solidFill>
                <a:latin typeface="Noto Sans CJK KR"/>
                <a:ea typeface="Noto Sans CJK KR"/>
                <a:latin typeface="Noto Sans CJK KR"/>
              </a:rPr>
              <a:t>권한·표시</a:t>
            </a:r>
          </a:p>
        </p:txBody>
      </p:sp>
      <p:sp>
        <p:nvSpPr>
          <p:cNvPr id="21" name="TEXT 허용된 자료인가?&#10;검증 실패 인용을 구분했는가?"/>
          <p:cNvSpPr txBox="1"/>
          <p:nvPr/>
        </p:nvSpPr>
        <p:spPr>
          <a:xfrm>
            <a:off x="8238744" y="3529584"/>
            <a:ext cx="3145536" cy="2148840"/>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허용된 자료인가?</a:t>
            </a:r>
          </a:p>
          <a:p>
            <a:pPr algn="l">
              <a:lnSpc>
                <a:spcPct val="116000"/>
              </a:lnSpc>
              <a:spcBef>
                <a:spcPts val="0"/>
              </a:spcBef>
              <a:spcAft>
                <a:spcPts val="0"/>
              </a:spcAft>
            </a:pPr>
            <a:r>
              <a:rPr sz="2200" b="0">
                <a:solidFill>
                  <a:srgbClr val="172B2A"/>
                </a:solidFill>
                <a:latin typeface="Noto Sans CJK KR"/>
                <a:ea typeface="Noto Sans CJK KR"/>
                <a:latin typeface="Noto Sans CJK KR"/>
              </a:rPr>
              <a:t>검증 실패 인용을 구분했는가?</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2  /  근거·승인·복구"/>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2  /  근거·승인·복구</a:t>
            </a:r>
          </a:p>
        </p:txBody>
      </p:sp>
      <p:sp>
        <p:nvSpPr>
          <p:cNvPr id="3" name="TEXT MCP와 Tool Adapter"/>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MCP와 Tool Adapter</a:t>
            </a:r>
          </a:p>
        </p:txBody>
      </p:sp>
      <p:sp>
        <p:nvSpPr>
          <p:cNvPr id="4" name="TEXT 연결 표준과 업무 계약·권한 검증의 책임을 나눈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연결 표준과 업무 계약·권한 검증의 책임을 나눈다.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07"/>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C07</a:t>
            </a:r>
          </a:p>
        </p:txBody>
      </p:sp>
      <p:sp>
        <p:nvSpPr>
          <p:cNvPr id="8" name="TEXT 27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27 / 72</a:t>
            </a:r>
          </a:p>
        </p:txBody>
      </p:sp>
      <p:sp>
        <p:nvSpPr>
          <p:cNvPr id="9" name="TEXT 심화 A07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A07 →</a:t>
            </a:r>
          </a:p>
        </p:txBody>
      </p:sp>
      <p:sp>
        <p:nvSpPr>
          <p:cNvPr id="10" name="Rounded Rectangle 9"/>
          <p:cNvSpPr/>
          <p:nvPr/>
        </p:nvSpPr>
        <p:spPr>
          <a:xfrm>
            <a:off x="594360" y="2880360"/>
            <a:ext cx="1995220" cy="1874519"/>
          </a:xfrm>
          <a:prstGeom prst="roundRect">
            <a:avLst>
              <a:gd name="adj" fmla="val 8000"/>
            </a:avLst>
          </a:prstGeom>
          <a:solidFill>
            <a:srgbClr val="E3EFE7"/>
          </a:solidFill>
          <a:ln w="10160">
            <a:solidFill>
              <a:srgbClr val="1268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01"/>
          <p:cNvSpPr txBox="1"/>
          <p:nvPr/>
        </p:nvSpPr>
        <p:spPr>
          <a:xfrm>
            <a:off x="749808" y="3044952"/>
            <a:ext cx="1684324" cy="246888"/>
          </a:xfrm>
          <a:prstGeom prst="rect">
            <a:avLst/>
          </a:prstGeom>
          <a:noFill/>
        </p:spPr>
        <p:txBody>
          <a:bodyPr wrap="square" lIns="0" rIns="0" tIns="0" bIns="0">
            <a:noAutofit/>
          </a:bodyPr>
          <a:lstStyle/>
          <a:p>
            <a:pPr algn="l">
              <a:lnSpc>
                <a:spcPct val="116000"/>
              </a:lnSpc>
              <a:spcBef>
                <a:spcPts val="0"/>
              </a:spcBef>
              <a:spcAft>
                <a:spcPts val="0"/>
              </a:spcAft>
            </a:pPr>
            <a:r>
              <a:rPr sz="1200" b="1">
                <a:solidFill>
                  <a:srgbClr val="126858"/>
                </a:solidFill>
                <a:latin typeface="Noto Sans CJK KR"/>
                <a:ea typeface="Noto Sans CJK KR"/>
                <a:latin typeface="Noto Sans CJK KR"/>
              </a:rPr>
              <a:t>01</a:t>
            </a:r>
          </a:p>
        </p:txBody>
      </p:sp>
      <p:sp>
        <p:nvSpPr>
          <p:cNvPr id="12" name="TEXT Application"/>
          <p:cNvSpPr txBox="1"/>
          <p:nvPr/>
        </p:nvSpPr>
        <p:spPr>
          <a:xfrm>
            <a:off x="749808" y="3511296"/>
            <a:ext cx="1684324" cy="713232"/>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Application</a:t>
            </a:r>
          </a:p>
        </p:txBody>
      </p:sp>
      <p:sp>
        <p:nvSpPr>
          <p:cNvPr id="13" name="TEXT 업무·정책"/>
          <p:cNvSpPr txBox="1"/>
          <p:nvPr/>
        </p:nvSpPr>
        <p:spPr>
          <a:xfrm>
            <a:off x="749808" y="4261104"/>
            <a:ext cx="1684324" cy="365760"/>
          </a:xfrm>
          <a:prstGeom prst="rect">
            <a:avLst/>
          </a:prstGeom>
          <a:noFill/>
        </p:spPr>
        <p:txBody>
          <a:bodyPr wrap="square" lIns="0" rIns="0" tIns="0" bIns="0">
            <a:noAutofit/>
          </a:bodyPr>
          <a:lstStyle/>
          <a:p>
            <a:pPr algn="l">
              <a:lnSpc>
                <a:spcPct val="116000"/>
              </a:lnSpc>
              <a:spcBef>
                <a:spcPts val="0"/>
              </a:spcBef>
              <a:spcAft>
                <a:spcPts val="0"/>
              </a:spcAft>
            </a:pPr>
            <a:r>
              <a:rPr sz="1600" b="0">
                <a:solidFill>
                  <a:srgbClr val="126858"/>
                </a:solidFill>
                <a:latin typeface="Noto Sans CJK KR"/>
                <a:ea typeface="Noto Sans CJK KR"/>
                <a:latin typeface="Noto Sans CJK KR"/>
              </a:rPr>
              <a:t>업무·정책</a:t>
            </a:r>
          </a:p>
        </p:txBody>
      </p:sp>
      <p:cxnSp>
        <p:nvCxnSpPr>
          <p:cNvPr id="14" name="Connector 13"/>
          <p:cNvCxnSpPr/>
          <p:nvPr/>
        </p:nvCxnSpPr>
        <p:spPr>
          <a:xfrm>
            <a:off x="2607868" y="3803904"/>
            <a:ext cx="219456" cy="0"/>
          </a:xfrm>
          <a:prstGeom prst="line">
            <a:avLst/>
          </a:prstGeom>
          <a:ln w="22860">
            <a:solidFill>
              <a:srgbClr val="5E6E66"/>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845612" y="2880360"/>
            <a:ext cx="1995220" cy="1874519"/>
          </a:xfrm>
          <a:prstGeom prst="roundRect">
            <a:avLst>
              <a:gd name="adj" fmla="val 8000"/>
            </a:avLst>
          </a:prstGeom>
          <a:solidFill>
            <a:srgbClr val="E3EFE7"/>
          </a:solidFill>
          <a:ln w="10160">
            <a:solidFill>
              <a:srgbClr val="1268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02"/>
          <p:cNvSpPr txBox="1"/>
          <p:nvPr/>
        </p:nvSpPr>
        <p:spPr>
          <a:xfrm>
            <a:off x="3001060" y="3044952"/>
            <a:ext cx="1684324" cy="246888"/>
          </a:xfrm>
          <a:prstGeom prst="rect">
            <a:avLst/>
          </a:prstGeom>
          <a:noFill/>
        </p:spPr>
        <p:txBody>
          <a:bodyPr wrap="square" lIns="0" rIns="0" tIns="0" bIns="0">
            <a:noAutofit/>
          </a:bodyPr>
          <a:lstStyle/>
          <a:p>
            <a:pPr algn="l">
              <a:lnSpc>
                <a:spcPct val="116000"/>
              </a:lnSpc>
              <a:spcBef>
                <a:spcPts val="0"/>
              </a:spcBef>
              <a:spcAft>
                <a:spcPts val="0"/>
              </a:spcAft>
            </a:pPr>
            <a:r>
              <a:rPr sz="1200" b="1">
                <a:solidFill>
                  <a:srgbClr val="126858"/>
                </a:solidFill>
                <a:latin typeface="Noto Sans CJK KR"/>
                <a:ea typeface="Noto Sans CJK KR"/>
                <a:latin typeface="Noto Sans CJK KR"/>
              </a:rPr>
              <a:t>02</a:t>
            </a:r>
          </a:p>
        </p:txBody>
      </p:sp>
      <p:sp>
        <p:nvSpPr>
          <p:cNvPr id="17" name="TEXT Tool Adapter"/>
          <p:cNvSpPr txBox="1"/>
          <p:nvPr/>
        </p:nvSpPr>
        <p:spPr>
          <a:xfrm>
            <a:off x="3001060" y="3511296"/>
            <a:ext cx="1684324" cy="713232"/>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Tool Adapter</a:t>
            </a:r>
          </a:p>
        </p:txBody>
      </p:sp>
      <p:sp>
        <p:nvSpPr>
          <p:cNvPr id="18" name="TEXT 계약 정규화"/>
          <p:cNvSpPr txBox="1"/>
          <p:nvPr/>
        </p:nvSpPr>
        <p:spPr>
          <a:xfrm>
            <a:off x="3001060" y="4261104"/>
            <a:ext cx="1684324" cy="365760"/>
          </a:xfrm>
          <a:prstGeom prst="rect">
            <a:avLst/>
          </a:prstGeom>
          <a:noFill/>
        </p:spPr>
        <p:txBody>
          <a:bodyPr wrap="square" lIns="0" rIns="0" tIns="0" bIns="0">
            <a:noAutofit/>
          </a:bodyPr>
          <a:lstStyle/>
          <a:p>
            <a:pPr algn="l">
              <a:lnSpc>
                <a:spcPct val="116000"/>
              </a:lnSpc>
              <a:spcBef>
                <a:spcPts val="0"/>
              </a:spcBef>
              <a:spcAft>
                <a:spcPts val="0"/>
              </a:spcAft>
            </a:pPr>
            <a:r>
              <a:rPr sz="1600" b="0">
                <a:solidFill>
                  <a:srgbClr val="126858"/>
                </a:solidFill>
                <a:latin typeface="Noto Sans CJK KR"/>
                <a:ea typeface="Noto Sans CJK KR"/>
                <a:latin typeface="Noto Sans CJK KR"/>
              </a:rPr>
              <a:t>계약 정규화</a:t>
            </a:r>
          </a:p>
        </p:txBody>
      </p:sp>
      <p:cxnSp>
        <p:nvCxnSpPr>
          <p:cNvPr id="19" name="Connector 18"/>
          <p:cNvCxnSpPr/>
          <p:nvPr/>
        </p:nvCxnSpPr>
        <p:spPr>
          <a:xfrm>
            <a:off x="4859121" y="3803904"/>
            <a:ext cx="219456" cy="0"/>
          </a:xfrm>
          <a:prstGeom prst="line">
            <a:avLst/>
          </a:prstGeom>
          <a:ln w="22860">
            <a:solidFill>
              <a:srgbClr val="5E6E66"/>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096865" y="2880360"/>
            <a:ext cx="1995220" cy="1874519"/>
          </a:xfrm>
          <a:prstGeom prst="roundRect">
            <a:avLst>
              <a:gd name="adj" fmla="val 8000"/>
            </a:avLst>
          </a:prstGeom>
          <a:solidFill>
            <a:srgbClr val="E3EFE7"/>
          </a:solidFill>
          <a:ln w="10160">
            <a:solidFill>
              <a:srgbClr val="1268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 03"/>
          <p:cNvSpPr txBox="1"/>
          <p:nvPr/>
        </p:nvSpPr>
        <p:spPr>
          <a:xfrm>
            <a:off x="5252313" y="3044952"/>
            <a:ext cx="1684324" cy="246888"/>
          </a:xfrm>
          <a:prstGeom prst="rect">
            <a:avLst/>
          </a:prstGeom>
          <a:noFill/>
        </p:spPr>
        <p:txBody>
          <a:bodyPr wrap="square" lIns="0" rIns="0" tIns="0" bIns="0">
            <a:noAutofit/>
          </a:bodyPr>
          <a:lstStyle/>
          <a:p>
            <a:pPr algn="l">
              <a:lnSpc>
                <a:spcPct val="116000"/>
              </a:lnSpc>
              <a:spcBef>
                <a:spcPts val="0"/>
              </a:spcBef>
              <a:spcAft>
                <a:spcPts val="0"/>
              </a:spcAft>
            </a:pPr>
            <a:r>
              <a:rPr sz="1200" b="1">
                <a:solidFill>
                  <a:srgbClr val="126858"/>
                </a:solidFill>
                <a:latin typeface="Noto Sans CJK KR"/>
                <a:ea typeface="Noto Sans CJK KR"/>
                <a:latin typeface="Noto Sans CJK KR"/>
              </a:rPr>
              <a:t>03</a:t>
            </a:r>
          </a:p>
        </p:txBody>
      </p:sp>
      <p:sp>
        <p:nvSpPr>
          <p:cNvPr id="22" name="TEXT MCP Client"/>
          <p:cNvSpPr txBox="1"/>
          <p:nvPr/>
        </p:nvSpPr>
        <p:spPr>
          <a:xfrm>
            <a:off x="5252313" y="3511296"/>
            <a:ext cx="1684324" cy="713232"/>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MCP Client</a:t>
            </a:r>
          </a:p>
        </p:txBody>
      </p:sp>
      <p:sp>
        <p:nvSpPr>
          <p:cNvPr id="23" name="TEXT 발견·호출"/>
          <p:cNvSpPr txBox="1"/>
          <p:nvPr/>
        </p:nvSpPr>
        <p:spPr>
          <a:xfrm>
            <a:off x="5252313" y="4261104"/>
            <a:ext cx="1684324" cy="365760"/>
          </a:xfrm>
          <a:prstGeom prst="rect">
            <a:avLst/>
          </a:prstGeom>
          <a:noFill/>
        </p:spPr>
        <p:txBody>
          <a:bodyPr wrap="square" lIns="0" rIns="0" tIns="0" bIns="0">
            <a:noAutofit/>
          </a:bodyPr>
          <a:lstStyle/>
          <a:p>
            <a:pPr algn="l">
              <a:lnSpc>
                <a:spcPct val="116000"/>
              </a:lnSpc>
              <a:spcBef>
                <a:spcPts val="0"/>
              </a:spcBef>
              <a:spcAft>
                <a:spcPts val="0"/>
              </a:spcAft>
            </a:pPr>
            <a:r>
              <a:rPr sz="1600" b="0">
                <a:solidFill>
                  <a:srgbClr val="126858"/>
                </a:solidFill>
                <a:latin typeface="Noto Sans CJK KR"/>
                <a:ea typeface="Noto Sans CJK KR"/>
                <a:latin typeface="Noto Sans CJK KR"/>
              </a:rPr>
              <a:t>발견·호출</a:t>
            </a:r>
          </a:p>
        </p:txBody>
      </p:sp>
      <p:cxnSp>
        <p:nvCxnSpPr>
          <p:cNvPr id="24" name="Connector 23"/>
          <p:cNvCxnSpPr/>
          <p:nvPr/>
        </p:nvCxnSpPr>
        <p:spPr>
          <a:xfrm>
            <a:off x="7110374" y="3803904"/>
            <a:ext cx="219456" cy="0"/>
          </a:xfrm>
          <a:prstGeom prst="line">
            <a:avLst/>
          </a:prstGeom>
          <a:ln w="22860">
            <a:solidFill>
              <a:srgbClr val="5E6E66"/>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48118" y="2880360"/>
            <a:ext cx="1995220" cy="1874519"/>
          </a:xfrm>
          <a:prstGeom prst="roundRect">
            <a:avLst>
              <a:gd name="adj" fmla="val 8000"/>
            </a:avLst>
          </a:prstGeom>
          <a:solidFill>
            <a:srgbClr val="F0E9F6"/>
          </a:solidFill>
          <a:ln w="10160">
            <a:solidFill>
              <a:srgbClr val="7155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04"/>
          <p:cNvSpPr txBox="1"/>
          <p:nvPr/>
        </p:nvSpPr>
        <p:spPr>
          <a:xfrm>
            <a:off x="7503566" y="3044952"/>
            <a:ext cx="1684324" cy="246888"/>
          </a:xfrm>
          <a:prstGeom prst="rect">
            <a:avLst/>
          </a:prstGeom>
          <a:noFill/>
        </p:spPr>
        <p:txBody>
          <a:bodyPr wrap="square" lIns="0" rIns="0" tIns="0" bIns="0">
            <a:noAutofit/>
          </a:bodyPr>
          <a:lstStyle/>
          <a:p>
            <a:pPr algn="l">
              <a:lnSpc>
                <a:spcPct val="116000"/>
              </a:lnSpc>
              <a:spcBef>
                <a:spcPts val="0"/>
              </a:spcBef>
              <a:spcAft>
                <a:spcPts val="0"/>
              </a:spcAft>
            </a:pPr>
            <a:r>
              <a:rPr sz="1200" b="1">
                <a:solidFill>
                  <a:srgbClr val="71559D"/>
                </a:solidFill>
                <a:latin typeface="Noto Sans CJK KR"/>
                <a:ea typeface="Noto Sans CJK KR"/>
                <a:latin typeface="Noto Sans CJK KR"/>
              </a:rPr>
              <a:t>04</a:t>
            </a:r>
          </a:p>
        </p:txBody>
      </p:sp>
      <p:sp>
        <p:nvSpPr>
          <p:cNvPr id="27" name="TEXT MCP Server"/>
          <p:cNvSpPr txBox="1"/>
          <p:nvPr/>
        </p:nvSpPr>
        <p:spPr>
          <a:xfrm>
            <a:off x="7503566" y="3511296"/>
            <a:ext cx="1684324" cy="713232"/>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71559D"/>
                </a:solidFill>
                <a:latin typeface="Noto Sans CJK KR"/>
                <a:ea typeface="Noto Sans CJK KR"/>
                <a:latin typeface="Noto Sans CJK KR"/>
              </a:rPr>
              <a:t>MCP Server</a:t>
            </a:r>
          </a:p>
        </p:txBody>
      </p:sp>
      <p:sp>
        <p:nvSpPr>
          <p:cNvPr id="28" name="TEXT 기능 노출"/>
          <p:cNvSpPr txBox="1"/>
          <p:nvPr/>
        </p:nvSpPr>
        <p:spPr>
          <a:xfrm>
            <a:off x="7503566" y="4261104"/>
            <a:ext cx="1684324" cy="365760"/>
          </a:xfrm>
          <a:prstGeom prst="rect">
            <a:avLst/>
          </a:prstGeom>
          <a:noFill/>
        </p:spPr>
        <p:txBody>
          <a:bodyPr wrap="square" lIns="0" rIns="0" tIns="0" bIns="0">
            <a:noAutofit/>
          </a:bodyPr>
          <a:lstStyle/>
          <a:p>
            <a:pPr algn="l">
              <a:lnSpc>
                <a:spcPct val="116000"/>
              </a:lnSpc>
              <a:spcBef>
                <a:spcPts val="0"/>
              </a:spcBef>
              <a:spcAft>
                <a:spcPts val="0"/>
              </a:spcAft>
            </a:pPr>
            <a:r>
              <a:rPr sz="1600" b="0">
                <a:solidFill>
                  <a:srgbClr val="71559D"/>
                </a:solidFill>
                <a:latin typeface="Noto Sans CJK KR"/>
                <a:ea typeface="Noto Sans CJK KR"/>
                <a:latin typeface="Noto Sans CJK KR"/>
              </a:rPr>
              <a:t>기능 노출</a:t>
            </a:r>
          </a:p>
        </p:txBody>
      </p:sp>
      <p:cxnSp>
        <p:nvCxnSpPr>
          <p:cNvPr id="29" name="Connector 28"/>
          <p:cNvCxnSpPr/>
          <p:nvPr/>
        </p:nvCxnSpPr>
        <p:spPr>
          <a:xfrm>
            <a:off x="9361627" y="3803904"/>
            <a:ext cx="219456" cy="0"/>
          </a:xfrm>
          <a:prstGeom prst="line">
            <a:avLst/>
          </a:prstGeom>
          <a:ln w="22860">
            <a:solidFill>
              <a:srgbClr val="5E6E66"/>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9599371" y="2880360"/>
            <a:ext cx="1995220" cy="1874519"/>
          </a:xfrm>
          <a:prstGeom prst="roundRect">
            <a:avLst>
              <a:gd name="adj" fmla="val 8000"/>
            </a:avLst>
          </a:prstGeom>
          <a:solidFill>
            <a:srgbClr val="F0E9F6"/>
          </a:solidFill>
          <a:ln w="10160">
            <a:solidFill>
              <a:srgbClr val="7155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 05"/>
          <p:cNvSpPr txBox="1"/>
          <p:nvPr/>
        </p:nvSpPr>
        <p:spPr>
          <a:xfrm>
            <a:off x="9754819" y="3044952"/>
            <a:ext cx="1684324" cy="246888"/>
          </a:xfrm>
          <a:prstGeom prst="rect">
            <a:avLst/>
          </a:prstGeom>
          <a:noFill/>
        </p:spPr>
        <p:txBody>
          <a:bodyPr wrap="square" lIns="0" rIns="0" tIns="0" bIns="0">
            <a:noAutofit/>
          </a:bodyPr>
          <a:lstStyle/>
          <a:p>
            <a:pPr algn="l">
              <a:lnSpc>
                <a:spcPct val="116000"/>
              </a:lnSpc>
              <a:spcBef>
                <a:spcPts val="0"/>
              </a:spcBef>
              <a:spcAft>
                <a:spcPts val="0"/>
              </a:spcAft>
            </a:pPr>
            <a:r>
              <a:rPr sz="1200" b="1">
                <a:solidFill>
                  <a:srgbClr val="71559D"/>
                </a:solidFill>
                <a:latin typeface="Noto Sans CJK KR"/>
                <a:ea typeface="Noto Sans CJK KR"/>
                <a:latin typeface="Noto Sans CJK KR"/>
              </a:rPr>
              <a:t>05</a:t>
            </a:r>
          </a:p>
        </p:txBody>
      </p:sp>
      <p:sp>
        <p:nvSpPr>
          <p:cNvPr id="32" name="TEXT Backend"/>
          <p:cNvSpPr txBox="1"/>
          <p:nvPr/>
        </p:nvSpPr>
        <p:spPr>
          <a:xfrm>
            <a:off x="9754819" y="3511296"/>
            <a:ext cx="1684324" cy="713232"/>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71559D"/>
                </a:solidFill>
                <a:latin typeface="Noto Sans CJK KR"/>
                <a:ea typeface="Noto Sans CJK KR"/>
                <a:latin typeface="Noto Sans CJK KR"/>
              </a:rPr>
              <a:t>Backend</a:t>
            </a:r>
          </a:p>
        </p:txBody>
      </p:sp>
      <p:sp>
        <p:nvSpPr>
          <p:cNvPr id="33" name="TEXT 권한·데이터"/>
          <p:cNvSpPr txBox="1"/>
          <p:nvPr/>
        </p:nvSpPr>
        <p:spPr>
          <a:xfrm>
            <a:off x="9754819" y="4261104"/>
            <a:ext cx="1684324" cy="365760"/>
          </a:xfrm>
          <a:prstGeom prst="rect">
            <a:avLst/>
          </a:prstGeom>
          <a:noFill/>
        </p:spPr>
        <p:txBody>
          <a:bodyPr wrap="square" lIns="0" rIns="0" tIns="0" bIns="0">
            <a:noAutofit/>
          </a:bodyPr>
          <a:lstStyle/>
          <a:p>
            <a:pPr algn="l">
              <a:lnSpc>
                <a:spcPct val="116000"/>
              </a:lnSpc>
              <a:spcBef>
                <a:spcPts val="0"/>
              </a:spcBef>
              <a:spcAft>
                <a:spcPts val="0"/>
              </a:spcAft>
            </a:pPr>
            <a:r>
              <a:rPr sz="1600" b="0">
                <a:solidFill>
                  <a:srgbClr val="71559D"/>
                </a:solidFill>
                <a:latin typeface="Noto Sans CJK KR"/>
                <a:ea typeface="Noto Sans CJK KR"/>
                <a:latin typeface="Noto Sans CJK KR"/>
              </a:rPr>
              <a:t>권한·데이터</a:t>
            </a:r>
          </a:p>
        </p:txBody>
      </p:sp>
      <p:sp>
        <p:nvSpPr>
          <p:cNvPr id="34" name="TEXT 도구 발견 ≠ 호출 권한 ≠ 업무 성공"/>
          <p:cNvSpPr txBox="1"/>
          <p:nvPr/>
        </p:nvSpPr>
        <p:spPr>
          <a:xfrm>
            <a:off x="731520" y="5266944"/>
            <a:ext cx="10789920" cy="685800"/>
          </a:xfrm>
          <a:prstGeom prst="rect">
            <a:avLst/>
          </a:prstGeom>
          <a:noFill/>
        </p:spPr>
        <p:txBody>
          <a:bodyPr wrap="square" lIns="0" rIns="0" tIns="0" bIns="0">
            <a:noAutofit/>
          </a:bodyPr>
          <a:lstStyle/>
          <a:p>
            <a:pPr algn="l">
              <a:lnSpc>
                <a:spcPct val="116000"/>
              </a:lnSpc>
              <a:spcBef>
                <a:spcPts val="0"/>
              </a:spcBef>
              <a:spcAft>
                <a:spcPts val="0"/>
              </a:spcAft>
            </a:pPr>
            <a:r>
              <a:rPr sz="2100" b="1">
                <a:solidFill>
                  <a:srgbClr val="126858"/>
                </a:solidFill>
                <a:latin typeface="Noto Sans CJK KR"/>
                <a:ea typeface="Noto Sans CJK KR"/>
                <a:latin typeface="Noto Sans CJK KR"/>
              </a:rPr>
              <a:t>도구 발견 ≠ 호출 권한 ≠ 업무 성공</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2  /  근거·승인·복구"/>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2  /  근거·승인·복구</a:t>
            </a:r>
          </a:p>
        </p:txBody>
      </p:sp>
      <p:sp>
        <p:nvSpPr>
          <p:cNvPr id="3" name="TEXT 연결 수명"/>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연결 수명</a:t>
            </a:r>
          </a:p>
        </p:txBody>
      </p:sp>
      <p:sp>
        <p:nvSpPr>
          <p:cNvPr id="4" name="TEXT 클라이언트·세션·DB 자원은 업무 State 밖에서 관리한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클라이언트·세션·DB 자원은 업무 State 밖에서 관리한다.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07"/>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C07</a:t>
            </a:r>
          </a:p>
        </p:txBody>
      </p:sp>
      <p:sp>
        <p:nvSpPr>
          <p:cNvPr id="8" name="TEXT 28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28 / 72</a:t>
            </a:r>
          </a:p>
        </p:txBody>
      </p:sp>
      <p:sp>
        <p:nvSpPr>
          <p:cNvPr id="9" name="TEXT 심화 A07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A07 →</a:t>
            </a:r>
          </a:p>
        </p:txBody>
      </p:sp>
      <p:graphicFrame>
        <p:nvGraphicFramePr>
          <p:cNvPr id="10" name="Table 9"/>
          <p:cNvGraphicFramePr>
            <a:graphicFrameLocks noGrp="1"/>
          </p:cNvGraphicFramePr>
          <p:nvPr/>
        </p:nvGraphicFramePr>
        <p:xfrm>
          <a:off x="594360" y="2587752"/>
          <a:ext cx="11000231" cy="3557016"/>
        </p:xfrm>
        <a:graphic>
          <a:graphicData uri="http://schemas.openxmlformats.org/drawingml/2006/table">
            <a:tbl>
              <a:tblPr firstRow="1" bandRow="1">
                <a:tableStyleId>{5C22544A-7EE6-4342-B048-85BDC9FD1C3A}</a:tableStyleId>
              </a:tblPr>
              <a:tblGrid>
                <a:gridCol w="2750058"/>
                <a:gridCol w="4290090"/>
                <a:gridCol w="3960083"/>
              </a:tblGrid>
              <a:tr h="484632">
                <a:tc>
                  <a:txBody>
                    <a:bodyPr/>
                    <a:lstStyle/>
                    <a:p>
                      <a:pPr>
                        <a:lnSpc>
                          <a:spcPct val="113000"/>
                        </a:lnSpc>
                        <a:spcAft>
                          <a:spcPts val="0"/>
                        </a:spcAft>
                      </a:pPr>
                      <a:r>
                        <a:rPr sz="1800" b="1">
                          <a:solidFill>
                            <a:srgbClr val="126858"/>
                          </a:solidFill>
                          <a:latin typeface="Noto Sans CJK KR"/>
                        </a:rPr>
                        <a:t>자원</a:t>
                      </a:r>
                    </a:p>
                  </a:txBody>
                  <a:tcPr marL="137160" marR="91440" marT="91440" marB="54864" anchor="ctr">
                    <a:solidFill>
                      <a:srgbClr val="E3EFE7"/>
                    </a:solidFill>
                  </a:tcPr>
                </a:tc>
                <a:tc>
                  <a:txBody>
                    <a:bodyPr/>
                    <a:lstStyle/>
                    <a:p>
                      <a:pPr>
                        <a:lnSpc>
                          <a:spcPct val="113000"/>
                        </a:lnSpc>
                        <a:spcAft>
                          <a:spcPts val="0"/>
                        </a:spcAft>
                      </a:pPr>
                      <a:r>
                        <a:rPr sz="1800" b="1">
                          <a:solidFill>
                            <a:srgbClr val="126858"/>
                          </a:solidFill>
                          <a:latin typeface="Noto Sans CJK KR"/>
                        </a:rPr>
                        <a:t>소유 계층</a:t>
                      </a:r>
                    </a:p>
                  </a:txBody>
                  <a:tcPr marL="137160" marR="91440" marT="91440" marB="54864" anchor="ctr">
                    <a:solidFill>
                      <a:srgbClr val="E3EFE7"/>
                    </a:solidFill>
                  </a:tcPr>
                </a:tc>
                <a:tc>
                  <a:txBody>
                    <a:bodyPr/>
                    <a:lstStyle/>
                    <a:p>
                      <a:pPr>
                        <a:lnSpc>
                          <a:spcPct val="113000"/>
                        </a:lnSpc>
                        <a:spcAft>
                          <a:spcPts val="0"/>
                        </a:spcAft>
                      </a:pPr>
                      <a:r>
                        <a:rPr sz="1800" b="1">
                          <a:solidFill>
                            <a:srgbClr val="126858"/>
                          </a:solidFill>
                          <a:latin typeface="Noto Sans CJK KR"/>
                        </a:rPr>
                        <a:t>확인할 수명</a:t>
                      </a:r>
                    </a:p>
                  </a:txBody>
                  <a:tcPr marL="137160" marR="91440" marT="91440" marB="54864" anchor="ctr">
                    <a:solidFill>
                      <a:srgbClr val="E3EFE7"/>
                    </a:solidFill>
                  </a:tcPr>
                </a:tc>
              </a:tr>
              <a:tr h="768096">
                <a:tc>
                  <a:txBody>
                    <a:bodyPr/>
                    <a:lstStyle/>
                    <a:p>
                      <a:pPr>
                        <a:lnSpc>
                          <a:spcPct val="113000"/>
                        </a:lnSpc>
                        <a:spcAft>
                          <a:spcPts val="0"/>
                        </a:spcAft>
                      </a:pPr>
                      <a:r>
                        <a:rPr sz="2000" b="1">
                          <a:solidFill>
                            <a:srgbClr val="172B2A"/>
                          </a:solidFill>
                          <a:latin typeface="Noto Sans CJK KR"/>
                        </a:rPr>
                        <a:t>모델 Client</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Service·의존성 조립</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재사용·timeout·종료</a:t>
                      </a:r>
                    </a:p>
                  </a:txBody>
                  <a:tcPr marL="137160" marR="91440" marT="91440" marB="54864" anchor="ctr">
                    <a:solidFill>
                      <a:srgbClr val="FFFEF9"/>
                    </a:solidFill>
                  </a:tcPr>
                </a:tc>
              </a:tr>
              <a:tr h="768096">
                <a:tc>
                  <a:txBody>
                    <a:bodyPr/>
                    <a:lstStyle/>
                    <a:p>
                      <a:pPr>
                        <a:lnSpc>
                          <a:spcPct val="113000"/>
                        </a:lnSpc>
                        <a:spcAft>
                          <a:spcPts val="0"/>
                        </a:spcAft>
                      </a:pPr>
                      <a:r>
                        <a:rPr sz="2000" b="1">
                          <a:solidFill>
                            <a:srgbClr val="172B2A"/>
                          </a:solidFill>
                          <a:latin typeface="Noto Sans CJK KR"/>
                        </a:rPr>
                        <a:t>MCP session</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Adapter / context manager</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연결·초기화·닫기</a:t>
                      </a:r>
                    </a:p>
                  </a:txBody>
                  <a:tcPr marL="137160" marR="91440" marT="91440" marB="54864" anchor="ctr">
                    <a:solidFill>
                      <a:srgbClr val="EDF0E9"/>
                    </a:solidFill>
                  </a:tcPr>
                </a:tc>
              </a:tr>
              <a:tr h="768096">
                <a:tc>
                  <a:txBody>
                    <a:bodyPr/>
                    <a:lstStyle/>
                    <a:p>
                      <a:pPr>
                        <a:lnSpc>
                          <a:spcPct val="113000"/>
                        </a:lnSpc>
                        <a:spcAft>
                          <a:spcPts val="0"/>
                        </a:spcAft>
                      </a:pPr>
                      <a:r>
                        <a:rPr sz="2000" b="1">
                          <a:solidFill>
                            <a:srgbClr val="172B2A"/>
                          </a:solidFill>
                          <a:latin typeface="Noto Sans CJK KR"/>
                        </a:rPr>
                        <a:t>DB connection</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저장소 계층</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트랜잭션·동시성</a:t>
                      </a:r>
                    </a:p>
                  </a:txBody>
                  <a:tcPr marL="137160" marR="91440" marT="91440" marB="54864" anchor="ctr">
                    <a:solidFill>
                      <a:srgbClr val="FFFEF9"/>
                    </a:solidFill>
                  </a:tcPr>
                </a:tc>
              </a:tr>
              <a:tr h="768096">
                <a:tc>
                  <a:txBody>
                    <a:bodyPr/>
                    <a:lstStyle/>
                    <a:p>
                      <a:pPr>
                        <a:lnSpc>
                          <a:spcPct val="113000"/>
                        </a:lnSpc>
                        <a:spcAft>
                          <a:spcPts val="0"/>
                        </a:spcAft>
                      </a:pPr>
                      <a:r>
                        <a:rPr sz="2000" b="1">
                          <a:solidFill>
                            <a:srgbClr val="172B2A"/>
                          </a:solidFill>
                          <a:latin typeface="Noto Sans CJK KR"/>
                        </a:rPr>
                        <a:t>업무 State</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Graph / Checkpointer</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직렬화 가능한 데이터</a:t>
                      </a:r>
                    </a:p>
                  </a:txBody>
                  <a:tcPr marL="137160" marR="91440" marT="91440" marB="54864" anchor="ctr">
                    <a:solidFill>
                      <a:srgbClr val="EDF0E9"/>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2  /  근거·승인·복구"/>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2  /  근거·승인·복구</a:t>
            </a:r>
          </a:p>
        </p:txBody>
      </p:sp>
      <p:sp>
        <p:nvSpPr>
          <p:cNvPr id="3" name="TEXT 도구 연결의 실패"/>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도구 연결의 실패</a:t>
            </a:r>
          </a:p>
        </p:txBody>
      </p:sp>
      <p:sp>
        <p:nvSpPr>
          <p:cNvPr id="4" name="TEXT Timeout·오류 응답·파싱 실패에 서로 다른 처리가 필요하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Timeout·오류 응답·파싱 실패에 서로 다른 처리가 필요하다.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07"/>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C07</a:t>
            </a:r>
          </a:p>
        </p:txBody>
      </p:sp>
      <p:sp>
        <p:nvSpPr>
          <p:cNvPr id="8" name="TEXT 29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29 / 72</a:t>
            </a:r>
          </a:p>
        </p:txBody>
      </p:sp>
      <p:sp>
        <p:nvSpPr>
          <p:cNvPr id="9" name="TEXT 심화 A10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A10 →</a:t>
            </a:r>
          </a:p>
        </p:txBody>
      </p:sp>
      <p:graphicFrame>
        <p:nvGraphicFramePr>
          <p:cNvPr id="10" name="Table 9"/>
          <p:cNvGraphicFramePr>
            <a:graphicFrameLocks noGrp="1"/>
          </p:cNvGraphicFramePr>
          <p:nvPr/>
        </p:nvGraphicFramePr>
        <p:xfrm>
          <a:off x="594360" y="2587752"/>
          <a:ext cx="11000231" cy="3557016"/>
        </p:xfrm>
        <a:graphic>
          <a:graphicData uri="http://schemas.openxmlformats.org/drawingml/2006/table">
            <a:tbl>
              <a:tblPr firstRow="1" bandRow="1">
                <a:tableStyleId>{5C22544A-7EE6-4342-B048-85BDC9FD1C3A}</a:tableStyleId>
              </a:tblPr>
              <a:tblGrid>
                <a:gridCol w="2750058"/>
                <a:gridCol w="4290090"/>
                <a:gridCol w="3960083"/>
              </a:tblGrid>
              <a:tr h="484632">
                <a:tc>
                  <a:txBody>
                    <a:bodyPr/>
                    <a:lstStyle/>
                    <a:p>
                      <a:pPr>
                        <a:lnSpc>
                          <a:spcPct val="113000"/>
                        </a:lnSpc>
                        <a:spcAft>
                          <a:spcPts val="0"/>
                        </a:spcAft>
                      </a:pPr>
                      <a:r>
                        <a:rPr sz="1800" b="1">
                          <a:solidFill>
                            <a:srgbClr val="126858"/>
                          </a:solidFill>
                          <a:latin typeface="Noto Sans CJK KR"/>
                        </a:rPr>
                        <a:t>관측</a:t>
                      </a:r>
                    </a:p>
                  </a:txBody>
                  <a:tcPr marL="137160" marR="91440" marT="91440" marB="54864" anchor="ctr">
                    <a:solidFill>
                      <a:srgbClr val="E3EFE7"/>
                    </a:solidFill>
                  </a:tcPr>
                </a:tc>
                <a:tc>
                  <a:txBody>
                    <a:bodyPr/>
                    <a:lstStyle/>
                    <a:p>
                      <a:pPr>
                        <a:lnSpc>
                          <a:spcPct val="113000"/>
                        </a:lnSpc>
                        <a:spcAft>
                          <a:spcPts val="0"/>
                        </a:spcAft>
                      </a:pPr>
                      <a:r>
                        <a:rPr sz="1800" b="1">
                          <a:solidFill>
                            <a:srgbClr val="126858"/>
                          </a:solidFill>
                          <a:latin typeface="Noto Sans CJK KR"/>
                        </a:rPr>
                        <a:t>분류</a:t>
                      </a:r>
                    </a:p>
                  </a:txBody>
                  <a:tcPr marL="137160" marR="91440" marT="91440" marB="54864" anchor="ctr">
                    <a:solidFill>
                      <a:srgbClr val="E3EFE7"/>
                    </a:solidFill>
                  </a:tcPr>
                </a:tc>
                <a:tc>
                  <a:txBody>
                    <a:bodyPr/>
                    <a:lstStyle/>
                    <a:p>
                      <a:pPr>
                        <a:lnSpc>
                          <a:spcPct val="113000"/>
                        </a:lnSpc>
                        <a:spcAft>
                          <a:spcPts val="0"/>
                        </a:spcAft>
                      </a:pPr>
                      <a:r>
                        <a:rPr sz="1800" b="1">
                          <a:solidFill>
                            <a:srgbClr val="126858"/>
                          </a:solidFill>
                          <a:latin typeface="Noto Sans CJK KR"/>
                        </a:rPr>
                        <a:t>대응</a:t>
                      </a:r>
                    </a:p>
                  </a:txBody>
                  <a:tcPr marL="137160" marR="91440" marT="91440" marB="54864" anchor="ctr">
                    <a:solidFill>
                      <a:srgbClr val="E3EFE7"/>
                    </a:solidFill>
                  </a:tcPr>
                </a:tc>
              </a:tr>
              <a:tr h="768096">
                <a:tc>
                  <a:txBody>
                    <a:bodyPr/>
                    <a:lstStyle/>
                    <a:p>
                      <a:pPr>
                        <a:lnSpc>
                          <a:spcPct val="113000"/>
                        </a:lnSpc>
                        <a:spcAft>
                          <a:spcPts val="0"/>
                        </a:spcAft>
                      </a:pPr>
                      <a:r>
                        <a:rPr sz="2000" b="1">
                          <a:solidFill>
                            <a:srgbClr val="172B2A"/>
                          </a:solidFill>
                          <a:latin typeface="Noto Sans CJK KR"/>
                        </a:rPr>
                        <a:t>응답 대기 초과</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transient_timeout</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예산 내 재시도 검토</a:t>
                      </a:r>
                    </a:p>
                  </a:txBody>
                  <a:tcPr marL="137160" marR="91440" marT="91440" marB="54864" anchor="ctr">
                    <a:solidFill>
                      <a:srgbClr val="FFFEF9"/>
                    </a:solidFill>
                  </a:tcPr>
                </a:tc>
              </a:tr>
              <a:tr h="768096">
                <a:tc>
                  <a:txBody>
                    <a:bodyPr/>
                    <a:lstStyle/>
                    <a:p>
                      <a:pPr>
                        <a:lnSpc>
                          <a:spcPct val="113000"/>
                        </a:lnSpc>
                        <a:spcAft>
                          <a:spcPts val="0"/>
                        </a:spcAft>
                      </a:pPr>
                      <a:r>
                        <a:rPr sz="2000" b="1">
                          <a:solidFill>
                            <a:srgbClr val="172B2A"/>
                          </a:solidFill>
                          <a:latin typeface="Noto Sans CJK KR"/>
                        </a:rPr>
                        <a:t>권한 거절</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unauthorized</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권한·대상 수정 전 중단</a:t>
                      </a:r>
                    </a:p>
                  </a:txBody>
                  <a:tcPr marL="137160" marR="91440" marT="91440" marB="54864" anchor="ctr">
                    <a:solidFill>
                      <a:srgbClr val="EDF0E9"/>
                    </a:solidFill>
                  </a:tcPr>
                </a:tc>
              </a:tr>
              <a:tr h="768096">
                <a:tc>
                  <a:txBody>
                    <a:bodyPr/>
                    <a:lstStyle/>
                    <a:p>
                      <a:pPr>
                        <a:lnSpc>
                          <a:spcPct val="113000"/>
                        </a:lnSpc>
                        <a:spcAft>
                          <a:spcPts val="0"/>
                        </a:spcAft>
                      </a:pPr>
                      <a:r>
                        <a:rPr sz="2000" b="1">
                          <a:solidFill>
                            <a:srgbClr val="172B2A"/>
                          </a:solidFill>
                          <a:latin typeface="Noto Sans CJK KR"/>
                        </a:rPr>
                        <a:t>Schema와 다른 응답</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invalid_output</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계약·버전 확인</a:t>
                      </a:r>
                    </a:p>
                  </a:txBody>
                  <a:tcPr marL="137160" marR="91440" marT="91440" marB="54864" anchor="ctr">
                    <a:solidFill>
                      <a:srgbClr val="FFFEF9"/>
                    </a:solidFill>
                  </a:tcPr>
                </a:tc>
              </a:tr>
              <a:tr h="768096">
                <a:tc>
                  <a:txBody>
                    <a:bodyPr/>
                    <a:lstStyle/>
                    <a:p>
                      <a:pPr>
                        <a:lnSpc>
                          <a:spcPct val="113000"/>
                        </a:lnSpc>
                        <a:spcAft>
                          <a:spcPts val="0"/>
                        </a:spcAft>
                      </a:pPr>
                      <a:r>
                        <a:rPr sz="2000" b="1">
                          <a:solidFill>
                            <a:srgbClr val="172B2A"/>
                          </a:solidFill>
                          <a:latin typeface="Noto Sans CJK KR"/>
                        </a:rPr>
                        <a:t>정상 응답·결과 없음</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empty_result</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근거 부족 처리</a:t>
                      </a:r>
                    </a:p>
                  </a:txBody>
                  <a:tcPr marL="137160" marR="91440" marT="91440" marB="54864" anchor="ctr">
                    <a:solidFill>
                      <a:srgbClr val="EDF0E9"/>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2  /  근거·승인·복구"/>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2  /  근거·승인·복구</a:t>
            </a:r>
          </a:p>
        </p:txBody>
      </p:sp>
      <p:sp>
        <p:nvSpPr>
          <p:cNvPr id="3" name="Rounded Rectangle 2"/>
          <p:cNvSpPr/>
          <p:nvPr/>
        </p:nvSpPr>
        <p:spPr>
          <a:xfrm>
            <a:off x="10195560" y="173736"/>
            <a:ext cx="1399032" cy="329184"/>
          </a:xfrm>
          <a:prstGeom prst="roundRect">
            <a:avLst>
              <a:gd name="adj" fmla="val 8000"/>
            </a:avLst>
          </a:prstGeom>
          <a:solidFill>
            <a:srgbClr val="E3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60분 경로"/>
          <p:cNvSpPr txBox="1"/>
          <p:nvPr/>
        </p:nvSpPr>
        <p:spPr>
          <a:xfrm>
            <a:off x="10241280" y="214884"/>
            <a:ext cx="1307592" cy="182880"/>
          </a:xfrm>
          <a:prstGeom prst="rect">
            <a:avLst/>
          </a:prstGeom>
          <a:noFill/>
        </p:spPr>
        <p:txBody>
          <a:bodyPr wrap="square" lIns="0" rIns="0" tIns="0" bIns="0">
            <a:noAutofit/>
          </a:bodyPr>
          <a:lstStyle/>
          <a:p>
            <a:pPr algn="ctr">
              <a:lnSpc>
                <a:spcPct val="116000"/>
              </a:lnSpc>
              <a:spcBef>
                <a:spcPts val="0"/>
              </a:spcBef>
              <a:spcAft>
                <a:spcPts val="0"/>
              </a:spcAft>
            </a:pPr>
            <a:r>
              <a:rPr sz="1000" b="1">
                <a:solidFill>
                  <a:srgbClr val="126858"/>
                </a:solidFill>
                <a:latin typeface="Noto Sans CJK KR"/>
                <a:ea typeface="Noto Sans CJK KR"/>
                <a:latin typeface="Noto Sans CJK KR"/>
              </a:rPr>
              <a:t>60분 경로</a:t>
            </a:r>
          </a:p>
        </p:txBody>
      </p:sp>
      <p:sp>
        <p:nvSpPr>
          <p:cNvPr id="5" name="TEXT Evidence Policy Gate"/>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Evidence Policy Gate</a:t>
            </a:r>
          </a:p>
        </p:txBody>
      </p:sp>
      <p:sp>
        <p:nvSpPr>
          <p:cNvPr id="6" name="TEXT 필수 근거와 조사 결과를 코드가 검사한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필수 근거와 조사 결과를 코드가 검사한다.</a:t>
            </a:r>
          </a:p>
        </p:txBody>
      </p:sp>
      <p:cxnSp>
        <p:nvCxnSpPr>
          <p:cNvPr id="7" name="Connector 6"/>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9" name="TEXT AI AGENT FIELDNOTES  /  C08"/>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C08</a:t>
            </a:r>
          </a:p>
        </p:txBody>
      </p:sp>
      <p:sp>
        <p:nvSpPr>
          <p:cNvPr id="10" name="TEXT 30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30 / 72</a:t>
            </a:r>
          </a:p>
        </p:txBody>
      </p:sp>
      <p:sp>
        <p:nvSpPr>
          <p:cNvPr id="11" name="TEXT 심화 A10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A10 →</a:t>
            </a:r>
          </a:p>
        </p:txBody>
      </p:sp>
      <p:graphicFrame>
        <p:nvGraphicFramePr>
          <p:cNvPr id="12" name="Table 11"/>
          <p:cNvGraphicFramePr>
            <a:graphicFrameLocks noGrp="1"/>
          </p:cNvGraphicFramePr>
          <p:nvPr/>
        </p:nvGraphicFramePr>
        <p:xfrm>
          <a:off x="594360" y="2587752"/>
          <a:ext cx="11000231" cy="3557016"/>
        </p:xfrm>
        <a:graphic>
          <a:graphicData uri="http://schemas.openxmlformats.org/drawingml/2006/table">
            <a:tbl>
              <a:tblPr firstRow="1" bandRow="1">
                <a:tableStyleId>{5C22544A-7EE6-4342-B048-85BDC9FD1C3A}</a:tableStyleId>
              </a:tblPr>
              <a:tblGrid>
                <a:gridCol w="2750058"/>
                <a:gridCol w="4290090"/>
                <a:gridCol w="3960083"/>
              </a:tblGrid>
              <a:tr h="484632">
                <a:tc>
                  <a:txBody>
                    <a:bodyPr/>
                    <a:lstStyle/>
                    <a:p>
                      <a:pPr>
                        <a:lnSpc>
                          <a:spcPct val="113000"/>
                        </a:lnSpc>
                        <a:spcAft>
                          <a:spcPts val="0"/>
                        </a:spcAft>
                      </a:pPr>
                      <a:r>
                        <a:rPr sz="1800" b="1">
                          <a:solidFill>
                            <a:srgbClr val="126858"/>
                          </a:solidFill>
                          <a:latin typeface="Noto Sans CJK KR"/>
                        </a:rPr>
                        <a:t>검사 항목</a:t>
                      </a:r>
                    </a:p>
                  </a:txBody>
                  <a:tcPr marL="137160" marR="91440" marT="91440" marB="54864" anchor="ctr">
                    <a:solidFill>
                      <a:srgbClr val="E3EFE7"/>
                    </a:solidFill>
                  </a:tcPr>
                </a:tc>
                <a:tc>
                  <a:txBody>
                    <a:bodyPr/>
                    <a:lstStyle/>
                    <a:p>
                      <a:pPr>
                        <a:lnSpc>
                          <a:spcPct val="113000"/>
                        </a:lnSpc>
                        <a:spcAft>
                          <a:spcPts val="0"/>
                        </a:spcAft>
                      </a:pPr>
                      <a:r>
                        <a:rPr sz="1800" b="1">
                          <a:solidFill>
                            <a:srgbClr val="126858"/>
                          </a:solidFill>
                          <a:latin typeface="Noto Sans CJK KR"/>
                        </a:rPr>
                        <a:t>통과 조건</a:t>
                      </a:r>
                    </a:p>
                  </a:txBody>
                  <a:tcPr marL="137160" marR="91440" marT="91440" marB="54864" anchor="ctr">
                    <a:solidFill>
                      <a:srgbClr val="E3EFE7"/>
                    </a:solidFill>
                  </a:tcPr>
                </a:tc>
                <a:tc>
                  <a:txBody>
                    <a:bodyPr/>
                    <a:lstStyle/>
                    <a:p>
                      <a:pPr>
                        <a:lnSpc>
                          <a:spcPct val="113000"/>
                        </a:lnSpc>
                        <a:spcAft>
                          <a:spcPts val="0"/>
                        </a:spcAft>
                      </a:pPr>
                      <a:r>
                        <a:rPr sz="1800" b="1">
                          <a:solidFill>
                            <a:srgbClr val="126858"/>
                          </a:solidFill>
                          <a:latin typeface="Noto Sans CJK KR"/>
                        </a:rPr>
                        <a:t>미충족 처리</a:t>
                      </a:r>
                    </a:p>
                  </a:txBody>
                  <a:tcPr marL="137160" marR="91440" marT="91440" marB="54864" anchor="ctr">
                    <a:solidFill>
                      <a:srgbClr val="E3EFE7"/>
                    </a:solidFill>
                  </a:tcPr>
                </a:tc>
              </a:tr>
              <a:tr h="768096">
                <a:tc>
                  <a:txBody>
                    <a:bodyPr/>
                    <a:lstStyle/>
                    <a:p>
                      <a:pPr>
                        <a:lnSpc>
                          <a:spcPct val="113000"/>
                        </a:lnSpc>
                        <a:spcAft>
                          <a:spcPts val="0"/>
                        </a:spcAft>
                      </a:pPr>
                      <a:r>
                        <a:rPr sz="2000" b="1">
                          <a:solidFill>
                            <a:srgbClr val="172B2A"/>
                          </a:solidFill>
                          <a:latin typeface="Noto Sans CJK KR"/>
                        </a:rPr>
                        <a:t>조사 상태</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필수 조사 모두 성공</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차단·실패 사유 보고</a:t>
                      </a:r>
                    </a:p>
                  </a:txBody>
                  <a:tcPr marL="137160" marR="91440" marT="91440" marB="54864" anchor="ctr">
                    <a:solidFill>
                      <a:srgbClr val="FFFEF9"/>
                    </a:solidFill>
                  </a:tcPr>
                </a:tc>
              </a:tr>
              <a:tr h="768096">
                <a:tc>
                  <a:txBody>
                    <a:bodyPr/>
                    <a:lstStyle/>
                    <a:p>
                      <a:pPr>
                        <a:lnSpc>
                          <a:spcPct val="113000"/>
                        </a:lnSpc>
                        <a:spcAft>
                          <a:spcPts val="0"/>
                        </a:spcAft>
                      </a:pPr>
                      <a:r>
                        <a:rPr sz="2000" b="1">
                          <a:solidFill>
                            <a:srgbClr val="172B2A"/>
                          </a:solidFill>
                          <a:latin typeface="Noto Sans CJK KR"/>
                        </a:rPr>
                        <a:t>실제 Tool 사용</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기록과 결과 존재</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차단 또는 보강 조사</a:t>
                      </a:r>
                    </a:p>
                  </a:txBody>
                  <a:tcPr marL="137160" marR="91440" marT="91440" marB="54864" anchor="ctr">
                    <a:solidFill>
                      <a:srgbClr val="EDF0E9"/>
                    </a:solidFill>
                  </a:tcPr>
                </a:tc>
              </a:tr>
              <a:tr h="768096">
                <a:tc>
                  <a:txBody>
                    <a:bodyPr/>
                    <a:lstStyle/>
                    <a:p>
                      <a:pPr>
                        <a:lnSpc>
                          <a:spcPct val="113000"/>
                        </a:lnSpc>
                        <a:spcAft>
                          <a:spcPts val="0"/>
                        </a:spcAft>
                      </a:pPr>
                      <a:r>
                        <a:rPr sz="2000" b="1">
                          <a:solidFill>
                            <a:srgbClr val="172B2A"/>
                          </a:solidFill>
                          <a:latin typeface="Noto Sans CJK KR"/>
                        </a:rPr>
                        <a:t>출처·적용 범위</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관측 근거와 대상 일치</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허위 인용 제외·차단</a:t>
                      </a:r>
                    </a:p>
                  </a:txBody>
                  <a:tcPr marL="137160" marR="91440" marT="91440" marB="54864" anchor="ctr">
                    <a:solidFill>
                      <a:srgbClr val="FFFEF9"/>
                    </a:solidFill>
                  </a:tcPr>
                </a:tc>
              </a:tr>
              <a:tr h="768096">
                <a:tc>
                  <a:txBody>
                    <a:bodyPr/>
                    <a:lstStyle/>
                    <a:p>
                      <a:pPr>
                        <a:lnSpc>
                          <a:spcPct val="113000"/>
                        </a:lnSpc>
                        <a:spcAft>
                          <a:spcPts val="0"/>
                        </a:spcAft>
                      </a:pPr>
                      <a:r>
                        <a:rPr sz="2000" b="1">
                          <a:solidFill>
                            <a:srgbClr val="172B2A"/>
                          </a:solidFill>
                          <a:latin typeface="Noto Sans CJK KR"/>
                        </a:rPr>
                        <a:t>실행 준비</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필요 근거 충족</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승인 대기 또는 종료</a:t>
                      </a:r>
                    </a:p>
                  </a:txBody>
                  <a:tcPr marL="137160" marR="91440" marT="91440" marB="54864" anchor="ctr">
                    <a:solidFill>
                      <a:srgbClr val="EDF0E9"/>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2  /  근거·승인·복구"/>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2  /  근거·승인·복구</a:t>
            </a:r>
          </a:p>
        </p:txBody>
      </p:sp>
      <p:sp>
        <p:nvSpPr>
          <p:cNvPr id="3" name="TEXT 승인 대상"/>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승인 대상</a:t>
            </a:r>
          </a:p>
        </p:txBody>
      </p:sp>
      <p:sp>
        <p:nvSpPr>
          <p:cNvPr id="4" name="TEXT 승인을 특정 Incident·Action·서비스·계획 버전에 묶는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승인을 특정 Incident·Action·서비스·계획 버전에 묶는다.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08"/>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C08</a:t>
            </a:r>
          </a:p>
        </p:txBody>
      </p:sp>
      <p:sp>
        <p:nvSpPr>
          <p:cNvPr id="8" name="TEXT 31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31 / 72</a:t>
            </a:r>
          </a:p>
        </p:txBody>
      </p:sp>
      <p:sp>
        <p:nvSpPr>
          <p:cNvPr id="9" name="TEXT 심화 A04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A04 →</a:t>
            </a:r>
          </a:p>
        </p:txBody>
      </p:sp>
      <p:sp>
        <p:nvSpPr>
          <p:cNvPr id="10" name="Rounded Rectangle 9"/>
          <p:cNvSpPr/>
          <p:nvPr/>
        </p:nvSpPr>
        <p:spPr>
          <a:xfrm>
            <a:off x="594360" y="2578608"/>
            <a:ext cx="7406640" cy="3584448"/>
          </a:xfrm>
          <a:prstGeom prst="roundRect">
            <a:avLst>
              <a:gd name="adj" fmla="val 8000"/>
            </a:avLst>
          </a:prstGeom>
          <a:solidFill>
            <a:srgbClr val="1636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approval = {&#10;    &quot;incident_id&quot;: &quot;INC-042&quot;,&#10;  "/>
          <p:cNvSpPr txBox="1"/>
          <p:nvPr/>
        </p:nvSpPr>
        <p:spPr>
          <a:xfrm>
            <a:off x="822960" y="2779776"/>
            <a:ext cx="6949440" cy="3172968"/>
          </a:xfrm>
          <a:prstGeom prst="rect">
            <a:avLst/>
          </a:prstGeom>
          <a:noFill/>
        </p:spPr>
        <p:txBody>
          <a:bodyPr wrap="square" lIns="0" rIns="0" tIns="0" bIns="0">
            <a:noAutofit/>
          </a:bodyPr>
          <a:lstStyle/>
          <a:p>
            <a:pPr algn="l">
              <a:lnSpc>
                <a:spcPct val="116000"/>
              </a:lnSpc>
              <a:spcBef>
                <a:spcPts val="0"/>
              </a:spcBef>
              <a:spcAft>
                <a:spcPts val="0"/>
              </a:spcAft>
            </a:pPr>
            <a:r>
              <a:rPr sz="1800" b="0">
                <a:solidFill>
                  <a:srgbClr val="FFFFFF"/>
                </a:solidFill>
                <a:latin typeface="DejaVu Sans Mono"/>
                <a:ea typeface="DejaVu Sans Mono"/>
                <a:latin typeface="DejaVu Sans Mono"/>
              </a:rPr>
              <a:t>approval = {</a:t>
            </a:r>
          </a:p>
          <a:p>
            <a:pPr algn="l">
              <a:lnSpc>
                <a:spcPct val="116000"/>
              </a:lnSpc>
              <a:spcBef>
                <a:spcPts val="0"/>
              </a:spcBef>
              <a:spcAft>
                <a:spcPts val="0"/>
              </a:spcAft>
            </a:pPr>
            <a:r>
              <a:rPr sz="1800" b="0">
                <a:solidFill>
                  <a:srgbClr val="FFFFFF"/>
                </a:solidFill>
                <a:latin typeface="DejaVu Sans Mono"/>
                <a:ea typeface="DejaVu Sans Mono"/>
                <a:latin typeface="DejaVu Sans Mono"/>
              </a:rPr>
              <a:t>    "incident_id": "INC-042",</a:t>
            </a:r>
          </a:p>
          <a:p>
            <a:pPr algn="l">
              <a:lnSpc>
                <a:spcPct val="116000"/>
              </a:lnSpc>
              <a:spcBef>
                <a:spcPts val="0"/>
              </a:spcBef>
              <a:spcAft>
                <a:spcPts val="0"/>
              </a:spcAft>
            </a:pPr>
            <a:r>
              <a:rPr sz="1800" b="0">
                <a:solidFill>
                  <a:srgbClr val="FFFFFF"/>
                </a:solidFill>
                <a:latin typeface="DejaVu Sans Mono"/>
                <a:ea typeface="DejaVu Sans Mono"/>
                <a:latin typeface="DejaVu Sans Mono"/>
              </a:rPr>
              <a:t>    "action_id": "restart-01",</a:t>
            </a:r>
          </a:p>
          <a:p>
            <a:pPr algn="l">
              <a:lnSpc>
                <a:spcPct val="116000"/>
              </a:lnSpc>
              <a:spcBef>
                <a:spcPts val="0"/>
              </a:spcBef>
              <a:spcAft>
                <a:spcPts val="0"/>
              </a:spcAft>
            </a:pPr>
            <a:r>
              <a:rPr sz="1800" b="0">
                <a:solidFill>
                  <a:srgbClr val="FFFFFF"/>
                </a:solidFill>
                <a:latin typeface="DejaVu Sans Mono"/>
                <a:ea typeface="DejaVu Sans Mono"/>
                <a:latin typeface="DejaVu Sans Mono"/>
              </a:rPr>
              <a:t>    "service": "checkout-api",</a:t>
            </a:r>
          </a:p>
          <a:p>
            <a:pPr algn="l">
              <a:lnSpc>
                <a:spcPct val="116000"/>
              </a:lnSpc>
              <a:spcBef>
                <a:spcPts val="0"/>
              </a:spcBef>
              <a:spcAft>
                <a:spcPts val="0"/>
              </a:spcAft>
            </a:pPr>
            <a:r>
              <a:rPr sz="1800" b="0">
                <a:solidFill>
                  <a:srgbClr val="FFFFFF"/>
                </a:solidFill>
                <a:latin typeface="DejaVu Sans Mono"/>
                <a:ea typeface="DejaVu Sans Mono"/>
                <a:latin typeface="DejaVu Sans Mono"/>
              </a:rPr>
              <a:t>    "plan_version": 1,</a:t>
            </a:r>
          </a:p>
          <a:p>
            <a:pPr algn="l">
              <a:lnSpc>
                <a:spcPct val="116000"/>
              </a:lnSpc>
              <a:spcBef>
                <a:spcPts val="0"/>
              </a:spcBef>
              <a:spcAft>
                <a:spcPts val="0"/>
              </a:spcAft>
            </a:pPr>
            <a:r>
              <a:rPr sz="1800" b="0">
                <a:solidFill>
                  <a:srgbClr val="FFFFFF"/>
                </a:solidFill>
                <a:latin typeface="DejaVu Sans Mono"/>
                <a:ea typeface="DejaVu Sans Mono"/>
                <a:latin typeface="DejaVu Sans Mono"/>
              </a:rPr>
              <a:t>    "decision": "approve",</a:t>
            </a:r>
          </a:p>
          <a:p>
            <a:pPr algn="l">
              <a:lnSpc>
                <a:spcPct val="116000"/>
              </a:lnSpc>
              <a:spcBef>
                <a:spcPts val="0"/>
              </a:spcBef>
              <a:spcAft>
                <a:spcPts val="0"/>
              </a:spcAft>
            </a:pPr>
            <a:r>
              <a:rPr sz="1800" b="0">
                <a:solidFill>
                  <a:srgbClr val="FFFFFF"/>
                </a:solidFill>
                <a:latin typeface="DejaVu Sans Mono"/>
                <a:ea typeface="DejaVu Sans Mono"/>
                <a:latin typeface="DejaVu Sans Mono"/>
              </a:rPr>
              <a:t>}</a:t>
            </a:r>
          </a:p>
          <a:p>
            <a:pPr algn="l">
              <a:lnSpc>
                <a:spcPct val="116000"/>
              </a:lnSpc>
              <a:spcBef>
                <a:spcPts val="0"/>
              </a:spcBef>
              <a:spcAft>
                <a:spcPts val="0"/>
              </a:spcAft>
            </a:pPr>
            <a:r>
              <a:rPr sz="1800" b="0">
                <a:solidFill>
                  <a:srgbClr val="FFFFFF"/>
                </a:solidFill>
                <a:latin typeface="DejaVu Sans Mono"/>
                <a:ea typeface="DejaVu Sans Mono"/>
                <a:latin typeface="DejaVu Sans Mono"/>
              </a:rPr>
              <a:t># 실행 직전 현재 plan과 다시 비교한다.</a:t>
            </a:r>
          </a:p>
        </p:txBody>
      </p:sp>
      <p:sp>
        <p:nvSpPr>
          <p:cNvPr id="12" name="Rounded Rectangle 11"/>
          <p:cNvSpPr/>
          <p:nvPr/>
        </p:nvSpPr>
        <p:spPr>
          <a:xfrm>
            <a:off x="8229600" y="2587752"/>
            <a:ext cx="3364992" cy="1700784"/>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2587752"/>
            <a:ext cx="54864" cy="1700784"/>
          </a:xfrm>
          <a:prstGeom prst="rect">
            <a:avLst/>
          </a:prstGeom>
          <a:solidFill>
            <a:srgbClr val="126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학습용 검사"/>
          <p:cNvSpPr txBox="1"/>
          <p:nvPr/>
        </p:nvSpPr>
        <p:spPr>
          <a:xfrm>
            <a:off x="8430768" y="2770632"/>
            <a:ext cx="296265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학습용 검사</a:t>
            </a:r>
          </a:p>
        </p:txBody>
      </p:sp>
      <p:sp>
        <p:nvSpPr>
          <p:cNvPr id="15" name="TEXT 대상 4개 필드의 존재·일치"/>
          <p:cNvSpPr txBox="1"/>
          <p:nvPr/>
        </p:nvSpPr>
        <p:spPr>
          <a:xfrm>
            <a:off x="8430768" y="3456432"/>
            <a:ext cx="2962656" cy="694944"/>
          </a:xfrm>
          <a:prstGeom prst="rect">
            <a:avLst/>
          </a:prstGeom>
          <a:noFill/>
        </p:spPr>
        <p:txBody>
          <a:bodyPr wrap="square" lIns="0" rIns="0" tIns="0" bIns="0">
            <a:noAutofit/>
          </a:bodyPr>
          <a:lstStyle/>
          <a:p>
            <a:pPr algn="l">
              <a:lnSpc>
                <a:spcPct val="116000"/>
              </a:lnSpc>
              <a:spcBef>
                <a:spcPts val="0"/>
              </a:spcBef>
              <a:spcAft>
                <a:spcPts val="0"/>
              </a:spcAft>
            </a:pPr>
            <a:r>
              <a:rPr sz="2000" b="0">
                <a:solidFill>
                  <a:srgbClr val="172B2A"/>
                </a:solidFill>
                <a:latin typeface="Noto Sans CJK KR"/>
                <a:ea typeface="Noto Sans CJK KR"/>
                <a:latin typeface="Noto Sans CJK KR"/>
              </a:rPr>
              <a:t>대상 4개 필드의 존재·일치</a:t>
            </a:r>
          </a:p>
        </p:txBody>
      </p:sp>
      <p:sp>
        <p:nvSpPr>
          <p:cNvPr id="16" name="Rounded Rectangle 15"/>
          <p:cNvSpPr/>
          <p:nvPr/>
        </p:nvSpPr>
        <p:spPr>
          <a:xfrm>
            <a:off x="8229600" y="4443983"/>
            <a:ext cx="3364992" cy="1700784"/>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0" y="4443983"/>
            <a:ext cx="54864" cy="1700784"/>
          </a:xfrm>
          <a:prstGeom prst="rect">
            <a:avLst/>
          </a:prstGeom>
          <a:solidFill>
            <a:srgbClr val="AD5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운영 보강"/>
          <p:cNvSpPr txBox="1"/>
          <p:nvPr/>
        </p:nvSpPr>
        <p:spPr>
          <a:xfrm>
            <a:off x="8430768" y="4626864"/>
            <a:ext cx="296265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AD572B"/>
                </a:solidFill>
                <a:latin typeface="Noto Sans CJK KR"/>
                <a:ea typeface="Noto Sans CJK KR"/>
                <a:latin typeface="Noto Sans CJK KR"/>
              </a:rPr>
              <a:t>운영 보강</a:t>
            </a:r>
          </a:p>
        </p:txBody>
      </p:sp>
      <p:sp>
        <p:nvSpPr>
          <p:cNvPr id="19" name="TEXT 인자 해시·만료·승인자 권한"/>
          <p:cNvSpPr txBox="1"/>
          <p:nvPr/>
        </p:nvSpPr>
        <p:spPr>
          <a:xfrm>
            <a:off x="8430768" y="5312664"/>
            <a:ext cx="2962656" cy="694944"/>
          </a:xfrm>
          <a:prstGeom prst="rect">
            <a:avLst/>
          </a:prstGeom>
          <a:noFill/>
        </p:spPr>
        <p:txBody>
          <a:bodyPr wrap="square" lIns="0" rIns="0" tIns="0" bIns="0">
            <a:noAutofit/>
          </a:bodyPr>
          <a:lstStyle/>
          <a:p>
            <a:pPr algn="l">
              <a:lnSpc>
                <a:spcPct val="116000"/>
              </a:lnSpc>
              <a:spcBef>
                <a:spcPts val="0"/>
              </a:spcBef>
              <a:spcAft>
                <a:spcPts val="0"/>
              </a:spcAft>
            </a:pPr>
            <a:r>
              <a:rPr sz="2000" b="0">
                <a:solidFill>
                  <a:srgbClr val="172B2A"/>
                </a:solidFill>
                <a:latin typeface="Noto Sans CJK KR"/>
                <a:ea typeface="Noto Sans CJK KR"/>
                <a:latin typeface="Noto Sans CJK KR"/>
              </a:rPr>
              <a:t>인자 해시·만료·승인자 권한</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2  /  근거·승인·복구"/>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2  /  근거·승인·복구</a:t>
            </a:r>
          </a:p>
        </p:txBody>
      </p:sp>
      <p:sp>
        <p:nvSpPr>
          <p:cNvPr id="3" name="TEXT 승인과 권한"/>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승인과 권한</a:t>
            </a:r>
          </a:p>
        </p:txBody>
      </p:sp>
      <p:sp>
        <p:nvSpPr>
          <p:cNvPr id="4" name="TEXT 결정을 받는 일과 그 결정을 할 권한을 확인하는 일은 다르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결정을 받는 일과 그 결정을 할 권한을 확인하는 일은 다르다.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08"/>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C08</a:t>
            </a:r>
          </a:p>
        </p:txBody>
      </p:sp>
      <p:sp>
        <p:nvSpPr>
          <p:cNvPr id="8" name="TEXT 32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32 / 72</a:t>
            </a:r>
          </a:p>
        </p:txBody>
      </p:sp>
      <p:sp>
        <p:nvSpPr>
          <p:cNvPr id="9" name="TEXT 심화 A02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A02 →</a:t>
            </a:r>
          </a:p>
        </p:txBody>
      </p:sp>
      <p:sp>
        <p:nvSpPr>
          <p:cNvPr id="10" name="Rounded Rectangle 9"/>
          <p:cNvSpPr/>
          <p:nvPr/>
        </p:nvSpPr>
        <p:spPr>
          <a:xfrm>
            <a:off x="594360" y="2606040"/>
            <a:ext cx="5376672" cy="3364992"/>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2606040"/>
            <a:ext cx="54864" cy="3364992"/>
          </a:xfrm>
          <a:prstGeom prst="rect">
            <a:avLst/>
          </a:prstGeom>
          <a:solidFill>
            <a:srgbClr val="126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교육용 CLI"/>
          <p:cNvSpPr txBox="1"/>
          <p:nvPr/>
        </p:nvSpPr>
        <p:spPr>
          <a:xfrm>
            <a:off x="795528" y="2788920"/>
            <a:ext cx="497433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교육용 CLI</a:t>
            </a:r>
          </a:p>
        </p:txBody>
      </p:sp>
      <p:sp>
        <p:nvSpPr>
          <p:cNvPr id="13" name="TEXT "/>
          <p:cNvSpPr txBox="1"/>
          <p:nvPr/>
        </p:nvSpPr>
        <p:spPr>
          <a:xfrm>
            <a:off x="795528" y="3474720"/>
            <a:ext cx="4974336" cy="2359152"/>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a:r>
          </a:p>
        </p:txBody>
      </p:sp>
      <p:sp>
        <p:nvSpPr>
          <p:cNvPr id="14" name="TEXT • approve / reject 입력"/>
          <p:cNvSpPr txBox="1"/>
          <p:nvPr/>
        </p:nvSpPr>
        <p:spPr>
          <a:xfrm>
            <a:off x="822960" y="3511296"/>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approve / reject 입력</a:t>
            </a:r>
          </a:p>
        </p:txBody>
      </p:sp>
      <p:sp>
        <p:nvSpPr>
          <p:cNvPr id="15" name="TEXT • 대상 필드 비교"/>
          <p:cNvSpPr txBox="1"/>
          <p:nvPr/>
        </p:nvSpPr>
        <p:spPr>
          <a:xfrm>
            <a:off x="822960" y="4206240"/>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대상 필드 비교</a:t>
            </a:r>
          </a:p>
        </p:txBody>
      </p:sp>
      <p:sp>
        <p:nvSpPr>
          <p:cNvPr id="16" name="TEXT • Simulator 실행 여부 검사"/>
          <p:cNvSpPr txBox="1"/>
          <p:nvPr/>
        </p:nvSpPr>
        <p:spPr>
          <a:xfrm>
            <a:off x="822960" y="4901183"/>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Simulator 실행 여부 검사</a:t>
            </a:r>
          </a:p>
        </p:txBody>
      </p:sp>
      <p:sp>
        <p:nvSpPr>
          <p:cNvPr id="17" name="Rounded Rectangle 16"/>
          <p:cNvSpPr/>
          <p:nvPr/>
        </p:nvSpPr>
        <p:spPr>
          <a:xfrm>
            <a:off x="6217920" y="2606040"/>
            <a:ext cx="5376672" cy="3364992"/>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2606040"/>
            <a:ext cx="54864" cy="3364992"/>
          </a:xfrm>
          <a:prstGeom prst="rect">
            <a:avLst/>
          </a:prstGeom>
          <a:solidFill>
            <a:srgbClr val="AD5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운영 서비스"/>
          <p:cNvSpPr txBox="1"/>
          <p:nvPr/>
        </p:nvSpPr>
        <p:spPr>
          <a:xfrm>
            <a:off x="6419088" y="2788920"/>
            <a:ext cx="497433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AD572B"/>
                </a:solidFill>
                <a:latin typeface="Noto Sans CJK KR"/>
                <a:ea typeface="Noto Sans CJK KR"/>
                <a:latin typeface="Noto Sans CJK KR"/>
              </a:rPr>
              <a:t>운영 서비스</a:t>
            </a:r>
          </a:p>
        </p:txBody>
      </p:sp>
      <p:sp>
        <p:nvSpPr>
          <p:cNvPr id="20" name="TEXT "/>
          <p:cNvSpPr txBox="1"/>
          <p:nvPr/>
        </p:nvSpPr>
        <p:spPr>
          <a:xfrm>
            <a:off x="6419088" y="3474720"/>
            <a:ext cx="4974336" cy="2359152"/>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a:r>
          </a:p>
        </p:txBody>
      </p:sp>
      <p:sp>
        <p:nvSpPr>
          <p:cNvPr id="21" name="TEXT • 승인자 인증·역할 검증"/>
          <p:cNvSpPr txBox="1"/>
          <p:nvPr/>
        </p:nvSpPr>
        <p:spPr>
          <a:xfrm>
            <a:off x="6446520" y="3511296"/>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승인자 인증·역할 검증</a:t>
            </a:r>
          </a:p>
        </p:txBody>
      </p:sp>
      <p:sp>
        <p:nvSpPr>
          <p:cNvPr id="22" name="TEXT • 소유권·대상·유효기간"/>
          <p:cNvSpPr txBox="1"/>
          <p:nvPr/>
        </p:nvSpPr>
        <p:spPr>
          <a:xfrm>
            <a:off x="6446520" y="4206240"/>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소유권·대상·유효기간</a:t>
            </a:r>
          </a:p>
        </p:txBody>
      </p:sp>
      <p:sp>
        <p:nvSpPr>
          <p:cNvPr id="23" name="TEXT • 감사 기록·재사용 방지"/>
          <p:cNvSpPr txBox="1"/>
          <p:nvPr/>
        </p:nvSpPr>
        <p:spPr>
          <a:xfrm>
            <a:off x="6446520" y="4901183"/>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감사 기록·재사용 방지</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2  /  근거·승인·복구"/>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2  /  근거·승인·복구</a:t>
            </a:r>
          </a:p>
        </p:txBody>
      </p:sp>
      <p:sp>
        <p:nvSpPr>
          <p:cNvPr id="3" name="Rounded Rectangle 2"/>
          <p:cNvSpPr/>
          <p:nvPr/>
        </p:nvSpPr>
        <p:spPr>
          <a:xfrm>
            <a:off x="10195560" y="173736"/>
            <a:ext cx="1399032" cy="329184"/>
          </a:xfrm>
          <a:prstGeom prst="roundRect">
            <a:avLst>
              <a:gd name="adj" fmla="val 8000"/>
            </a:avLst>
          </a:prstGeom>
          <a:solidFill>
            <a:srgbClr val="E3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60분 경로"/>
          <p:cNvSpPr txBox="1"/>
          <p:nvPr/>
        </p:nvSpPr>
        <p:spPr>
          <a:xfrm>
            <a:off x="10241280" y="214884"/>
            <a:ext cx="1307592" cy="182880"/>
          </a:xfrm>
          <a:prstGeom prst="rect">
            <a:avLst/>
          </a:prstGeom>
          <a:noFill/>
        </p:spPr>
        <p:txBody>
          <a:bodyPr wrap="square" lIns="0" rIns="0" tIns="0" bIns="0">
            <a:noAutofit/>
          </a:bodyPr>
          <a:lstStyle/>
          <a:p>
            <a:pPr algn="ctr">
              <a:lnSpc>
                <a:spcPct val="116000"/>
              </a:lnSpc>
              <a:spcBef>
                <a:spcPts val="0"/>
              </a:spcBef>
              <a:spcAft>
                <a:spcPts val="0"/>
              </a:spcAft>
            </a:pPr>
            <a:r>
              <a:rPr sz="1000" b="1">
                <a:solidFill>
                  <a:srgbClr val="126858"/>
                </a:solidFill>
                <a:latin typeface="Noto Sans CJK KR"/>
                <a:ea typeface="Noto Sans CJK KR"/>
                <a:latin typeface="Noto Sans CJK KR"/>
              </a:rPr>
              <a:t>60분 경로</a:t>
            </a:r>
          </a:p>
        </p:txBody>
      </p:sp>
      <p:sp>
        <p:nvSpPr>
          <p:cNvPr id="5" name="TEXT 승인 대기와 재개"/>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승인 대기와 재개</a:t>
            </a:r>
          </a:p>
        </p:txBody>
      </p:sp>
      <p:sp>
        <p:nvSpPr>
          <p:cNvPr id="6" name="TEXT 중단된 실행의 같은 thread에 승인·거부 결정을 전달한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중단된 실행의 같은 thread에 승인·거부 결정을 전달한다.</a:t>
            </a:r>
          </a:p>
        </p:txBody>
      </p:sp>
      <p:cxnSp>
        <p:nvCxnSpPr>
          <p:cNvPr id="7" name="Connector 6"/>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9" name="TEXT AI AGENT FIELDNOTES  /  C08·C09"/>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C08·C09</a:t>
            </a:r>
          </a:p>
        </p:txBody>
      </p:sp>
      <p:sp>
        <p:nvSpPr>
          <p:cNvPr id="10" name="TEXT 33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33 / 72</a:t>
            </a:r>
          </a:p>
        </p:txBody>
      </p:sp>
      <p:sp>
        <p:nvSpPr>
          <p:cNvPr id="11" name="TEXT 심화 A01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A01 →</a:t>
            </a:r>
          </a:p>
        </p:txBody>
      </p:sp>
      <p:sp>
        <p:nvSpPr>
          <p:cNvPr id="12" name="Rounded Rectangle 11"/>
          <p:cNvSpPr/>
          <p:nvPr/>
        </p:nvSpPr>
        <p:spPr>
          <a:xfrm>
            <a:off x="594360" y="2880360"/>
            <a:ext cx="1995220" cy="1874519"/>
          </a:xfrm>
          <a:prstGeom prst="roundRect">
            <a:avLst>
              <a:gd name="adj" fmla="val 8000"/>
            </a:avLst>
          </a:prstGeom>
          <a:solidFill>
            <a:srgbClr val="E3EFE7"/>
          </a:solidFill>
          <a:ln w="10160">
            <a:solidFill>
              <a:srgbClr val="1268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01"/>
          <p:cNvSpPr txBox="1"/>
          <p:nvPr/>
        </p:nvSpPr>
        <p:spPr>
          <a:xfrm>
            <a:off x="749808" y="3044952"/>
            <a:ext cx="1684324" cy="246888"/>
          </a:xfrm>
          <a:prstGeom prst="rect">
            <a:avLst/>
          </a:prstGeom>
          <a:noFill/>
        </p:spPr>
        <p:txBody>
          <a:bodyPr wrap="square" lIns="0" rIns="0" tIns="0" bIns="0">
            <a:noAutofit/>
          </a:bodyPr>
          <a:lstStyle/>
          <a:p>
            <a:pPr algn="l">
              <a:lnSpc>
                <a:spcPct val="116000"/>
              </a:lnSpc>
              <a:spcBef>
                <a:spcPts val="0"/>
              </a:spcBef>
              <a:spcAft>
                <a:spcPts val="0"/>
              </a:spcAft>
            </a:pPr>
            <a:r>
              <a:rPr sz="1200" b="1">
                <a:solidFill>
                  <a:srgbClr val="126858"/>
                </a:solidFill>
                <a:latin typeface="Noto Sans CJK KR"/>
                <a:ea typeface="Noto Sans CJK KR"/>
                <a:latin typeface="Noto Sans CJK KR"/>
              </a:rPr>
              <a:t>01</a:t>
            </a:r>
          </a:p>
        </p:txBody>
      </p:sp>
      <p:sp>
        <p:nvSpPr>
          <p:cNvPr id="14" name="TEXT Gate 통과"/>
          <p:cNvSpPr txBox="1"/>
          <p:nvPr/>
        </p:nvSpPr>
        <p:spPr>
          <a:xfrm>
            <a:off x="749808" y="3511296"/>
            <a:ext cx="1684324" cy="713232"/>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Gate 통과</a:t>
            </a:r>
          </a:p>
        </p:txBody>
      </p:sp>
      <p:sp>
        <p:nvSpPr>
          <p:cNvPr id="15" name="TEXT 정책 코드"/>
          <p:cNvSpPr txBox="1"/>
          <p:nvPr/>
        </p:nvSpPr>
        <p:spPr>
          <a:xfrm>
            <a:off x="749808" y="4261104"/>
            <a:ext cx="1684324" cy="365760"/>
          </a:xfrm>
          <a:prstGeom prst="rect">
            <a:avLst/>
          </a:prstGeom>
          <a:noFill/>
        </p:spPr>
        <p:txBody>
          <a:bodyPr wrap="square" lIns="0" rIns="0" tIns="0" bIns="0">
            <a:noAutofit/>
          </a:bodyPr>
          <a:lstStyle/>
          <a:p>
            <a:pPr algn="l">
              <a:lnSpc>
                <a:spcPct val="116000"/>
              </a:lnSpc>
              <a:spcBef>
                <a:spcPts val="0"/>
              </a:spcBef>
              <a:spcAft>
                <a:spcPts val="0"/>
              </a:spcAft>
            </a:pPr>
            <a:r>
              <a:rPr sz="1600" b="0">
                <a:solidFill>
                  <a:srgbClr val="126858"/>
                </a:solidFill>
                <a:latin typeface="Noto Sans CJK KR"/>
                <a:ea typeface="Noto Sans CJK KR"/>
                <a:latin typeface="Noto Sans CJK KR"/>
              </a:rPr>
              <a:t>정책 코드</a:t>
            </a:r>
          </a:p>
        </p:txBody>
      </p:sp>
      <p:cxnSp>
        <p:nvCxnSpPr>
          <p:cNvPr id="16" name="Connector 15"/>
          <p:cNvCxnSpPr/>
          <p:nvPr/>
        </p:nvCxnSpPr>
        <p:spPr>
          <a:xfrm>
            <a:off x="2607868" y="3803904"/>
            <a:ext cx="219456" cy="0"/>
          </a:xfrm>
          <a:prstGeom prst="line">
            <a:avLst/>
          </a:prstGeom>
          <a:ln w="22860">
            <a:solidFill>
              <a:srgbClr val="5E6E66"/>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845612" y="2880360"/>
            <a:ext cx="1995220" cy="1874519"/>
          </a:xfrm>
          <a:prstGeom prst="roundRect">
            <a:avLst>
              <a:gd name="adj" fmla="val 8000"/>
            </a:avLst>
          </a:prstGeom>
          <a:solidFill>
            <a:srgbClr val="E3EFE7"/>
          </a:solidFill>
          <a:ln w="10160">
            <a:solidFill>
              <a:srgbClr val="1268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02"/>
          <p:cNvSpPr txBox="1"/>
          <p:nvPr/>
        </p:nvSpPr>
        <p:spPr>
          <a:xfrm>
            <a:off x="3001060" y="3044952"/>
            <a:ext cx="1684324" cy="246888"/>
          </a:xfrm>
          <a:prstGeom prst="rect">
            <a:avLst/>
          </a:prstGeom>
          <a:noFill/>
        </p:spPr>
        <p:txBody>
          <a:bodyPr wrap="square" lIns="0" rIns="0" tIns="0" bIns="0">
            <a:noAutofit/>
          </a:bodyPr>
          <a:lstStyle/>
          <a:p>
            <a:pPr algn="l">
              <a:lnSpc>
                <a:spcPct val="116000"/>
              </a:lnSpc>
              <a:spcBef>
                <a:spcPts val="0"/>
              </a:spcBef>
              <a:spcAft>
                <a:spcPts val="0"/>
              </a:spcAft>
            </a:pPr>
            <a:r>
              <a:rPr sz="1200" b="1">
                <a:solidFill>
                  <a:srgbClr val="126858"/>
                </a:solidFill>
                <a:latin typeface="Noto Sans CJK KR"/>
                <a:ea typeface="Noto Sans CJK KR"/>
                <a:latin typeface="Noto Sans CJK KR"/>
              </a:rPr>
              <a:t>02</a:t>
            </a:r>
          </a:p>
        </p:txBody>
      </p:sp>
      <p:sp>
        <p:nvSpPr>
          <p:cNvPr id="19" name="TEXT interrupt"/>
          <p:cNvSpPr txBox="1"/>
          <p:nvPr/>
        </p:nvSpPr>
        <p:spPr>
          <a:xfrm>
            <a:off x="3001060" y="3511296"/>
            <a:ext cx="1684324" cy="713232"/>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interrupt</a:t>
            </a:r>
          </a:p>
        </p:txBody>
      </p:sp>
      <p:sp>
        <p:nvSpPr>
          <p:cNvPr id="20" name="TEXT Graph 중단"/>
          <p:cNvSpPr txBox="1"/>
          <p:nvPr/>
        </p:nvSpPr>
        <p:spPr>
          <a:xfrm>
            <a:off x="3001060" y="4261104"/>
            <a:ext cx="1684324" cy="365760"/>
          </a:xfrm>
          <a:prstGeom prst="rect">
            <a:avLst/>
          </a:prstGeom>
          <a:noFill/>
        </p:spPr>
        <p:txBody>
          <a:bodyPr wrap="square" lIns="0" rIns="0" tIns="0" bIns="0">
            <a:noAutofit/>
          </a:bodyPr>
          <a:lstStyle/>
          <a:p>
            <a:pPr algn="l">
              <a:lnSpc>
                <a:spcPct val="116000"/>
              </a:lnSpc>
              <a:spcBef>
                <a:spcPts val="0"/>
              </a:spcBef>
              <a:spcAft>
                <a:spcPts val="0"/>
              </a:spcAft>
            </a:pPr>
            <a:r>
              <a:rPr sz="1600" b="0">
                <a:solidFill>
                  <a:srgbClr val="126858"/>
                </a:solidFill>
                <a:latin typeface="Noto Sans CJK KR"/>
                <a:ea typeface="Noto Sans CJK KR"/>
                <a:latin typeface="Noto Sans CJK KR"/>
              </a:rPr>
              <a:t>Graph 중단</a:t>
            </a:r>
          </a:p>
        </p:txBody>
      </p:sp>
      <p:cxnSp>
        <p:nvCxnSpPr>
          <p:cNvPr id="21" name="Connector 20"/>
          <p:cNvCxnSpPr/>
          <p:nvPr/>
        </p:nvCxnSpPr>
        <p:spPr>
          <a:xfrm>
            <a:off x="4859121" y="3803904"/>
            <a:ext cx="219456" cy="0"/>
          </a:xfrm>
          <a:prstGeom prst="line">
            <a:avLst/>
          </a:prstGeom>
          <a:ln w="22860">
            <a:solidFill>
              <a:srgbClr val="5E6E66"/>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096865" y="2880360"/>
            <a:ext cx="1995220" cy="1874519"/>
          </a:xfrm>
          <a:prstGeom prst="roundRect">
            <a:avLst>
              <a:gd name="adj" fmla="val 8000"/>
            </a:avLst>
          </a:prstGeom>
          <a:solidFill>
            <a:srgbClr val="E3EFE7"/>
          </a:solidFill>
          <a:ln w="10160">
            <a:solidFill>
              <a:srgbClr val="1268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 03"/>
          <p:cNvSpPr txBox="1"/>
          <p:nvPr/>
        </p:nvSpPr>
        <p:spPr>
          <a:xfrm>
            <a:off x="5252313" y="3044952"/>
            <a:ext cx="1684324" cy="246888"/>
          </a:xfrm>
          <a:prstGeom prst="rect">
            <a:avLst/>
          </a:prstGeom>
          <a:noFill/>
        </p:spPr>
        <p:txBody>
          <a:bodyPr wrap="square" lIns="0" rIns="0" tIns="0" bIns="0">
            <a:noAutofit/>
          </a:bodyPr>
          <a:lstStyle/>
          <a:p>
            <a:pPr algn="l">
              <a:lnSpc>
                <a:spcPct val="116000"/>
              </a:lnSpc>
              <a:spcBef>
                <a:spcPts val="0"/>
              </a:spcBef>
              <a:spcAft>
                <a:spcPts val="0"/>
              </a:spcAft>
            </a:pPr>
            <a:r>
              <a:rPr sz="1200" b="1">
                <a:solidFill>
                  <a:srgbClr val="126858"/>
                </a:solidFill>
                <a:latin typeface="Noto Sans CJK KR"/>
                <a:ea typeface="Noto Sans CJK KR"/>
                <a:latin typeface="Noto Sans CJK KR"/>
              </a:rPr>
              <a:t>03</a:t>
            </a:r>
          </a:p>
        </p:txBody>
      </p:sp>
      <p:sp>
        <p:nvSpPr>
          <p:cNvPr id="24" name="TEXT 대기 상태 저장"/>
          <p:cNvSpPr txBox="1"/>
          <p:nvPr/>
        </p:nvSpPr>
        <p:spPr>
          <a:xfrm>
            <a:off x="5252313" y="3511296"/>
            <a:ext cx="1684324" cy="713232"/>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대기 상태 저장</a:t>
            </a:r>
          </a:p>
        </p:txBody>
      </p:sp>
      <p:sp>
        <p:nvSpPr>
          <p:cNvPr id="25" name="TEXT Checkpoint"/>
          <p:cNvSpPr txBox="1"/>
          <p:nvPr/>
        </p:nvSpPr>
        <p:spPr>
          <a:xfrm>
            <a:off x="5252313" y="4261104"/>
            <a:ext cx="1684324" cy="365760"/>
          </a:xfrm>
          <a:prstGeom prst="rect">
            <a:avLst/>
          </a:prstGeom>
          <a:noFill/>
        </p:spPr>
        <p:txBody>
          <a:bodyPr wrap="square" lIns="0" rIns="0" tIns="0" bIns="0">
            <a:noAutofit/>
          </a:bodyPr>
          <a:lstStyle/>
          <a:p>
            <a:pPr algn="l">
              <a:lnSpc>
                <a:spcPct val="116000"/>
              </a:lnSpc>
              <a:spcBef>
                <a:spcPts val="0"/>
              </a:spcBef>
              <a:spcAft>
                <a:spcPts val="0"/>
              </a:spcAft>
            </a:pPr>
            <a:r>
              <a:rPr sz="1600" b="0">
                <a:solidFill>
                  <a:srgbClr val="126858"/>
                </a:solidFill>
                <a:latin typeface="Noto Sans CJK KR"/>
                <a:ea typeface="Noto Sans CJK KR"/>
                <a:latin typeface="Noto Sans CJK KR"/>
              </a:rPr>
              <a:t>Checkpoint</a:t>
            </a:r>
          </a:p>
        </p:txBody>
      </p:sp>
      <p:cxnSp>
        <p:nvCxnSpPr>
          <p:cNvPr id="26" name="Connector 25"/>
          <p:cNvCxnSpPr/>
          <p:nvPr/>
        </p:nvCxnSpPr>
        <p:spPr>
          <a:xfrm>
            <a:off x="7110374" y="3803904"/>
            <a:ext cx="219456" cy="0"/>
          </a:xfrm>
          <a:prstGeom prst="line">
            <a:avLst/>
          </a:prstGeom>
          <a:ln w="22860">
            <a:solidFill>
              <a:srgbClr val="5E6E66"/>
            </a:solidFill>
            <a:tailEnd type="triangle"/>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7348118" y="2880360"/>
            <a:ext cx="1995220" cy="1874519"/>
          </a:xfrm>
          <a:prstGeom prst="roundRect">
            <a:avLst>
              <a:gd name="adj" fmla="val 8000"/>
            </a:avLst>
          </a:prstGeom>
          <a:solidFill>
            <a:srgbClr val="E3EFE7"/>
          </a:solidFill>
          <a:ln w="10160">
            <a:solidFill>
              <a:srgbClr val="1268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 04"/>
          <p:cNvSpPr txBox="1"/>
          <p:nvPr/>
        </p:nvSpPr>
        <p:spPr>
          <a:xfrm>
            <a:off x="7503566" y="3044952"/>
            <a:ext cx="1684324" cy="246888"/>
          </a:xfrm>
          <a:prstGeom prst="rect">
            <a:avLst/>
          </a:prstGeom>
          <a:noFill/>
        </p:spPr>
        <p:txBody>
          <a:bodyPr wrap="square" lIns="0" rIns="0" tIns="0" bIns="0">
            <a:noAutofit/>
          </a:bodyPr>
          <a:lstStyle/>
          <a:p>
            <a:pPr algn="l">
              <a:lnSpc>
                <a:spcPct val="116000"/>
              </a:lnSpc>
              <a:spcBef>
                <a:spcPts val="0"/>
              </a:spcBef>
              <a:spcAft>
                <a:spcPts val="0"/>
              </a:spcAft>
            </a:pPr>
            <a:r>
              <a:rPr sz="1200" b="1">
                <a:solidFill>
                  <a:srgbClr val="126858"/>
                </a:solidFill>
                <a:latin typeface="Noto Sans CJK KR"/>
                <a:ea typeface="Noto Sans CJK KR"/>
                <a:latin typeface="Noto Sans CJK KR"/>
              </a:rPr>
              <a:t>04</a:t>
            </a:r>
          </a:p>
        </p:txBody>
      </p:sp>
      <p:sp>
        <p:nvSpPr>
          <p:cNvPr id="29" name="TEXT 동일 thread resume"/>
          <p:cNvSpPr txBox="1"/>
          <p:nvPr/>
        </p:nvSpPr>
        <p:spPr>
          <a:xfrm>
            <a:off x="7503566" y="3511296"/>
            <a:ext cx="1684324" cy="713232"/>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동일 thread resume</a:t>
            </a:r>
          </a:p>
        </p:txBody>
      </p:sp>
      <p:sp>
        <p:nvSpPr>
          <p:cNvPr id="30" name="TEXT resume 전달"/>
          <p:cNvSpPr txBox="1"/>
          <p:nvPr/>
        </p:nvSpPr>
        <p:spPr>
          <a:xfrm>
            <a:off x="7503566" y="4261104"/>
            <a:ext cx="1684324" cy="365760"/>
          </a:xfrm>
          <a:prstGeom prst="rect">
            <a:avLst/>
          </a:prstGeom>
          <a:noFill/>
        </p:spPr>
        <p:txBody>
          <a:bodyPr wrap="square" lIns="0" rIns="0" tIns="0" bIns="0">
            <a:noAutofit/>
          </a:bodyPr>
          <a:lstStyle/>
          <a:p>
            <a:pPr algn="l">
              <a:lnSpc>
                <a:spcPct val="116000"/>
              </a:lnSpc>
              <a:spcBef>
                <a:spcPts val="0"/>
              </a:spcBef>
              <a:spcAft>
                <a:spcPts val="0"/>
              </a:spcAft>
            </a:pPr>
            <a:r>
              <a:rPr sz="1600" b="0">
                <a:solidFill>
                  <a:srgbClr val="126858"/>
                </a:solidFill>
                <a:latin typeface="Noto Sans CJK KR"/>
                <a:ea typeface="Noto Sans CJK KR"/>
                <a:latin typeface="Noto Sans CJK KR"/>
              </a:rPr>
              <a:t>resume 전달</a:t>
            </a:r>
          </a:p>
        </p:txBody>
      </p:sp>
      <p:cxnSp>
        <p:nvCxnSpPr>
          <p:cNvPr id="31" name="Connector 30"/>
          <p:cNvCxnSpPr/>
          <p:nvPr/>
        </p:nvCxnSpPr>
        <p:spPr>
          <a:xfrm>
            <a:off x="9361627" y="3803904"/>
            <a:ext cx="219456" cy="0"/>
          </a:xfrm>
          <a:prstGeom prst="line">
            <a:avLst/>
          </a:prstGeom>
          <a:ln w="22860">
            <a:solidFill>
              <a:srgbClr val="5E6E66"/>
            </a:solidFill>
            <a:tailEnd type="triangle"/>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9599371" y="2880360"/>
            <a:ext cx="1995220" cy="1874519"/>
          </a:xfrm>
          <a:prstGeom prst="roundRect">
            <a:avLst>
              <a:gd name="adj" fmla="val 8000"/>
            </a:avLst>
          </a:prstGeom>
          <a:solidFill>
            <a:srgbClr val="F7EADD"/>
          </a:solidFill>
          <a:ln w="10160">
            <a:solidFill>
              <a:srgbClr val="AD57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 05"/>
          <p:cNvSpPr txBox="1"/>
          <p:nvPr/>
        </p:nvSpPr>
        <p:spPr>
          <a:xfrm>
            <a:off x="9754819" y="3044952"/>
            <a:ext cx="1684324" cy="246888"/>
          </a:xfrm>
          <a:prstGeom prst="rect">
            <a:avLst/>
          </a:prstGeom>
          <a:noFill/>
        </p:spPr>
        <p:txBody>
          <a:bodyPr wrap="square" lIns="0" rIns="0" tIns="0" bIns="0">
            <a:noAutofit/>
          </a:bodyPr>
          <a:lstStyle/>
          <a:p>
            <a:pPr algn="l">
              <a:lnSpc>
                <a:spcPct val="116000"/>
              </a:lnSpc>
              <a:spcBef>
                <a:spcPts val="0"/>
              </a:spcBef>
              <a:spcAft>
                <a:spcPts val="0"/>
              </a:spcAft>
            </a:pPr>
            <a:r>
              <a:rPr sz="1200" b="1">
                <a:solidFill>
                  <a:srgbClr val="AD572B"/>
                </a:solidFill>
                <a:latin typeface="Noto Sans CJK KR"/>
                <a:ea typeface="Noto Sans CJK KR"/>
                <a:latin typeface="Noto Sans CJK KR"/>
              </a:rPr>
              <a:t>05</a:t>
            </a:r>
          </a:p>
        </p:txBody>
      </p:sp>
      <p:sp>
        <p:nvSpPr>
          <p:cNvPr id="34" name="TEXT 승인 / 거부"/>
          <p:cNvSpPr txBox="1"/>
          <p:nvPr/>
        </p:nvSpPr>
        <p:spPr>
          <a:xfrm>
            <a:off x="9754819" y="3511296"/>
            <a:ext cx="1684324" cy="713232"/>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AD572B"/>
                </a:solidFill>
                <a:latin typeface="Noto Sans CJK KR"/>
                <a:ea typeface="Noto Sans CJK KR"/>
                <a:latin typeface="Noto Sans CJK KR"/>
              </a:rPr>
              <a:t>승인 / 거부</a:t>
            </a:r>
          </a:p>
        </p:txBody>
      </p:sp>
      <p:sp>
        <p:nvSpPr>
          <p:cNvPr id="35" name="TEXT 실행 또는 보고"/>
          <p:cNvSpPr txBox="1"/>
          <p:nvPr/>
        </p:nvSpPr>
        <p:spPr>
          <a:xfrm>
            <a:off x="9754819" y="4261104"/>
            <a:ext cx="1684324" cy="365760"/>
          </a:xfrm>
          <a:prstGeom prst="rect">
            <a:avLst/>
          </a:prstGeom>
          <a:noFill/>
        </p:spPr>
        <p:txBody>
          <a:bodyPr wrap="square" lIns="0" rIns="0" tIns="0" bIns="0">
            <a:noAutofit/>
          </a:bodyPr>
          <a:lstStyle/>
          <a:p>
            <a:pPr algn="l">
              <a:lnSpc>
                <a:spcPct val="116000"/>
              </a:lnSpc>
              <a:spcBef>
                <a:spcPts val="0"/>
              </a:spcBef>
              <a:spcAft>
                <a:spcPts val="0"/>
              </a:spcAft>
            </a:pPr>
            <a:r>
              <a:rPr sz="1600" b="0">
                <a:solidFill>
                  <a:srgbClr val="AD572B"/>
                </a:solidFill>
                <a:latin typeface="Noto Sans CJK KR"/>
                <a:ea typeface="Noto Sans CJK KR"/>
                <a:latin typeface="Noto Sans CJK KR"/>
              </a:rPr>
              <a:t>실행 또는 보고</a:t>
            </a:r>
          </a:p>
        </p:txBody>
      </p:sp>
      <p:sp>
        <p:nvSpPr>
          <p:cNvPr id="36" name="TEXT 대기 ≠ 승인 ≠ 실행 완료"/>
          <p:cNvSpPr txBox="1"/>
          <p:nvPr/>
        </p:nvSpPr>
        <p:spPr>
          <a:xfrm>
            <a:off x="731520" y="5266944"/>
            <a:ext cx="10789920" cy="685800"/>
          </a:xfrm>
          <a:prstGeom prst="rect">
            <a:avLst/>
          </a:prstGeom>
          <a:noFill/>
        </p:spPr>
        <p:txBody>
          <a:bodyPr wrap="square" lIns="0" rIns="0" tIns="0" bIns="0">
            <a:noAutofit/>
          </a:bodyPr>
          <a:lstStyle/>
          <a:p>
            <a:pPr algn="l">
              <a:lnSpc>
                <a:spcPct val="116000"/>
              </a:lnSpc>
              <a:spcBef>
                <a:spcPts val="0"/>
              </a:spcBef>
              <a:spcAft>
                <a:spcPts val="0"/>
              </a:spcAft>
            </a:pPr>
            <a:r>
              <a:rPr sz="2100" b="1">
                <a:solidFill>
                  <a:srgbClr val="126858"/>
                </a:solidFill>
                <a:latin typeface="Noto Sans CJK KR"/>
                <a:ea typeface="Noto Sans CJK KR"/>
                <a:latin typeface="Noto Sans CJK KR"/>
              </a:rPr>
              <a:t>대기 ≠ 승인 ≠ 실행 완료</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2  /  근거·승인·복구"/>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2  /  근거·승인·복구</a:t>
            </a:r>
          </a:p>
        </p:txBody>
      </p:sp>
      <p:sp>
        <p:nvSpPr>
          <p:cNvPr id="3" name="TEXT Node 재실행"/>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Node 재실행</a:t>
            </a:r>
          </a:p>
        </p:txBody>
      </p:sp>
      <p:sp>
        <p:nvSpPr>
          <p:cNvPr id="4" name="TEXT interrupt에서 재개할 때 해당 Node의 앞부분도 다시 실행된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interrupt에서 재개할 때 해당 Node의 앞부분도 다시 실행된다.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09"/>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C09</a:t>
            </a:r>
          </a:p>
        </p:txBody>
      </p:sp>
      <p:sp>
        <p:nvSpPr>
          <p:cNvPr id="8" name="TEXT 34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34 / 72</a:t>
            </a:r>
          </a:p>
        </p:txBody>
      </p:sp>
      <p:sp>
        <p:nvSpPr>
          <p:cNvPr id="9" name="TEXT 심화 A08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A08 →</a:t>
            </a:r>
          </a:p>
        </p:txBody>
      </p:sp>
      <p:sp>
        <p:nvSpPr>
          <p:cNvPr id="10" name="Rounded Rectangle 9"/>
          <p:cNvSpPr/>
          <p:nvPr/>
        </p:nvSpPr>
        <p:spPr>
          <a:xfrm>
            <a:off x="594360" y="2578608"/>
            <a:ext cx="7406640" cy="3584448"/>
          </a:xfrm>
          <a:prstGeom prst="roundRect">
            <a:avLst>
              <a:gd name="adj" fmla="val 8000"/>
            </a:avLst>
          </a:prstGeom>
          <a:solidFill>
            <a:srgbClr val="1636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def approval(state):&#10;    # 이 위치의 코드도 다시 실행될 수"/>
          <p:cNvSpPr txBox="1"/>
          <p:nvPr/>
        </p:nvSpPr>
        <p:spPr>
          <a:xfrm>
            <a:off x="822960" y="2779776"/>
            <a:ext cx="6949440" cy="3172968"/>
          </a:xfrm>
          <a:prstGeom prst="rect">
            <a:avLst/>
          </a:prstGeom>
          <a:noFill/>
        </p:spPr>
        <p:txBody>
          <a:bodyPr wrap="square" lIns="0" rIns="0" tIns="0" bIns="0">
            <a:noAutofit/>
          </a:bodyPr>
          <a:lstStyle/>
          <a:p>
            <a:pPr algn="l">
              <a:lnSpc>
                <a:spcPct val="116000"/>
              </a:lnSpc>
              <a:spcBef>
                <a:spcPts val="0"/>
              </a:spcBef>
              <a:spcAft>
                <a:spcPts val="0"/>
              </a:spcAft>
            </a:pPr>
            <a:r>
              <a:rPr sz="1800" b="0">
                <a:solidFill>
                  <a:srgbClr val="FFFFFF"/>
                </a:solidFill>
                <a:latin typeface="DejaVu Sans Mono"/>
                <a:ea typeface="DejaVu Sans Mono"/>
                <a:latin typeface="DejaVu Sans Mono"/>
              </a:rPr>
              <a:t>def approval(state):</a:t>
            </a:r>
          </a:p>
          <a:p>
            <a:pPr algn="l">
              <a:lnSpc>
                <a:spcPct val="116000"/>
              </a:lnSpc>
              <a:spcBef>
                <a:spcPts val="0"/>
              </a:spcBef>
              <a:spcAft>
                <a:spcPts val="0"/>
              </a:spcAft>
            </a:pPr>
            <a:r>
              <a:rPr sz="1800" b="0">
                <a:solidFill>
                  <a:srgbClr val="FFFFFF"/>
                </a:solidFill>
                <a:latin typeface="DejaVu Sans Mono"/>
                <a:ea typeface="DejaVu Sans Mono"/>
                <a:latin typeface="DejaVu Sans Mono"/>
              </a:rPr>
              <a:t>    # 이 위치의 코드도 다시 실행될 수 있다.</a:t>
            </a:r>
          </a:p>
          <a:p>
            <a:pPr algn="l">
              <a:lnSpc>
                <a:spcPct val="116000"/>
              </a:lnSpc>
              <a:spcBef>
                <a:spcPts val="0"/>
              </a:spcBef>
              <a:spcAft>
                <a:spcPts val="0"/>
              </a:spcAft>
            </a:pPr>
            <a:r>
              <a:rPr sz="1800" b="0">
                <a:solidFill>
                  <a:srgbClr val="FFFFFF"/>
                </a:solidFill>
                <a:latin typeface="DejaVu Sans Mono"/>
                <a:ea typeface="DejaVu Sans Mono"/>
                <a:latin typeface="DejaVu Sans Mono"/>
              </a:rPr>
              <a:t>    request = {"plan": state["plan"]}</a:t>
            </a:r>
          </a:p>
          <a:p>
            <a:pPr algn="l">
              <a:lnSpc>
                <a:spcPct val="116000"/>
              </a:lnSpc>
              <a:spcBef>
                <a:spcPts val="0"/>
              </a:spcBef>
              <a:spcAft>
                <a:spcPts val="0"/>
              </a:spcAft>
            </a:pPr>
            <a:r>
              <a:rPr sz="1800" b="0">
                <a:solidFill>
                  <a:srgbClr val="FFFFFF"/>
                </a:solidFill>
                <a:latin typeface="DejaVu Sans Mono"/>
                <a:ea typeface="DejaVu Sans Mono"/>
                <a:latin typeface="DejaVu Sans Mono"/>
              </a:rPr>
              <a:t>    decision = interrupt(request)</a:t>
            </a:r>
          </a:p>
          <a:p>
            <a:pPr algn="l">
              <a:lnSpc>
                <a:spcPct val="116000"/>
              </a:lnSpc>
              <a:spcBef>
                <a:spcPts val="0"/>
              </a:spcBef>
              <a:spcAft>
                <a:spcPts val="0"/>
              </a:spcAft>
            </a:pPr>
            <a:r>
              <a:rPr sz="1800" b="0">
                <a:solidFill>
                  <a:srgbClr val="FFFFFF"/>
                </a:solidFill>
                <a:latin typeface="DejaVu Sans Mono"/>
                <a:ea typeface="DejaVu Sans Mono"/>
                <a:latin typeface="DejaVu Sans Mono"/>
              </a:rPr>
              <a:t>    # 재개값이 interrupt의 반환값이 된다.</a:t>
            </a:r>
          </a:p>
          <a:p>
            <a:pPr algn="l">
              <a:lnSpc>
                <a:spcPct val="116000"/>
              </a:lnSpc>
              <a:spcBef>
                <a:spcPts val="0"/>
              </a:spcBef>
              <a:spcAft>
                <a:spcPts val="0"/>
              </a:spcAft>
            </a:pPr>
            <a:r>
              <a:rPr sz="1800" b="0">
                <a:solidFill>
                  <a:srgbClr val="FFFFFF"/>
                </a:solidFill>
                <a:latin typeface="DejaVu Sans Mono"/>
                <a:ea typeface="DejaVu Sans Mono"/>
                <a:latin typeface="DejaVu Sans Mono"/>
              </a:rPr>
              <a:t>    return validate_decision(state, decision)</a:t>
            </a:r>
          </a:p>
          <a:p>
            <a:pPr algn="l">
              <a:lnSpc>
                <a:spcPct val="116000"/>
              </a:lnSpc>
              <a:spcBef>
                <a:spcPts val="0"/>
              </a:spcBef>
              <a:spcAft>
                <a:spcPts val="0"/>
              </a:spcAft>
            </a:pPr>
            <a:r>
              <a:rPr sz="1800" b="0">
                <a:solidFill>
                  <a:srgbClr val="FFFFFF"/>
                </a:solidFill>
                <a:latin typeface="DejaVu Sans Mono"/>
                <a:ea typeface="DejaVu Sans Mono"/>
                <a:latin typeface="DejaVu Sans Mono"/>
              </a:rPr>
              <a:t/>
            </a:r>
          </a:p>
          <a:p>
            <a:pPr algn="l">
              <a:lnSpc>
                <a:spcPct val="116000"/>
              </a:lnSpc>
              <a:spcBef>
                <a:spcPts val="0"/>
              </a:spcBef>
              <a:spcAft>
                <a:spcPts val="0"/>
              </a:spcAft>
            </a:pPr>
            <a:r>
              <a:rPr sz="1800" b="0">
                <a:solidFill>
                  <a:srgbClr val="FFFFFF"/>
                </a:solidFill>
                <a:latin typeface="DejaVu Sans Mono"/>
                <a:ea typeface="DejaVu Sans Mono"/>
                <a:latin typeface="DejaVu Sans Mono"/>
              </a:rPr>
              <a:t># interrupt 앞에서 Email을 보내면?</a:t>
            </a:r>
          </a:p>
          <a:p>
            <a:pPr algn="l">
              <a:lnSpc>
                <a:spcPct val="116000"/>
              </a:lnSpc>
              <a:spcBef>
                <a:spcPts val="0"/>
              </a:spcBef>
              <a:spcAft>
                <a:spcPts val="0"/>
              </a:spcAft>
            </a:pPr>
            <a:r>
              <a:rPr sz="1800" b="0">
                <a:solidFill>
                  <a:srgbClr val="FFFFFF"/>
                </a:solidFill>
                <a:latin typeface="DejaVu Sans Mono"/>
                <a:ea typeface="DejaVu Sans Mono"/>
                <a:latin typeface="DejaVu Sans Mono"/>
              </a:rPr>
              <a:t># 재개 시 중복 발송 위험이 있다.</a:t>
            </a:r>
          </a:p>
        </p:txBody>
      </p:sp>
      <p:sp>
        <p:nvSpPr>
          <p:cNvPr id="12" name="Rounded Rectangle 11"/>
          <p:cNvSpPr/>
          <p:nvPr/>
        </p:nvSpPr>
        <p:spPr>
          <a:xfrm>
            <a:off x="8229600" y="2587752"/>
            <a:ext cx="3364992" cy="1700784"/>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2587752"/>
            <a:ext cx="54864" cy="1700784"/>
          </a:xfrm>
          <a:prstGeom prst="rect">
            <a:avLst/>
          </a:prstGeom>
          <a:solidFill>
            <a:srgbClr val="126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먼저 질문"/>
          <p:cNvSpPr txBox="1"/>
          <p:nvPr/>
        </p:nvSpPr>
        <p:spPr>
          <a:xfrm>
            <a:off x="8430768" y="2770632"/>
            <a:ext cx="296265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먼저 질문</a:t>
            </a:r>
          </a:p>
        </p:txBody>
      </p:sp>
      <p:sp>
        <p:nvSpPr>
          <p:cNvPr id="15" name="TEXT “다음 줄에서만 계속되는가?”"/>
          <p:cNvSpPr txBox="1"/>
          <p:nvPr/>
        </p:nvSpPr>
        <p:spPr>
          <a:xfrm>
            <a:off x="8430768" y="3456432"/>
            <a:ext cx="2962656" cy="694944"/>
          </a:xfrm>
          <a:prstGeom prst="rect">
            <a:avLst/>
          </a:prstGeom>
          <a:noFill/>
        </p:spPr>
        <p:txBody>
          <a:bodyPr wrap="square" lIns="0" rIns="0" tIns="0" bIns="0">
            <a:noAutofit/>
          </a:bodyPr>
          <a:lstStyle/>
          <a:p>
            <a:pPr algn="l">
              <a:lnSpc>
                <a:spcPct val="116000"/>
              </a:lnSpc>
              <a:spcBef>
                <a:spcPts val="0"/>
              </a:spcBef>
              <a:spcAft>
                <a:spcPts val="0"/>
              </a:spcAft>
            </a:pPr>
            <a:r>
              <a:rPr sz="2000" b="0">
                <a:solidFill>
                  <a:srgbClr val="172B2A"/>
                </a:solidFill>
                <a:latin typeface="Noto Sans CJK KR"/>
                <a:ea typeface="Noto Sans CJK KR"/>
                <a:latin typeface="Noto Sans CJK KR"/>
              </a:rPr>
              <a:t>“다음 줄에서만 계속되는가?”</a:t>
            </a:r>
          </a:p>
        </p:txBody>
      </p:sp>
      <p:sp>
        <p:nvSpPr>
          <p:cNvPr id="16" name="Rounded Rectangle 15"/>
          <p:cNvSpPr/>
          <p:nvPr/>
        </p:nvSpPr>
        <p:spPr>
          <a:xfrm>
            <a:off x="8229600" y="4443983"/>
            <a:ext cx="3364992" cy="1700784"/>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0" y="4443983"/>
            <a:ext cx="54864" cy="1700784"/>
          </a:xfrm>
          <a:prstGeom prst="rect">
            <a:avLst/>
          </a:prstGeom>
          <a:solidFill>
            <a:srgbClr val="AD5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설계 원칙"/>
          <p:cNvSpPr txBox="1"/>
          <p:nvPr/>
        </p:nvSpPr>
        <p:spPr>
          <a:xfrm>
            <a:off x="8430768" y="4626864"/>
            <a:ext cx="296265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AD572B"/>
                </a:solidFill>
                <a:latin typeface="Noto Sans CJK KR"/>
                <a:ea typeface="Noto Sans CJK KR"/>
                <a:latin typeface="Noto Sans CJK KR"/>
              </a:rPr>
              <a:t>설계 원칙</a:t>
            </a:r>
          </a:p>
        </p:txBody>
      </p:sp>
      <p:sp>
        <p:nvSpPr>
          <p:cNvPr id="19" name="TEXT 부작용 분리·멱등성·결과 조회"/>
          <p:cNvSpPr txBox="1"/>
          <p:nvPr/>
        </p:nvSpPr>
        <p:spPr>
          <a:xfrm>
            <a:off x="8430768" y="5312664"/>
            <a:ext cx="2962656" cy="694944"/>
          </a:xfrm>
          <a:prstGeom prst="rect">
            <a:avLst/>
          </a:prstGeom>
          <a:noFill/>
        </p:spPr>
        <p:txBody>
          <a:bodyPr wrap="square" lIns="0" rIns="0" tIns="0" bIns="0">
            <a:noAutofit/>
          </a:bodyPr>
          <a:lstStyle/>
          <a:p>
            <a:pPr algn="l">
              <a:lnSpc>
                <a:spcPct val="116000"/>
              </a:lnSpc>
              <a:spcBef>
                <a:spcPts val="0"/>
              </a:spcBef>
              <a:spcAft>
                <a:spcPts val="0"/>
              </a:spcAft>
            </a:pPr>
            <a:r>
              <a:rPr sz="2000" b="0">
                <a:solidFill>
                  <a:srgbClr val="172B2A"/>
                </a:solidFill>
                <a:latin typeface="Noto Sans CJK KR"/>
                <a:ea typeface="Noto Sans CJK KR"/>
                <a:latin typeface="Noto Sans CJK KR"/>
              </a:rPr>
              <a:t>부작용 분리·멱등성·결과 조회</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2  /  근거·승인·복구"/>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2  /  근거·승인·복구</a:t>
            </a:r>
          </a:p>
        </p:txBody>
      </p:sp>
      <p:sp>
        <p:nvSpPr>
          <p:cNvPr id="3" name="Rounded Rectangle 2"/>
          <p:cNvSpPr/>
          <p:nvPr/>
        </p:nvSpPr>
        <p:spPr>
          <a:xfrm>
            <a:off x="10195560" y="173736"/>
            <a:ext cx="1399032" cy="329184"/>
          </a:xfrm>
          <a:prstGeom prst="roundRect">
            <a:avLst>
              <a:gd name="adj" fmla="val 8000"/>
            </a:avLst>
          </a:prstGeom>
          <a:solidFill>
            <a:srgbClr val="E3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60분 경로"/>
          <p:cNvSpPr txBox="1"/>
          <p:nvPr/>
        </p:nvSpPr>
        <p:spPr>
          <a:xfrm>
            <a:off x="10241280" y="214884"/>
            <a:ext cx="1307592" cy="182880"/>
          </a:xfrm>
          <a:prstGeom prst="rect">
            <a:avLst/>
          </a:prstGeom>
          <a:noFill/>
        </p:spPr>
        <p:txBody>
          <a:bodyPr wrap="square" lIns="0" rIns="0" tIns="0" bIns="0">
            <a:noAutofit/>
          </a:bodyPr>
          <a:lstStyle/>
          <a:p>
            <a:pPr algn="ctr">
              <a:lnSpc>
                <a:spcPct val="116000"/>
              </a:lnSpc>
              <a:spcBef>
                <a:spcPts val="0"/>
              </a:spcBef>
              <a:spcAft>
                <a:spcPts val="0"/>
              </a:spcAft>
            </a:pPr>
            <a:r>
              <a:rPr sz="1000" b="1">
                <a:solidFill>
                  <a:srgbClr val="126858"/>
                </a:solidFill>
                <a:latin typeface="Noto Sans CJK KR"/>
                <a:ea typeface="Noto Sans CJK KR"/>
                <a:latin typeface="Noto Sans CJK KR"/>
              </a:rPr>
              <a:t>60분 경로</a:t>
            </a:r>
          </a:p>
        </p:txBody>
      </p:sp>
      <p:sp>
        <p:nvSpPr>
          <p:cNvPr id="5" name="TEXT Checkpoint와 업무 DB"/>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Checkpoint와 업무 DB</a:t>
            </a:r>
          </a:p>
        </p:txBody>
      </p:sp>
      <p:sp>
        <p:nvSpPr>
          <p:cNvPr id="6" name="TEXT 실행 복원용 상태와 확정된 업무 사실의 책임을 구분한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실행 복원용 상태와 확정된 업무 사실의 책임을 구분한다.</a:t>
            </a:r>
          </a:p>
        </p:txBody>
      </p:sp>
      <p:cxnSp>
        <p:nvCxnSpPr>
          <p:cNvPr id="7" name="Connector 6"/>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9" name="TEXT AI AGENT FIELDNOTES  /  C09"/>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C09</a:t>
            </a:r>
          </a:p>
        </p:txBody>
      </p:sp>
      <p:sp>
        <p:nvSpPr>
          <p:cNvPr id="10" name="TEXT 35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35 / 72</a:t>
            </a:r>
          </a:p>
        </p:txBody>
      </p:sp>
      <p:sp>
        <p:nvSpPr>
          <p:cNvPr id="11" name="TEXT 심화 A01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A01 →</a:t>
            </a:r>
          </a:p>
        </p:txBody>
      </p:sp>
      <p:graphicFrame>
        <p:nvGraphicFramePr>
          <p:cNvPr id="12" name="Table 11"/>
          <p:cNvGraphicFramePr>
            <a:graphicFrameLocks noGrp="1"/>
          </p:cNvGraphicFramePr>
          <p:nvPr/>
        </p:nvGraphicFramePr>
        <p:xfrm>
          <a:off x="594360" y="2587752"/>
          <a:ext cx="11000231" cy="3557016"/>
        </p:xfrm>
        <a:graphic>
          <a:graphicData uri="http://schemas.openxmlformats.org/drawingml/2006/table">
            <a:tbl>
              <a:tblPr firstRow="1" bandRow="1">
                <a:tableStyleId>{5C22544A-7EE6-4342-B048-85BDC9FD1C3A}</a:tableStyleId>
              </a:tblPr>
              <a:tblGrid>
                <a:gridCol w="2750058"/>
                <a:gridCol w="4290090"/>
                <a:gridCol w="3960083"/>
              </a:tblGrid>
              <a:tr h="484632">
                <a:tc>
                  <a:txBody>
                    <a:bodyPr/>
                    <a:lstStyle/>
                    <a:p>
                      <a:pPr>
                        <a:lnSpc>
                          <a:spcPct val="113000"/>
                        </a:lnSpc>
                        <a:spcAft>
                          <a:spcPts val="0"/>
                        </a:spcAft>
                      </a:pPr>
                      <a:r>
                        <a:rPr sz="1800" b="1">
                          <a:solidFill>
                            <a:srgbClr val="126858"/>
                          </a:solidFill>
                          <a:latin typeface="Noto Sans CJK KR"/>
                        </a:rPr>
                        <a:t>저장 대상</a:t>
                      </a:r>
                    </a:p>
                  </a:txBody>
                  <a:tcPr marL="137160" marR="91440" marT="91440" marB="54864" anchor="ctr">
                    <a:solidFill>
                      <a:srgbClr val="E3EFE7"/>
                    </a:solidFill>
                  </a:tcPr>
                </a:tc>
                <a:tc>
                  <a:txBody>
                    <a:bodyPr/>
                    <a:lstStyle/>
                    <a:p>
                      <a:pPr>
                        <a:lnSpc>
                          <a:spcPct val="113000"/>
                        </a:lnSpc>
                        <a:spcAft>
                          <a:spcPts val="0"/>
                        </a:spcAft>
                      </a:pPr>
                      <a:r>
                        <a:rPr sz="1800" b="1">
                          <a:solidFill>
                            <a:srgbClr val="126858"/>
                          </a:solidFill>
                          <a:latin typeface="Noto Sans CJK KR"/>
                        </a:rPr>
                        <a:t>목적</a:t>
                      </a:r>
                    </a:p>
                  </a:txBody>
                  <a:tcPr marL="137160" marR="91440" marT="91440" marB="54864" anchor="ctr">
                    <a:solidFill>
                      <a:srgbClr val="E3EFE7"/>
                    </a:solidFill>
                  </a:tcPr>
                </a:tc>
                <a:tc>
                  <a:txBody>
                    <a:bodyPr/>
                    <a:lstStyle/>
                    <a:p>
                      <a:pPr>
                        <a:lnSpc>
                          <a:spcPct val="113000"/>
                        </a:lnSpc>
                        <a:spcAft>
                          <a:spcPts val="0"/>
                        </a:spcAft>
                      </a:pPr>
                      <a:r>
                        <a:rPr sz="1800" b="1">
                          <a:solidFill>
                            <a:srgbClr val="126858"/>
                          </a:solidFill>
                          <a:latin typeface="Noto Sans CJK KR"/>
                        </a:rPr>
                        <a:t>예시</a:t>
                      </a:r>
                    </a:p>
                  </a:txBody>
                  <a:tcPr marL="137160" marR="91440" marT="91440" marB="54864" anchor="ctr">
                    <a:solidFill>
                      <a:srgbClr val="E3EFE7"/>
                    </a:solidFill>
                  </a:tcPr>
                </a:tc>
              </a:tr>
              <a:tr h="768096">
                <a:tc>
                  <a:txBody>
                    <a:bodyPr/>
                    <a:lstStyle/>
                    <a:p>
                      <a:pPr>
                        <a:lnSpc>
                          <a:spcPct val="113000"/>
                        </a:lnSpc>
                        <a:spcAft>
                          <a:spcPts val="0"/>
                        </a:spcAft>
                      </a:pPr>
                      <a:r>
                        <a:rPr sz="2000" b="1">
                          <a:solidFill>
                            <a:srgbClr val="172B2A"/>
                          </a:solidFill>
                          <a:latin typeface="Noto Sans CJK KR"/>
                        </a:rPr>
                        <a:t>Checkpoint</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실행 상태·중단 지점 복원</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thread의 승인 대기</a:t>
                      </a:r>
                    </a:p>
                  </a:txBody>
                  <a:tcPr marL="137160" marR="91440" marT="91440" marB="54864" anchor="ctr">
                    <a:solidFill>
                      <a:srgbClr val="FFFEF9"/>
                    </a:solidFill>
                  </a:tcPr>
                </a:tc>
              </a:tr>
              <a:tr h="768096">
                <a:tc>
                  <a:txBody>
                    <a:bodyPr/>
                    <a:lstStyle/>
                    <a:p>
                      <a:pPr>
                        <a:lnSpc>
                          <a:spcPct val="113000"/>
                        </a:lnSpc>
                        <a:spcAft>
                          <a:spcPts val="0"/>
                        </a:spcAft>
                      </a:pPr>
                      <a:r>
                        <a:rPr sz="2000" b="1">
                          <a:solidFill>
                            <a:srgbClr val="172B2A"/>
                          </a:solidFill>
                          <a:latin typeface="Noto Sans CJK KR"/>
                        </a:rPr>
                        <a:t>업무 DB</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확정된 사실·감사</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승인·실행 원장</a:t>
                      </a:r>
                    </a:p>
                  </a:txBody>
                  <a:tcPr marL="137160" marR="91440" marT="91440" marB="54864" anchor="ctr">
                    <a:solidFill>
                      <a:srgbClr val="EDF0E9"/>
                    </a:solidFill>
                  </a:tcPr>
                </a:tc>
              </a:tr>
              <a:tr h="768096">
                <a:tc>
                  <a:txBody>
                    <a:bodyPr/>
                    <a:lstStyle/>
                    <a:p>
                      <a:pPr>
                        <a:lnSpc>
                          <a:spcPct val="113000"/>
                        </a:lnSpc>
                        <a:spcAft>
                          <a:spcPts val="0"/>
                        </a:spcAft>
                      </a:pPr>
                      <a:r>
                        <a:rPr sz="2000" b="1">
                          <a:solidFill>
                            <a:srgbClr val="172B2A"/>
                          </a:solidFill>
                          <a:latin typeface="Noto Sans CJK KR"/>
                        </a:rPr>
                        <a:t>Thread memory</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해당 실행·대화 기억</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이전 조사 Context</a:t>
                      </a:r>
                    </a:p>
                  </a:txBody>
                  <a:tcPr marL="137160" marR="91440" marT="91440" marB="54864" anchor="ctr">
                    <a:solidFill>
                      <a:srgbClr val="FFFEF9"/>
                    </a:solidFill>
                  </a:tcPr>
                </a:tc>
              </a:tr>
              <a:tr h="768096">
                <a:tc>
                  <a:txBody>
                    <a:bodyPr/>
                    <a:lstStyle/>
                    <a:p>
                      <a:pPr>
                        <a:lnSpc>
                          <a:spcPct val="113000"/>
                        </a:lnSpc>
                        <a:spcAft>
                          <a:spcPts val="0"/>
                        </a:spcAft>
                      </a:pPr>
                      <a:r>
                        <a:rPr sz="2000" b="1">
                          <a:solidFill>
                            <a:srgbClr val="172B2A"/>
                          </a:solidFill>
                          <a:latin typeface="Noto Sans CJK KR"/>
                        </a:rPr>
                        <a:t>장기 Memory</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다른 실행에서 지식 재사용</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검증된 사용자 선호</a:t>
                      </a:r>
                    </a:p>
                  </a:txBody>
                  <a:tcPr marL="137160" marR="91440" marT="91440" marB="54864" anchor="ctr">
                    <a:solidFill>
                      <a:srgbClr val="EDF0E9"/>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2  /  근거·승인·복구"/>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2  /  근거·승인·복구</a:t>
            </a:r>
          </a:p>
        </p:txBody>
      </p:sp>
      <p:sp>
        <p:nvSpPr>
          <p:cNvPr id="3" name="TEXT 재시작 후 복원"/>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재시작 후 복원</a:t>
            </a:r>
          </a:p>
        </p:txBody>
      </p:sp>
      <p:sp>
        <p:nvSpPr>
          <p:cNvPr id="4" name="TEXT 새 프로세스가 같은 SQLite 저장소와 thread를 사용해 이어간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새 프로세스가 같은 SQLite 저장소와 thread를 사용해 이어간다.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09"/>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C09</a:t>
            </a:r>
          </a:p>
        </p:txBody>
      </p:sp>
      <p:sp>
        <p:nvSpPr>
          <p:cNvPr id="8" name="TEXT 36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36 / 72</a:t>
            </a:r>
          </a:p>
        </p:txBody>
      </p:sp>
      <p:sp>
        <p:nvSpPr>
          <p:cNvPr id="9" name="TEXT 심화 A11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A11 →</a:t>
            </a:r>
          </a:p>
        </p:txBody>
      </p:sp>
      <p:sp>
        <p:nvSpPr>
          <p:cNvPr id="10" name="Rounded Rectangle 9"/>
          <p:cNvSpPr/>
          <p:nvPr/>
        </p:nvSpPr>
        <p:spPr>
          <a:xfrm>
            <a:off x="594360" y="2578608"/>
            <a:ext cx="7406640" cy="3584448"/>
          </a:xfrm>
          <a:prstGeom prst="roundRect">
            <a:avLst>
              <a:gd name="adj" fmla="val 8000"/>
            </a:avLst>
          </a:prstGeom>
          <a:solidFill>
            <a:srgbClr val="1636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cd solution&#10;python demo.py start --thread dem"/>
          <p:cNvSpPr txBox="1"/>
          <p:nvPr/>
        </p:nvSpPr>
        <p:spPr>
          <a:xfrm>
            <a:off x="822960" y="2779776"/>
            <a:ext cx="6949440" cy="3172968"/>
          </a:xfrm>
          <a:prstGeom prst="rect">
            <a:avLst/>
          </a:prstGeom>
          <a:noFill/>
        </p:spPr>
        <p:txBody>
          <a:bodyPr wrap="square" lIns="0" rIns="0" tIns="0" bIns="0">
            <a:noAutofit/>
          </a:bodyPr>
          <a:lstStyle/>
          <a:p>
            <a:pPr algn="l">
              <a:lnSpc>
                <a:spcPct val="116000"/>
              </a:lnSpc>
              <a:spcBef>
                <a:spcPts val="0"/>
              </a:spcBef>
              <a:spcAft>
                <a:spcPts val="0"/>
              </a:spcAft>
            </a:pPr>
            <a:r>
              <a:rPr sz="1800" b="0">
                <a:solidFill>
                  <a:srgbClr val="FFFFFF"/>
                </a:solidFill>
                <a:latin typeface="DejaVu Sans Mono"/>
                <a:ea typeface="DejaVu Sans Mono"/>
                <a:latin typeface="DejaVu Sans Mono"/>
              </a:rPr>
              <a:t>cd solution</a:t>
            </a:r>
          </a:p>
          <a:p>
            <a:pPr algn="l">
              <a:lnSpc>
                <a:spcPct val="116000"/>
              </a:lnSpc>
              <a:spcBef>
                <a:spcPts val="0"/>
              </a:spcBef>
              <a:spcAft>
                <a:spcPts val="0"/>
              </a:spcAft>
            </a:pPr>
            <a:r>
              <a:rPr sz="1800" b="0">
                <a:solidFill>
                  <a:srgbClr val="FFFFFF"/>
                </a:solidFill>
                <a:latin typeface="DejaVu Sans Mono"/>
                <a:ea typeface="DejaVu Sans Mono"/>
                <a:latin typeface="DejaVu Sans Mono"/>
              </a:rPr>
              <a:t>python demo.py start --thread demo-42</a:t>
            </a:r>
          </a:p>
          <a:p>
            <a:pPr algn="l">
              <a:lnSpc>
                <a:spcPct val="116000"/>
              </a:lnSpc>
              <a:spcBef>
                <a:spcPts val="0"/>
              </a:spcBef>
              <a:spcAft>
                <a:spcPts val="0"/>
              </a:spcAft>
            </a:pPr>
            <a:r>
              <a:rPr sz="1800" b="0">
                <a:solidFill>
                  <a:srgbClr val="FFFFFF"/>
                </a:solidFill>
                <a:latin typeface="DejaVu Sans Mono"/>
                <a:ea typeface="DejaVu Sans Mono"/>
                <a:latin typeface="DejaVu Sans Mono"/>
              </a:rPr>
              <a:t># 프로세스 종료 후 새 명령으로 상태 확인</a:t>
            </a:r>
          </a:p>
          <a:p>
            <a:pPr algn="l">
              <a:lnSpc>
                <a:spcPct val="116000"/>
              </a:lnSpc>
              <a:spcBef>
                <a:spcPts val="0"/>
              </a:spcBef>
              <a:spcAft>
                <a:spcPts val="0"/>
              </a:spcAft>
            </a:pPr>
            <a:r>
              <a:rPr sz="1800" b="0">
                <a:solidFill>
                  <a:srgbClr val="FFFFFF"/>
                </a:solidFill>
                <a:latin typeface="DejaVu Sans Mono"/>
                <a:ea typeface="DejaVu Sans Mono"/>
                <a:latin typeface="DejaVu Sans Mono"/>
              </a:rPr>
              <a:t>python demo.py status --thread demo-42</a:t>
            </a:r>
          </a:p>
          <a:p>
            <a:pPr algn="l">
              <a:lnSpc>
                <a:spcPct val="116000"/>
              </a:lnSpc>
              <a:spcBef>
                <a:spcPts val="0"/>
              </a:spcBef>
              <a:spcAft>
                <a:spcPts val="0"/>
              </a:spcAft>
            </a:pPr>
            <a:r>
              <a:rPr sz="1800" b="0">
                <a:solidFill>
                  <a:srgbClr val="FFFFFF"/>
                </a:solidFill>
                <a:latin typeface="DejaVu Sans Mono"/>
                <a:ea typeface="DejaVu Sans Mono"/>
                <a:latin typeface="DejaVu Sans Mono"/>
              </a:rPr>
              <a:t>python demo.py resume --thread demo-42 \</a:t>
            </a:r>
          </a:p>
          <a:p>
            <a:pPr algn="l">
              <a:lnSpc>
                <a:spcPct val="116000"/>
              </a:lnSpc>
              <a:spcBef>
                <a:spcPts val="0"/>
              </a:spcBef>
              <a:spcAft>
                <a:spcPts val="0"/>
              </a:spcAft>
            </a:pPr>
            <a:r>
              <a:rPr sz="1800" b="0">
                <a:solidFill>
                  <a:srgbClr val="FFFFFF"/>
                </a:solidFill>
                <a:latin typeface="DejaVu Sans Mono"/>
                <a:ea typeface="DejaVu Sans Mono"/>
                <a:latin typeface="DejaVu Sans Mono"/>
              </a:rPr>
              <a:t>    --decision reject</a:t>
            </a:r>
          </a:p>
          <a:p>
            <a:pPr algn="l">
              <a:lnSpc>
                <a:spcPct val="116000"/>
              </a:lnSpc>
              <a:spcBef>
                <a:spcPts val="0"/>
              </a:spcBef>
              <a:spcAft>
                <a:spcPts val="0"/>
              </a:spcAft>
            </a:pPr>
            <a:r>
              <a:rPr sz="1800" b="0">
                <a:solidFill>
                  <a:srgbClr val="FFFFFF"/>
                </a:solidFill>
                <a:latin typeface="DejaVu Sans Mono"/>
                <a:ea typeface="DejaVu Sans Mono"/>
                <a:latin typeface="DejaVu Sans Mono"/>
              </a:rPr>
              <a:t/>
            </a:r>
          </a:p>
          <a:p>
            <a:pPr algn="l">
              <a:lnSpc>
                <a:spcPct val="116000"/>
              </a:lnSpc>
              <a:spcBef>
                <a:spcPts val="0"/>
              </a:spcBef>
              <a:spcAft>
                <a:spcPts val="0"/>
              </a:spcAft>
            </a:pPr>
            <a:r>
              <a:rPr sz="1800" b="0">
                <a:solidFill>
                  <a:srgbClr val="FFFFFF"/>
                </a:solidFill>
                <a:latin typeface="DejaVu Sans Mono"/>
                <a:ea typeface="DejaVu Sans Mono"/>
                <a:latin typeface="DejaVu Sans Mono"/>
              </a:rPr>
              <a:t># 확인할 값</a:t>
            </a:r>
          </a:p>
          <a:p>
            <a:pPr algn="l">
              <a:lnSpc>
                <a:spcPct val="116000"/>
              </a:lnSpc>
              <a:spcBef>
                <a:spcPts val="0"/>
              </a:spcBef>
              <a:spcAft>
                <a:spcPts val="0"/>
              </a:spcAft>
            </a:pPr>
            <a:r>
              <a:rPr sz="1800" b="0">
                <a:solidFill>
                  <a:srgbClr val="FFFFFF"/>
                </a:solidFill>
                <a:latin typeface="DejaVu Sans Mono"/>
                <a:ea typeface="DejaVu Sans Mono"/>
                <a:latin typeface="DejaVu Sans Mono"/>
              </a:rPr>
              <a:t># status: rejected</a:t>
            </a:r>
          </a:p>
          <a:p>
            <a:pPr algn="l">
              <a:lnSpc>
                <a:spcPct val="116000"/>
              </a:lnSpc>
              <a:spcBef>
                <a:spcPts val="0"/>
              </a:spcBef>
              <a:spcAft>
                <a:spcPts val="0"/>
              </a:spcAft>
            </a:pPr>
            <a:r>
              <a:rPr sz="1800" b="0">
                <a:solidFill>
                  <a:srgbClr val="FFFFFF"/>
                </a:solidFill>
                <a:latin typeface="DejaVu Sans Mono"/>
                <a:ea typeface="DejaVu Sans Mono"/>
                <a:latin typeface="DejaVu Sans Mono"/>
              </a:rPr>
              <a:t># simulator_calls_this_process: 0</a:t>
            </a:r>
          </a:p>
        </p:txBody>
      </p:sp>
      <p:sp>
        <p:nvSpPr>
          <p:cNvPr id="12" name="Rounded Rectangle 11"/>
          <p:cNvSpPr/>
          <p:nvPr/>
        </p:nvSpPr>
        <p:spPr>
          <a:xfrm>
            <a:off x="8229600" y="2587752"/>
            <a:ext cx="3364992" cy="1700784"/>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2587752"/>
            <a:ext cx="54864" cy="1700784"/>
          </a:xfrm>
          <a:prstGeom prst="rect">
            <a:avLst/>
          </a:prstGeom>
          <a:solidFill>
            <a:srgbClr val="126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필수 동일성"/>
          <p:cNvSpPr txBox="1"/>
          <p:nvPr/>
        </p:nvSpPr>
        <p:spPr>
          <a:xfrm>
            <a:off x="8430768" y="2770632"/>
            <a:ext cx="296265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필수 동일성</a:t>
            </a:r>
          </a:p>
        </p:txBody>
      </p:sp>
      <p:sp>
        <p:nvSpPr>
          <p:cNvPr id="15" name="TEXT 저장소 경로 + thread ID"/>
          <p:cNvSpPr txBox="1"/>
          <p:nvPr/>
        </p:nvSpPr>
        <p:spPr>
          <a:xfrm>
            <a:off x="8430768" y="3456432"/>
            <a:ext cx="2962656" cy="694944"/>
          </a:xfrm>
          <a:prstGeom prst="rect">
            <a:avLst/>
          </a:prstGeom>
          <a:noFill/>
        </p:spPr>
        <p:txBody>
          <a:bodyPr wrap="square" lIns="0" rIns="0" tIns="0" bIns="0">
            <a:noAutofit/>
          </a:bodyPr>
          <a:lstStyle/>
          <a:p>
            <a:pPr algn="l">
              <a:lnSpc>
                <a:spcPct val="116000"/>
              </a:lnSpc>
              <a:spcBef>
                <a:spcPts val="0"/>
              </a:spcBef>
              <a:spcAft>
                <a:spcPts val="0"/>
              </a:spcAft>
            </a:pPr>
            <a:r>
              <a:rPr sz="2000" b="0">
                <a:solidFill>
                  <a:srgbClr val="172B2A"/>
                </a:solidFill>
                <a:latin typeface="Noto Sans CJK KR"/>
                <a:ea typeface="Noto Sans CJK KR"/>
                <a:latin typeface="Noto Sans CJK KR"/>
              </a:rPr>
              <a:t>저장소 경로 + thread ID</a:t>
            </a:r>
          </a:p>
        </p:txBody>
      </p:sp>
      <p:sp>
        <p:nvSpPr>
          <p:cNvPr id="16" name="Rounded Rectangle 15"/>
          <p:cNvSpPr/>
          <p:nvPr/>
        </p:nvSpPr>
        <p:spPr>
          <a:xfrm>
            <a:off x="8229600" y="4443983"/>
            <a:ext cx="3364992" cy="1700784"/>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0" y="4443983"/>
            <a:ext cx="54864" cy="1700784"/>
          </a:xfrm>
          <a:prstGeom prst="rect">
            <a:avLst/>
          </a:prstGeom>
          <a:solidFill>
            <a:srgbClr val="AD5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검증 방식"/>
          <p:cNvSpPr txBox="1"/>
          <p:nvPr/>
        </p:nvSpPr>
        <p:spPr>
          <a:xfrm>
            <a:off x="8430768" y="4626864"/>
            <a:ext cx="296265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AD572B"/>
                </a:solidFill>
                <a:latin typeface="Noto Sans CJK KR"/>
                <a:ea typeface="Noto Sans CJK KR"/>
                <a:latin typeface="Noto Sans CJK KR"/>
              </a:rPr>
              <a:t>검증 방식</a:t>
            </a:r>
          </a:p>
        </p:txBody>
      </p:sp>
      <p:sp>
        <p:nvSpPr>
          <p:cNvPr id="19" name="TEXT 독립 프로세스에서 start / resume"/>
          <p:cNvSpPr txBox="1"/>
          <p:nvPr/>
        </p:nvSpPr>
        <p:spPr>
          <a:xfrm>
            <a:off x="8430768" y="5312664"/>
            <a:ext cx="2962656" cy="694944"/>
          </a:xfrm>
          <a:prstGeom prst="rect">
            <a:avLst/>
          </a:prstGeom>
          <a:noFill/>
        </p:spPr>
        <p:txBody>
          <a:bodyPr wrap="square" lIns="0" rIns="0" tIns="0" bIns="0">
            <a:noAutofit/>
          </a:bodyPr>
          <a:lstStyle/>
          <a:p>
            <a:pPr algn="l">
              <a:lnSpc>
                <a:spcPct val="116000"/>
              </a:lnSpc>
              <a:spcBef>
                <a:spcPts val="0"/>
              </a:spcBef>
              <a:spcAft>
                <a:spcPts val="0"/>
              </a:spcAft>
            </a:pPr>
            <a:r>
              <a:rPr sz="2000" b="0">
                <a:solidFill>
                  <a:srgbClr val="172B2A"/>
                </a:solidFill>
                <a:latin typeface="Noto Sans CJK KR"/>
                <a:ea typeface="Noto Sans CJK KR"/>
                <a:latin typeface="Noto Sans CJK KR"/>
              </a:rPr>
              <a:t>독립 프로세스에서 start / resume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2  /  근거·승인·복구"/>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2  /  근거·승인·복구</a:t>
            </a:r>
          </a:p>
        </p:txBody>
      </p:sp>
      <p:sp>
        <p:nvSpPr>
          <p:cNvPr id="3" name="TEXT 실행 결과가 불확실한 장애"/>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실행 결과가 불확실한 장애</a:t>
            </a:r>
          </a:p>
        </p:txBody>
      </p:sp>
      <p:sp>
        <p:nvSpPr>
          <p:cNvPr id="4" name="TEXT Timeout은 외부 변경이 실패했다는 뜻이 아닐 수 있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Timeout은 외부 변경이 실패했다는 뜻이 아닐 수 있다.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09"/>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C09</a:t>
            </a:r>
          </a:p>
        </p:txBody>
      </p:sp>
      <p:sp>
        <p:nvSpPr>
          <p:cNvPr id="8" name="TEXT 37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37 / 72</a:t>
            </a:r>
          </a:p>
        </p:txBody>
      </p:sp>
      <p:sp>
        <p:nvSpPr>
          <p:cNvPr id="9" name="TEXT 심화 A08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A08 →</a:t>
            </a:r>
          </a:p>
        </p:txBody>
      </p:sp>
      <p:sp>
        <p:nvSpPr>
          <p:cNvPr id="10" name="Rounded Rectangle 9"/>
          <p:cNvSpPr/>
          <p:nvPr/>
        </p:nvSpPr>
        <p:spPr>
          <a:xfrm>
            <a:off x="594360" y="2880360"/>
            <a:ext cx="1995220" cy="1874519"/>
          </a:xfrm>
          <a:prstGeom prst="roundRect">
            <a:avLst>
              <a:gd name="adj" fmla="val 8000"/>
            </a:avLst>
          </a:prstGeom>
          <a:solidFill>
            <a:srgbClr val="E3EFE7"/>
          </a:solidFill>
          <a:ln w="10160">
            <a:solidFill>
              <a:srgbClr val="1268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01"/>
          <p:cNvSpPr txBox="1"/>
          <p:nvPr/>
        </p:nvSpPr>
        <p:spPr>
          <a:xfrm>
            <a:off x="749808" y="3044952"/>
            <a:ext cx="1684324" cy="246888"/>
          </a:xfrm>
          <a:prstGeom prst="rect">
            <a:avLst/>
          </a:prstGeom>
          <a:noFill/>
        </p:spPr>
        <p:txBody>
          <a:bodyPr wrap="square" lIns="0" rIns="0" tIns="0" bIns="0">
            <a:noAutofit/>
          </a:bodyPr>
          <a:lstStyle/>
          <a:p>
            <a:pPr algn="l">
              <a:lnSpc>
                <a:spcPct val="116000"/>
              </a:lnSpc>
              <a:spcBef>
                <a:spcPts val="0"/>
              </a:spcBef>
              <a:spcAft>
                <a:spcPts val="0"/>
              </a:spcAft>
            </a:pPr>
            <a:r>
              <a:rPr sz="1200" b="1">
                <a:solidFill>
                  <a:srgbClr val="126858"/>
                </a:solidFill>
                <a:latin typeface="Noto Sans CJK KR"/>
                <a:ea typeface="Noto Sans CJK KR"/>
                <a:latin typeface="Noto Sans CJK KR"/>
              </a:rPr>
              <a:t>01</a:t>
            </a:r>
          </a:p>
        </p:txBody>
      </p:sp>
      <p:sp>
        <p:nvSpPr>
          <p:cNvPr id="12" name="TEXT 변경 요청"/>
          <p:cNvSpPr txBox="1"/>
          <p:nvPr/>
        </p:nvSpPr>
        <p:spPr>
          <a:xfrm>
            <a:off x="749808" y="3511296"/>
            <a:ext cx="1684324" cy="713232"/>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변경 요청</a:t>
            </a:r>
          </a:p>
        </p:txBody>
      </p:sp>
      <p:sp>
        <p:nvSpPr>
          <p:cNvPr id="13" name="TEXT 실행 키 전달"/>
          <p:cNvSpPr txBox="1"/>
          <p:nvPr/>
        </p:nvSpPr>
        <p:spPr>
          <a:xfrm>
            <a:off x="749808" y="4261104"/>
            <a:ext cx="1684324" cy="365760"/>
          </a:xfrm>
          <a:prstGeom prst="rect">
            <a:avLst/>
          </a:prstGeom>
          <a:noFill/>
        </p:spPr>
        <p:txBody>
          <a:bodyPr wrap="square" lIns="0" rIns="0" tIns="0" bIns="0">
            <a:noAutofit/>
          </a:bodyPr>
          <a:lstStyle/>
          <a:p>
            <a:pPr algn="l">
              <a:lnSpc>
                <a:spcPct val="116000"/>
              </a:lnSpc>
              <a:spcBef>
                <a:spcPts val="0"/>
              </a:spcBef>
              <a:spcAft>
                <a:spcPts val="0"/>
              </a:spcAft>
            </a:pPr>
            <a:r>
              <a:rPr sz="1600" b="0">
                <a:solidFill>
                  <a:srgbClr val="126858"/>
                </a:solidFill>
                <a:latin typeface="Noto Sans CJK KR"/>
                <a:ea typeface="Noto Sans CJK KR"/>
                <a:latin typeface="Noto Sans CJK KR"/>
              </a:rPr>
              <a:t>실행 키 전달</a:t>
            </a:r>
          </a:p>
        </p:txBody>
      </p:sp>
      <p:cxnSp>
        <p:nvCxnSpPr>
          <p:cNvPr id="14" name="Connector 13"/>
          <p:cNvCxnSpPr/>
          <p:nvPr/>
        </p:nvCxnSpPr>
        <p:spPr>
          <a:xfrm>
            <a:off x="2607868" y="3803904"/>
            <a:ext cx="219456" cy="0"/>
          </a:xfrm>
          <a:prstGeom prst="line">
            <a:avLst/>
          </a:prstGeom>
          <a:ln w="22860">
            <a:solidFill>
              <a:srgbClr val="5E6E66"/>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845612" y="2880360"/>
            <a:ext cx="1995220" cy="1874519"/>
          </a:xfrm>
          <a:prstGeom prst="roundRect">
            <a:avLst>
              <a:gd name="adj" fmla="val 8000"/>
            </a:avLst>
          </a:prstGeom>
          <a:solidFill>
            <a:srgbClr val="F0E9F6"/>
          </a:solidFill>
          <a:ln w="10160">
            <a:solidFill>
              <a:srgbClr val="7155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02"/>
          <p:cNvSpPr txBox="1"/>
          <p:nvPr/>
        </p:nvSpPr>
        <p:spPr>
          <a:xfrm>
            <a:off x="3001060" y="3044952"/>
            <a:ext cx="1684324" cy="246888"/>
          </a:xfrm>
          <a:prstGeom prst="rect">
            <a:avLst/>
          </a:prstGeom>
          <a:noFill/>
        </p:spPr>
        <p:txBody>
          <a:bodyPr wrap="square" lIns="0" rIns="0" tIns="0" bIns="0">
            <a:noAutofit/>
          </a:bodyPr>
          <a:lstStyle/>
          <a:p>
            <a:pPr algn="l">
              <a:lnSpc>
                <a:spcPct val="116000"/>
              </a:lnSpc>
              <a:spcBef>
                <a:spcPts val="0"/>
              </a:spcBef>
              <a:spcAft>
                <a:spcPts val="0"/>
              </a:spcAft>
            </a:pPr>
            <a:r>
              <a:rPr sz="1200" b="1">
                <a:solidFill>
                  <a:srgbClr val="71559D"/>
                </a:solidFill>
                <a:latin typeface="Noto Sans CJK KR"/>
                <a:ea typeface="Noto Sans CJK KR"/>
                <a:latin typeface="Noto Sans CJK KR"/>
              </a:rPr>
              <a:t>02</a:t>
            </a:r>
          </a:p>
        </p:txBody>
      </p:sp>
      <p:sp>
        <p:nvSpPr>
          <p:cNvPr id="17" name="TEXT 외부 성공"/>
          <p:cNvSpPr txBox="1"/>
          <p:nvPr/>
        </p:nvSpPr>
        <p:spPr>
          <a:xfrm>
            <a:off x="3001060" y="3511296"/>
            <a:ext cx="1684324" cy="713232"/>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71559D"/>
                </a:solidFill>
                <a:latin typeface="Noto Sans CJK KR"/>
                <a:ea typeface="Noto Sans CJK KR"/>
                <a:latin typeface="Noto Sans CJK KR"/>
              </a:rPr>
              <a:t>외부 성공</a:t>
            </a:r>
          </a:p>
        </p:txBody>
      </p:sp>
      <p:sp>
        <p:nvSpPr>
          <p:cNvPr id="18" name="TEXT Backend 변경"/>
          <p:cNvSpPr txBox="1"/>
          <p:nvPr/>
        </p:nvSpPr>
        <p:spPr>
          <a:xfrm>
            <a:off x="3001060" y="4261104"/>
            <a:ext cx="1684324" cy="365760"/>
          </a:xfrm>
          <a:prstGeom prst="rect">
            <a:avLst/>
          </a:prstGeom>
          <a:noFill/>
        </p:spPr>
        <p:txBody>
          <a:bodyPr wrap="square" lIns="0" rIns="0" tIns="0" bIns="0">
            <a:noAutofit/>
          </a:bodyPr>
          <a:lstStyle/>
          <a:p>
            <a:pPr algn="l">
              <a:lnSpc>
                <a:spcPct val="116000"/>
              </a:lnSpc>
              <a:spcBef>
                <a:spcPts val="0"/>
              </a:spcBef>
              <a:spcAft>
                <a:spcPts val="0"/>
              </a:spcAft>
            </a:pPr>
            <a:r>
              <a:rPr sz="1600" b="0">
                <a:solidFill>
                  <a:srgbClr val="71559D"/>
                </a:solidFill>
                <a:latin typeface="Noto Sans CJK KR"/>
                <a:ea typeface="Noto Sans CJK KR"/>
                <a:latin typeface="Noto Sans CJK KR"/>
              </a:rPr>
              <a:t>Backend 변경</a:t>
            </a:r>
          </a:p>
        </p:txBody>
      </p:sp>
      <p:cxnSp>
        <p:nvCxnSpPr>
          <p:cNvPr id="19" name="Connector 18"/>
          <p:cNvCxnSpPr/>
          <p:nvPr/>
        </p:nvCxnSpPr>
        <p:spPr>
          <a:xfrm>
            <a:off x="4859121" y="3803904"/>
            <a:ext cx="219456" cy="0"/>
          </a:xfrm>
          <a:prstGeom prst="line">
            <a:avLst/>
          </a:prstGeom>
          <a:ln w="22860">
            <a:solidFill>
              <a:srgbClr val="5E6E66"/>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096865" y="2880360"/>
            <a:ext cx="1995220" cy="1874519"/>
          </a:xfrm>
          <a:prstGeom prst="roundRect">
            <a:avLst>
              <a:gd name="adj" fmla="val 8000"/>
            </a:avLst>
          </a:prstGeom>
          <a:solidFill>
            <a:srgbClr val="F0E9F6"/>
          </a:solidFill>
          <a:ln w="10160">
            <a:solidFill>
              <a:srgbClr val="7155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 03"/>
          <p:cNvSpPr txBox="1"/>
          <p:nvPr/>
        </p:nvSpPr>
        <p:spPr>
          <a:xfrm>
            <a:off x="5252313" y="3044952"/>
            <a:ext cx="1684324" cy="246888"/>
          </a:xfrm>
          <a:prstGeom prst="rect">
            <a:avLst/>
          </a:prstGeom>
          <a:noFill/>
        </p:spPr>
        <p:txBody>
          <a:bodyPr wrap="square" lIns="0" rIns="0" tIns="0" bIns="0">
            <a:noAutofit/>
          </a:bodyPr>
          <a:lstStyle/>
          <a:p>
            <a:pPr algn="l">
              <a:lnSpc>
                <a:spcPct val="116000"/>
              </a:lnSpc>
              <a:spcBef>
                <a:spcPts val="0"/>
              </a:spcBef>
              <a:spcAft>
                <a:spcPts val="0"/>
              </a:spcAft>
            </a:pPr>
            <a:r>
              <a:rPr sz="1200" b="1">
                <a:solidFill>
                  <a:srgbClr val="71559D"/>
                </a:solidFill>
                <a:latin typeface="Noto Sans CJK KR"/>
                <a:ea typeface="Noto Sans CJK KR"/>
                <a:latin typeface="Noto Sans CJK KR"/>
              </a:rPr>
              <a:t>03</a:t>
            </a:r>
          </a:p>
        </p:txBody>
      </p:sp>
      <p:sp>
        <p:nvSpPr>
          <p:cNvPr id="22" name="TEXT 응답 손실"/>
          <p:cNvSpPr txBox="1"/>
          <p:nvPr/>
        </p:nvSpPr>
        <p:spPr>
          <a:xfrm>
            <a:off x="5252313" y="3511296"/>
            <a:ext cx="1684324" cy="713232"/>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71559D"/>
                </a:solidFill>
                <a:latin typeface="Noto Sans CJK KR"/>
                <a:ea typeface="Noto Sans CJK KR"/>
                <a:latin typeface="Noto Sans CJK KR"/>
              </a:rPr>
              <a:t>응답 손실</a:t>
            </a:r>
          </a:p>
        </p:txBody>
      </p:sp>
      <p:sp>
        <p:nvSpPr>
          <p:cNvPr id="23" name="TEXT 네트워크 장애"/>
          <p:cNvSpPr txBox="1"/>
          <p:nvPr/>
        </p:nvSpPr>
        <p:spPr>
          <a:xfrm>
            <a:off x="5252313" y="4261104"/>
            <a:ext cx="1684324" cy="365760"/>
          </a:xfrm>
          <a:prstGeom prst="rect">
            <a:avLst/>
          </a:prstGeom>
          <a:noFill/>
        </p:spPr>
        <p:txBody>
          <a:bodyPr wrap="square" lIns="0" rIns="0" tIns="0" bIns="0">
            <a:noAutofit/>
          </a:bodyPr>
          <a:lstStyle/>
          <a:p>
            <a:pPr algn="l">
              <a:lnSpc>
                <a:spcPct val="116000"/>
              </a:lnSpc>
              <a:spcBef>
                <a:spcPts val="0"/>
              </a:spcBef>
              <a:spcAft>
                <a:spcPts val="0"/>
              </a:spcAft>
            </a:pPr>
            <a:r>
              <a:rPr sz="1600" b="0">
                <a:solidFill>
                  <a:srgbClr val="71559D"/>
                </a:solidFill>
                <a:latin typeface="Noto Sans CJK KR"/>
                <a:ea typeface="Noto Sans CJK KR"/>
                <a:latin typeface="Noto Sans CJK KR"/>
              </a:rPr>
              <a:t>네트워크 장애</a:t>
            </a:r>
          </a:p>
        </p:txBody>
      </p:sp>
      <p:cxnSp>
        <p:nvCxnSpPr>
          <p:cNvPr id="24" name="Connector 23"/>
          <p:cNvCxnSpPr/>
          <p:nvPr/>
        </p:nvCxnSpPr>
        <p:spPr>
          <a:xfrm>
            <a:off x="7110374" y="3803904"/>
            <a:ext cx="219456" cy="0"/>
          </a:xfrm>
          <a:prstGeom prst="line">
            <a:avLst/>
          </a:prstGeom>
          <a:ln w="22860">
            <a:solidFill>
              <a:srgbClr val="5E6E66"/>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48118" y="2880360"/>
            <a:ext cx="1995220" cy="1874519"/>
          </a:xfrm>
          <a:prstGeom prst="roundRect">
            <a:avLst>
              <a:gd name="adj" fmla="val 8000"/>
            </a:avLst>
          </a:prstGeom>
          <a:solidFill>
            <a:srgbClr val="E3EFE7"/>
          </a:solidFill>
          <a:ln w="10160">
            <a:solidFill>
              <a:srgbClr val="1268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04"/>
          <p:cNvSpPr txBox="1"/>
          <p:nvPr/>
        </p:nvSpPr>
        <p:spPr>
          <a:xfrm>
            <a:off x="7503566" y="3044952"/>
            <a:ext cx="1684324" cy="246888"/>
          </a:xfrm>
          <a:prstGeom prst="rect">
            <a:avLst/>
          </a:prstGeom>
          <a:noFill/>
        </p:spPr>
        <p:txBody>
          <a:bodyPr wrap="square" lIns="0" rIns="0" tIns="0" bIns="0">
            <a:noAutofit/>
          </a:bodyPr>
          <a:lstStyle/>
          <a:p>
            <a:pPr algn="l">
              <a:lnSpc>
                <a:spcPct val="116000"/>
              </a:lnSpc>
              <a:spcBef>
                <a:spcPts val="0"/>
              </a:spcBef>
              <a:spcAft>
                <a:spcPts val="0"/>
              </a:spcAft>
            </a:pPr>
            <a:r>
              <a:rPr sz="1200" b="1">
                <a:solidFill>
                  <a:srgbClr val="126858"/>
                </a:solidFill>
                <a:latin typeface="Noto Sans CJK KR"/>
                <a:ea typeface="Noto Sans CJK KR"/>
                <a:latin typeface="Noto Sans CJK KR"/>
              </a:rPr>
              <a:t>04</a:t>
            </a:r>
          </a:p>
        </p:txBody>
      </p:sp>
      <p:sp>
        <p:nvSpPr>
          <p:cNvPr id="27" name="TEXT 우리 쪽 Timeout"/>
          <p:cNvSpPr txBox="1"/>
          <p:nvPr/>
        </p:nvSpPr>
        <p:spPr>
          <a:xfrm>
            <a:off x="7503566" y="3511296"/>
            <a:ext cx="1684324" cy="713232"/>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우리 쪽 Timeout</a:t>
            </a:r>
          </a:p>
        </p:txBody>
      </p:sp>
      <p:sp>
        <p:nvSpPr>
          <p:cNvPr id="28" name="TEXT 성공 확인 못함"/>
          <p:cNvSpPr txBox="1"/>
          <p:nvPr/>
        </p:nvSpPr>
        <p:spPr>
          <a:xfrm>
            <a:off x="7503566" y="4261104"/>
            <a:ext cx="1684324" cy="365760"/>
          </a:xfrm>
          <a:prstGeom prst="rect">
            <a:avLst/>
          </a:prstGeom>
          <a:noFill/>
        </p:spPr>
        <p:txBody>
          <a:bodyPr wrap="square" lIns="0" rIns="0" tIns="0" bIns="0">
            <a:noAutofit/>
          </a:bodyPr>
          <a:lstStyle/>
          <a:p>
            <a:pPr algn="l">
              <a:lnSpc>
                <a:spcPct val="116000"/>
              </a:lnSpc>
              <a:spcBef>
                <a:spcPts val="0"/>
              </a:spcBef>
              <a:spcAft>
                <a:spcPts val="0"/>
              </a:spcAft>
            </a:pPr>
            <a:r>
              <a:rPr sz="1600" b="0">
                <a:solidFill>
                  <a:srgbClr val="126858"/>
                </a:solidFill>
                <a:latin typeface="Noto Sans CJK KR"/>
                <a:ea typeface="Noto Sans CJK KR"/>
                <a:latin typeface="Noto Sans CJK KR"/>
              </a:rPr>
              <a:t>성공 확인 못함</a:t>
            </a:r>
          </a:p>
        </p:txBody>
      </p:sp>
      <p:cxnSp>
        <p:nvCxnSpPr>
          <p:cNvPr id="29" name="Connector 28"/>
          <p:cNvCxnSpPr/>
          <p:nvPr/>
        </p:nvCxnSpPr>
        <p:spPr>
          <a:xfrm>
            <a:off x="9361627" y="3803904"/>
            <a:ext cx="219456" cy="0"/>
          </a:xfrm>
          <a:prstGeom prst="line">
            <a:avLst/>
          </a:prstGeom>
          <a:ln w="22860">
            <a:solidFill>
              <a:srgbClr val="5E6E66"/>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9599371" y="2880360"/>
            <a:ext cx="1995220" cy="1874519"/>
          </a:xfrm>
          <a:prstGeom prst="roundRect">
            <a:avLst>
              <a:gd name="adj" fmla="val 8000"/>
            </a:avLst>
          </a:prstGeom>
          <a:solidFill>
            <a:srgbClr val="E3EFE7"/>
          </a:solidFill>
          <a:ln w="10160">
            <a:solidFill>
              <a:srgbClr val="1268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 05"/>
          <p:cNvSpPr txBox="1"/>
          <p:nvPr/>
        </p:nvSpPr>
        <p:spPr>
          <a:xfrm>
            <a:off x="9754819" y="3044952"/>
            <a:ext cx="1684324" cy="246888"/>
          </a:xfrm>
          <a:prstGeom prst="rect">
            <a:avLst/>
          </a:prstGeom>
          <a:noFill/>
        </p:spPr>
        <p:txBody>
          <a:bodyPr wrap="square" lIns="0" rIns="0" tIns="0" bIns="0">
            <a:noAutofit/>
          </a:bodyPr>
          <a:lstStyle/>
          <a:p>
            <a:pPr algn="l">
              <a:lnSpc>
                <a:spcPct val="116000"/>
              </a:lnSpc>
              <a:spcBef>
                <a:spcPts val="0"/>
              </a:spcBef>
              <a:spcAft>
                <a:spcPts val="0"/>
              </a:spcAft>
            </a:pPr>
            <a:r>
              <a:rPr sz="1200" b="1">
                <a:solidFill>
                  <a:srgbClr val="126858"/>
                </a:solidFill>
                <a:latin typeface="Noto Sans CJK KR"/>
                <a:ea typeface="Noto Sans CJK KR"/>
                <a:latin typeface="Noto Sans CJK KR"/>
              </a:rPr>
              <a:t>05</a:t>
            </a:r>
          </a:p>
        </p:txBody>
      </p:sp>
      <p:sp>
        <p:nvSpPr>
          <p:cNvPr id="32" name="TEXT 결과 불명확"/>
          <p:cNvSpPr txBox="1"/>
          <p:nvPr/>
        </p:nvSpPr>
        <p:spPr>
          <a:xfrm>
            <a:off x="9754819" y="3511296"/>
            <a:ext cx="1684324" cy="713232"/>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결과 불명확</a:t>
            </a:r>
          </a:p>
        </p:txBody>
      </p:sp>
      <p:sp>
        <p:nvSpPr>
          <p:cNvPr id="33" name="TEXT 조회·조정 필요"/>
          <p:cNvSpPr txBox="1"/>
          <p:nvPr/>
        </p:nvSpPr>
        <p:spPr>
          <a:xfrm>
            <a:off x="9754819" y="4261104"/>
            <a:ext cx="1684324" cy="365760"/>
          </a:xfrm>
          <a:prstGeom prst="rect">
            <a:avLst/>
          </a:prstGeom>
          <a:noFill/>
        </p:spPr>
        <p:txBody>
          <a:bodyPr wrap="square" lIns="0" rIns="0" tIns="0" bIns="0">
            <a:noAutofit/>
          </a:bodyPr>
          <a:lstStyle/>
          <a:p>
            <a:pPr algn="l">
              <a:lnSpc>
                <a:spcPct val="116000"/>
              </a:lnSpc>
              <a:spcBef>
                <a:spcPts val="0"/>
              </a:spcBef>
              <a:spcAft>
                <a:spcPts val="0"/>
              </a:spcAft>
            </a:pPr>
            <a:r>
              <a:rPr sz="1600" b="0">
                <a:solidFill>
                  <a:srgbClr val="126858"/>
                </a:solidFill>
                <a:latin typeface="Noto Sans CJK KR"/>
                <a:ea typeface="Noto Sans CJK KR"/>
                <a:latin typeface="Noto Sans CJK KR"/>
              </a:rPr>
              <a:t>조회·조정 필요</a:t>
            </a:r>
          </a:p>
        </p:txBody>
      </p:sp>
      <p:sp>
        <p:nvSpPr>
          <p:cNvPr id="34" name="TEXT 실패로 단정하고 재호출하면 같은 변경이 반복될 수 있다."/>
          <p:cNvSpPr txBox="1"/>
          <p:nvPr/>
        </p:nvSpPr>
        <p:spPr>
          <a:xfrm>
            <a:off x="731520" y="5266944"/>
            <a:ext cx="10789920" cy="685800"/>
          </a:xfrm>
          <a:prstGeom prst="rect">
            <a:avLst/>
          </a:prstGeom>
          <a:noFill/>
        </p:spPr>
        <p:txBody>
          <a:bodyPr wrap="square" lIns="0" rIns="0" tIns="0" bIns="0">
            <a:noAutofit/>
          </a:bodyPr>
          <a:lstStyle/>
          <a:p>
            <a:pPr algn="l">
              <a:lnSpc>
                <a:spcPct val="116000"/>
              </a:lnSpc>
              <a:spcBef>
                <a:spcPts val="0"/>
              </a:spcBef>
              <a:spcAft>
                <a:spcPts val="0"/>
              </a:spcAft>
            </a:pPr>
            <a:r>
              <a:rPr sz="2100" b="1">
                <a:solidFill>
                  <a:srgbClr val="126858"/>
                </a:solidFill>
                <a:latin typeface="Noto Sans CJK KR"/>
                <a:ea typeface="Noto Sans CJK KR"/>
                <a:latin typeface="Noto Sans CJK KR"/>
              </a:rPr>
              <a:t>실패로 단정하고 재호출하면 같은 변경이 반복될 수 있다.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2  /  근거·승인·복구"/>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2  /  근거·승인·복구</a:t>
            </a:r>
          </a:p>
        </p:txBody>
      </p:sp>
      <p:sp>
        <p:nvSpPr>
          <p:cNvPr id="3" name="TEXT 중복 실행 방지"/>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중복 실행 방지</a:t>
            </a:r>
          </a:p>
        </p:txBody>
      </p:sp>
      <p:sp>
        <p:nvSpPr>
          <p:cNvPr id="4" name="TEXT 안정적인 실행 식별자와 외부 결과 확인을 결합한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안정적인 실행 식별자와 외부 결과 확인을 결합한다.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09"/>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C09</a:t>
            </a:r>
          </a:p>
        </p:txBody>
      </p:sp>
      <p:sp>
        <p:nvSpPr>
          <p:cNvPr id="8" name="TEXT 38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38 / 72</a:t>
            </a:r>
          </a:p>
        </p:txBody>
      </p:sp>
      <p:sp>
        <p:nvSpPr>
          <p:cNvPr id="9" name="TEXT 심화 A09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A09 →</a:t>
            </a:r>
          </a:p>
        </p:txBody>
      </p:sp>
      <p:sp>
        <p:nvSpPr>
          <p:cNvPr id="10" name="Rounded Rectangle 9"/>
          <p:cNvSpPr/>
          <p:nvPr/>
        </p:nvSpPr>
        <p:spPr>
          <a:xfrm>
            <a:off x="594360" y="2880360"/>
            <a:ext cx="2558034" cy="1874519"/>
          </a:xfrm>
          <a:prstGeom prst="roundRect">
            <a:avLst>
              <a:gd name="adj" fmla="val 8000"/>
            </a:avLst>
          </a:prstGeom>
          <a:solidFill>
            <a:srgbClr val="E3EFE7"/>
          </a:solidFill>
          <a:ln w="10160">
            <a:solidFill>
              <a:srgbClr val="1268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01"/>
          <p:cNvSpPr txBox="1"/>
          <p:nvPr/>
        </p:nvSpPr>
        <p:spPr>
          <a:xfrm>
            <a:off x="749808" y="3044952"/>
            <a:ext cx="2247138" cy="246888"/>
          </a:xfrm>
          <a:prstGeom prst="rect">
            <a:avLst/>
          </a:prstGeom>
          <a:noFill/>
        </p:spPr>
        <p:txBody>
          <a:bodyPr wrap="square" lIns="0" rIns="0" tIns="0" bIns="0">
            <a:noAutofit/>
          </a:bodyPr>
          <a:lstStyle/>
          <a:p>
            <a:pPr algn="l">
              <a:lnSpc>
                <a:spcPct val="116000"/>
              </a:lnSpc>
              <a:spcBef>
                <a:spcPts val="0"/>
              </a:spcBef>
              <a:spcAft>
                <a:spcPts val="0"/>
              </a:spcAft>
            </a:pPr>
            <a:r>
              <a:rPr sz="1200" b="1">
                <a:solidFill>
                  <a:srgbClr val="126858"/>
                </a:solidFill>
                <a:latin typeface="Noto Sans CJK KR"/>
                <a:ea typeface="Noto Sans CJK KR"/>
                <a:latin typeface="Noto Sans CJK KR"/>
              </a:rPr>
              <a:t>01</a:t>
            </a:r>
          </a:p>
        </p:txBody>
      </p:sp>
      <p:sp>
        <p:nvSpPr>
          <p:cNvPr id="12" name="TEXT 실행 키 확정"/>
          <p:cNvSpPr txBox="1"/>
          <p:nvPr/>
        </p:nvSpPr>
        <p:spPr>
          <a:xfrm>
            <a:off x="749808" y="3511296"/>
            <a:ext cx="2247138" cy="713232"/>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실행 키 확정</a:t>
            </a:r>
          </a:p>
        </p:txBody>
      </p:sp>
      <p:sp>
        <p:nvSpPr>
          <p:cNvPr id="13" name="TEXT 요청 재사용"/>
          <p:cNvSpPr txBox="1"/>
          <p:nvPr/>
        </p:nvSpPr>
        <p:spPr>
          <a:xfrm>
            <a:off x="749808" y="4261104"/>
            <a:ext cx="2247138" cy="365760"/>
          </a:xfrm>
          <a:prstGeom prst="rect">
            <a:avLst/>
          </a:prstGeom>
          <a:noFill/>
        </p:spPr>
        <p:txBody>
          <a:bodyPr wrap="square" lIns="0" rIns="0" tIns="0" bIns="0">
            <a:noAutofit/>
          </a:bodyPr>
          <a:lstStyle/>
          <a:p>
            <a:pPr algn="l">
              <a:lnSpc>
                <a:spcPct val="116000"/>
              </a:lnSpc>
              <a:spcBef>
                <a:spcPts val="0"/>
              </a:spcBef>
              <a:spcAft>
                <a:spcPts val="0"/>
              </a:spcAft>
            </a:pPr>
            <a:r>
              <a:rPr sz="1600" b="0">
                <a:solidFill>
                  <a:srgbClr val="126858"/>
                </a:solidFill>
                <a:latin typeface="Noto Sans CJK KR"/>
                <a:ea typeface="Noto Sans CJK KR"/>
                <a:latin typeface="Noto Sans CJK KR"/>
              </a:rPr>
              <a:t>요청 재사용</a:t>
            </a:r>
          </a:p>
        </p:txBody>
      </p:sp>
      <p:cxnSp>
        <p:nvCxnSpPr>
          <p:cNvPr id="14" name="Connector 13"/>
          <p:cNvCxnSpPr/>
          <p:nvPr/>
        </p:nvCxnSpPr>
        <p:spPr>
          <a:xfrm>
            <a:off x="3170682" y="3803904"/>
            <a:ext cx="219456" cy="0"/>
          </a:xfrm>
          <a:prstGeom prst="line">
            <a:avLst/>
          </a:prstGeom>
          <a:ln w="22860">
            <a:solidFill>
              <a:srgbClr val="5E6E66"/>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408425" y="2880360"/>
            <a:ext cx="2558034" cy="1874519"/>
          </a:xfrm>
          <a:prstGeom prst="roundRect">
            <a:avLst>
              <a:gd name="adj" fmla="val 8000"/>
            </a:avLst>
          </a:prstGeom>
          <a:solidFill>
            <a:srgbClr val="E3EFE7"/>
          </a:solidFill>
          <a:ln w="10160">
            <a:solidFill>
              <a:srgbClr val="1268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02"/>
          <p:cNvSpPr txBox="1"/>
          <p:nvPr/>
        </p:nvSpPr>
        <p:spPr>
          <a:xfrm>
            <a:off x="3563873" y="3044952"/>
            <a:ext cx="2247138" cy="246888"/>
          </a:xfrm>
          <a:prstGeom prst="rect">
            <a:avLst/>
          </a:prstGeom>
          <a:noFill/>
        </p:spPr>
        <p:txBody>
          <a:bodyPr wrap="square" lIns="0" rIns="0" tIns="0" bIns="0">
            <a:noAutofit/>
          </a:bodyPr>
          <a:lstStyle/>
          <a:p>
            <a:pPr algn="l">
              <a:lnSpc>
                <a:spcPct val="116000"/>
              </a:lnSpc>
              <a:spcBef>
                <a:spcPts val="0"/>
              </a:spcBef>
              <a:spcAft>
                <a:spcPts val="0"/>
              </a:spcAft>
            </a:pPr>
            <a:r>
              <a:rPr sz="1200" b="1">
                <a:solidFill>
                  <a:srgbClr val="126858"/>
                </a:solidFill>
                <a:latin typeface="Noto Sans CJK KR"/>
                <a:ea typeface="Noto Sans CJK KR"/>
                <a:latin typeface="Noto Sans CJK KR"/>
              </a:rPr>
              <a:t>02</a:t>
            </a:r>
          </a:p>
        </p:txBody>
      </p:sp>
      <p:sp>
        <p:nvSpPr>
          <p:cNvPr id="17" name="TEXT 실행 의도 기록"/>
          <p:cNvSpPr txBox="1"/>
          <p:nvPr/>
        </p:nvSpPr>
        <p:spPr>
          <a:xfrm>
            <a:off x="3563873" y="3511296"/>
            <a:ext cx="2247138" cy="713232"/>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실행 의도 기록</a:t>
            </a:r>
          </a:p>
        </p:txBody>
      </p:sp>
      <p:sp>
        <p:nvSpPr>
          <p:cNvPr id="18" name="TEXT 업무 원장"/>
          <p:cNvSpPr txBox="1"/>
          <p:nvPr/>
        </p:nvSpPr>
        <p:spPr>
          <a:xfrm>
            <a:off x="3563873" y="4261104"/>
            <a:ext cx="2247138" cy="365760"/>
          </a:xfrm>
          <a:prstGeom prst="rect">
            <a:avLst/>
          </a:prstGeom>
          <a:noFill/>
        </p:spPr>
        <p:txBody>
          <a:bodyPr wrap="square" lIns="0" rIns="0" tIns="0" bIns="0">
            <a:noAutofit/>
          </a:bodyPr>
          <a:lstStyle/>
          <a:p>
            <a:pPr algn="l">
              <a:lnSpc>
                <a:spcPct val="116000"/>
              </a:lnSpc>
              <a:spcBef>
                <a:spcPts val="0"/>
              </a:spcBef>
              <a:spcAft>
                <a:spcPts val="0"/>
              </a:spcAft>
            </a:pPr>
            <a:r>
              <a:rPr sz="1600" b="0">
                <a:solidFill>
                  <a:srgbClr val="126858"/>
                </a:solidFill>
                <a:latin typeface="Noto Sans CJK KR"/>
                <a:ea typeface="Noto Sans CJK KR"/>
                <a:latin typeface="Noto Sans CJK KR"/>
              </a:rPr>
              <a:t>업무 원장</a:t>
            </a:r>
          </a:p>
        </p:txBody>
      </p:sp>
      <p:cxnSp>
        <p:nvCxnSpPr>
          <p:cNvPr id="19" name="Connector 18"/>
          <p:cNvCxnSpPr/>
          <p:nvPr/>
        </p:nvCxnSpPr>
        <p:spPr>
          <a:xfrm>
            <a:off x="5984747" y="3803904"/>
            <a:ext cx="219457" cy="0"/>
          </a:xfrm>
          <a:prstGeom prst="line">
            <a:avLst/>
          </a:prstGeom>
          <a:ln w="22860">
            <a:solidFill>
              <a:srgbClr val="5E6E66"/>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22492" y="2880360"/>
            <a:ext cx="2558034" cy="1874519"/>
          </a:xfrm>
          <a:prstGeom prst="roundRect">
            <a:avLst>
              <a:gd name="adj" fmla="val 8000"/>
            </a:avLst>
          </a:prstGeom>
          <a:solidFill>
            <a:srgbClr val="F0E9F6"/>
          </a:solidFill>
          <a:ln w="10160">
            <a:solidFill>
              <a:srgbClr val="7155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 03"/>
          <p:cNvSpPr txBox="1"/>
          <p:nvPr/>
        </p:nvSpPr>
        <p:spPr>
          <a:xfrm>
            <a:off x="6377940" y="3044952"/>
            <a:ext cx="2247138" cy="246888"/>
          </a:xfrm>
          <a:prstGeom prst="rect">
            <a:avLst/>
          </a:prstGeom>
          <a:noFill/>
        </p:spPr>
        <p:txBody>
          <a:bodyPr wrap="square" lIns="0" rIns="0" tIns="0" bIns="0">
            <a:noAutofit/>
          </a:bodyPr>
          <a:lstStyle/>
          <a:p>
            <a:pPr algn="l">
              <a:lnSpc>
                <a:spcPct val="116000"/>
              </a:lnSpc>
              <a:spcBef>
                <a:spcPts val="0"/>
              </a:spcBef>
              <a:spcAft>
                <a:spcPts val="0"/>
              </a:spcAft>
            </a:pPr>
            <a:r>
              <a:rPr sz="1200" b="1">
                <a:solidFill>
                  <a:srgbClr val="71559D"/>
                </a:solidFill>
                <a:latin typeface="Noto Sans CJK KR"/>
                <a:ea typeface="Noto Sans CJK KR"/>
                <a:latin typeface="Noto Sans CJK KR"/>
              </a:rPr>
              <a:t>03</a:t>
            </a:r>
          </a:p>
        </p:txBody>
      </p:sp>
      <p:sp>
        <p:nvSpPr>
          <p:cNvPr id="22" name="TEXT 외부 결과 조회"/>
          <p:cNvSpPr txBox="1"/>
          <p:nvPr/>
        </p:nvSpPr>
        <p:spPr>
          <a:xfrm>
            <a:off x="6377940" y="3511296"/>
            <a:ext cx="2247138" cy="713232"/>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71559D"/>
                </a:solidFill>
                <a:latin typeface="Noto Sans CJK KR"/>
                <a:ea typeface="Noto Sans CJK KR"/>
                <a:latin typeface="Noto Sans CJK KR"/>
              </a:rPr>
              <a:t>외부 결과 조회</a:t>
            </a:r>
          </a:p>
        </p:txBody>
      </p:sp>
      <p:sp>
        <p:nvSpPr>
          <p:cNvPr id="23" name="TEXT Backend 확인"/>
          <p:cNvSpPr txBox="1"/>
          <p:nvPr/>
        </p:nvSpPr>
        <p:spPr>
          <a:xfrm>
            <a:off x="6377940" y="4261104"/>
            <a:ext cx="2247138" cy="365760"/>
          </a:xfrm>
          <a:prstGeom prst="rect">
            <a:avLst/>
          </a:prstGeom>
          <a:noFill/>
        </p:spPr>
        <p:txBody>
          <a:bodyPr wrap="square" lIns="0" rIns="0" tIns="0" bIns="0">
            <a:noAutofit/>
          </a:bodyPr>
          <a:lstStyle/>
          <a:p>
            <a:pPr algn="l">
              <a:lnSpc>
                <a:spcPct val="116000"/>
              </a:lnSpc>
              <a:spcBef>
                <a:spcPts val="0"/>
              </a:spcBef>
              <a:spcAft>
                <a:spcPts val="0"/>
              </a:spcAft>
            </a:pPr>
            <a:r>
              <a:rPr sz="1600" b="0">
                <a:solidFill>
                  <a:srgbClr val="71559D"/>
                </a:solidFill>
                <a:latin typeface="Noto Sans CJK KR"/>
                <a:ea typeface="Noto Sans CJK KR"/>
                <a:latin typeface="Noto Sans CJK KR"/>
              </a:rPr>
              <a:t>Backend 확인</a:t>
            </a:r>
          </a:p>
        </p:txBody>
      </p:sp>
      <p:cxnSp>
        <p:nvCxnSpPr>
          <p:cNvPr id="24" name="Connector 23"/>
          <p:cNvCxnSpPr/>
          <p:nvPr/>
        </p:nvCxnSpPr>
        <p:spPr>
          <a:xfrm>
            <a:off x="8798813" y="3803904"/>
            <a:ext cx="219456" cy="0"/>
          </a:xfrm>
          <a:prstGeom prst="line">
            <a:avLst/>
          </a:prstGeom>
          <a:ln w="22860">
            <a:solidFill>
              <a:srgbClr val="5E6E66"/>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036557" y="2880360"/>
            <a:ext cx="2558034" cy="1874519"/>
          </a:xfrm>
          <a:prstGeom prst="roundRect">
            <a:avLst>
              <a:gd name="adj" fmla="val 8000"/>
            </a:avLst>
          </a:prstGeom>
          <a:solidFill>
            <a:srgbClr val="E3EFE7"/>
          </a:solidFill>
          <a:ln w="10160">
            <a:solidFill>
              <a:srgbClr val="1268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04"/>
          <p:cNvSpPr txBox="1"/>
          <p:nvPr/>
        </p:nvSpPr>
        <p:spPr>
          <a:xfrm>
            <a:off x="9192005" y="3044952"/>
            <a:ext cx="2247138" cy="246888"/>
          </a:xfrm>
          <a:prstGeom prst="rect">
            <a:avLst/>
          </a:prstGeom>
          <a:noFill/>
        </p:spPr>
        <p:txBody>
          <a:bodyPr wrap="square" lIns="0" rIns="0" tIns="0" bIns="0">
            <a:noAutofit/>
          </a:bodyPr>
          <a:lstStyle/>
          <a:p>
            <a:pPr algn="l">
              <a:lnSpc>
                <a:spcPct val="116000"/>
              </a:lnSpc>
              <a:spcBef>
                <a:spcPts val="0"/>
              </a:spcBef>
              <a:spcAft>
                <a:spcPts val="0"/>
              </a:spcAft>
            </a:pPr>
            <a:r>
              <a:rPr sz="1200" b="1">
                <a:solidFill>
                  <a:srgbClr val="126858"/>
                </a:solidFill>
                <a:latin typeface="Noto Sans CJK KR"/>
                <a:ea typeface="Noto Sans CJK KR"/>
                <a:latin typeface="Noto Sans CJK KR"/>
              </a:rPr>
              <a:t>04</a:t>
            </a:r>
          </a:p>
        </p:txBody>
      </p:sp>
      <p:sp>
        <p:nvSpPr>
          <p:cNvPr id="27" name="TEXT 실행 / 복원 / 조정"/>
          <p:cNvSpPr txBox="1"/>
          <p:nvPr/>
        </p:nvSpPr>
        <p:spPr>
          <a:xfrm>
            <a:off x="9192005" y="3511296"/>
            <a:ext cx="2247138" cy="713232"/>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실행 / 복원 / 조정</a:t>
            </a:r>
          </a:p>
        </p:txBody>
      </p:sp>
      <p:sp>
        <p:nvSpPr>
          <p:cNvPr id="28" name="TEXT 확인된 상태로 분기"/>
          <p:cNvSpPr txBox="1"/>
          <p:nvPr/>
        </p:nvSpPr>
        <p:spPr>
          <a:xfrm>
            <a:off x="9192005" y="4261104"/>
            <a:ext cx="2247138" cy="365760"/>
          </a:xfrm>
          <a:prstGeom prst="rect">
            <a:avLst/>
          </a:prstGeom>
          <a:noFill/>
        </p:spPr>
        <p:txBody>
          <a:bodyPr wrap="square" lIns="0" rIns="0" tIns="0" bIns="0">
            <a:noAutofit/>
          </a:bodyPr>
          <a:lstStyle/>
          <a:p>
            <a:pPr algn="l">
              <a:lnSpc>
                <a:spcPct val="116000"/>
              </a:lnSpc>
              <a:spcBef>
                <a:spcPts val="0"/>
              </a:spcBef>
              <a:spcAft>
                <a:spcPts val="0"/>
              </a:spcAft>
            </a:pPr>
            <a:r>
              <a:rPr sz="1600" b="0">
                <a:solidFill>
                  <a:srgbClr val="126858"/>
                </a:solidFill>
                <a:latin typeface="Noto Sans CJK KR"/>
                <a:ea typeface="Noto Sans CJK KR"/>
                <a:latin typeface="Noto Sans CJK KR"/>
              </a:rPr>
              <a:t>확인된 상태로 분기</a:t>
            </a:r>
          </a:p>
        </p:txBody>
      </p:sp>
      <p:sp>
        <p:nvSpPr>
          <p:cNvPr id="29" name="TEXT Checkpoint만으로 외부 변경의 정확히 한 번 실행을 보장할 수 없다."/>
          <p:cNvSpPr txBox="1"/>
          <p:nvPr/>
        </p:nvSpPr>
        <p:spPr>
          <a:xfrm>
            <a:off x="731520" y="5266944"/>
            <a:ext cx="10789920" cy="685800"/>
          </a:xfrm>
          <a:prstGeom prst="rect">
            <a:avLst/>
          </a:prstGeom>
          <a:noFill/>
        </p:spPr>
        <p:txBody>
          <a:bodyPr wrap="square" lIns="0" rIns="0" tIns="0" bIns="0">
            <a:noAutofit/>
          </a:bodyPr>
          <a:lstStyle/>
          <a:p>
            <a:pPr algn="l">
              <a:lnSpc>
                <a:spcPct val="116000"/>
              </a:lnSpc>
              <a:spcBef>
                <a:spcPts val="0"/>
              </a:spcBef>
              <a:spcAft>
                <a:spcPts val="0"/>
              </a:spcAft>
            </a:pPr>
            <a:r>
              <a:rPr sz="2100" b="1">
                <a:solidFill>
                  <a:srgbClr val="126858"/>
                </a:solidFill>
                <a:latin typeface="Noto Sans CJK KR"/>
                <a:ea typeface="Noto Sans CJK KR"/>
                <a:latin typeface="Noto Sans CJK KR"/>
              </a:rPr>
              <a:t>Checkpoint만으로 외부 변경의 정확히 한 번 실행을 보장할 수 없다.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2  /  근거·승인·복구"/>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2  /  근거·승인·복구</a:t>
            </a:r>
          </a:p>
        </p:txBody>
      </p:sp>
      <p:sp>
        <p:nvSpPr>
          <p:cNvPr id="3" name="TEXT 실습 2 · 승인 분기"/>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실습 2 · 승인 분기</a:t>
            </a:r>
          </a:p>
        </p:txBody>
      </p:sp>
      <p:sp>
        <p:nvSpPr>
          <p:cNvPr id="4" name="TEXT 근거 부족·거부·대상 불일치에서 실행 0회를 확인한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근거 부족·거부·대상 불일치에서 실행 0회를 확인한다.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06·C08"/>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C06·C08</a:t>
            </a:r>
          </a:p>
        </p:txBody>
      </p:sp>
      <p:sp>
        <p:nvSpPr>
          <p:cNvPr id="8" name="TEXT 39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39 / 72</a:t>
            </a:r>
          </a:p>
        </p:txBody>
      </p:sp>
      <p:sp>
        <p:nvSpPr>
          <p:cNvPr id="9" name="TEXT 심화 A10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A10 →</a:t>
            </a:r>
          </a:p>
        </p:txBody>
      </p:sp>
      <p:sp>
        <p:nvSpPr>
          <p:cNvPr id="10" name="Rounded Rectangle 9"/>
          <p:cNvSpPr/>
          <p:nvPr/>
        </p:nvSpPr>
        <p:spPr>
          <a:xfrm>
            <a:off x="594360" y="2660904"/>
            <a:ext cx="3547872" cy="1426464"/>
          </a:xfrm>
          <a:prstGeom prst="roundRect">
            <a:avLst>
              <a:gd name="adj" fmla="val 8000"/>
            </a:avLst>
          </a:prstGeom>
          <a:solidFill>
            <a:srgbClr val="E3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0–8분"/>
          <p:cNvSpPr txBox="1"/>
          <p:nvPr/>
        </p:nvSpPr>
        <p:spPr>
          <a:xfrm>
            <a:off x="777240" y="2816352"/>
            <a:ext cx="3182112" cy="365760"/>
          </a:xfrm>
          <a:prstGeom prst="rect">
            <a:avLst/>
          </a:prstGeom>
          <a:noFill/>
        </p:spPr>
        <p:txBody>
          <a:bodyPr wrap="square" lIns="0" rIns="0" tIns="0" bIns="0">
            <a:noAutofit/>
          </a:bodyPr>
          <a:lstStyle/>
          <a:p>
            <a:pPr algn="l">
              <a:lnSpc>
                <a:spcPct val="116000"/>
              </a:lnSpc>
              <a:spcBef>
                <a:spcPts val="0"/>
              </a:spcBef>
              <a:spcAft>
                <a:spcPts val="0"/>
              </a:spcAft>
            </a:pPr>
            <a:r>
              <a:rPr sz="2300" b="1">
                <a:solidFill>
                  <a:srgbClr val="126858"/>
                </a:solidFill>
                <a:latin typeface="Noto Sans CJK KR"/>
                <a:ea typeface="Noto Sans CJK KR"/>
                <a:latin typeface="Noto Sans CJK KR"/>
              </a:rPr>
              <a:t>0–8분</a:t>
            </a:r>
          </a:p>
        </p:txBody>
      </p:sp>
      <p:sp>
        <p:nvSpPr>
          <p:cNvPr id="12" name="TEXT 정상·허위·빈 근거 비교"/>
          <p:cNvSpPr txBox="1"/>
          <p:nvPr/>
        </p:nvSpPr>
        <p:spPr>
          <a:xfrm>
            <a:off x="777240" y="3374136"/>
            <a:ext cx="3182112" cy="502920"/>
          </a:xfrm>
          <a:prstGeom prst="rect">
            <a:avLst/>
          </a:prstGeom>
          <a:noFill/>
        </p:spPr>
        <p:txBody>
          <a:bodyPr wrap="square" lIns="0" rIns="0" tIns="0" bIns="0">
            <a:noAutofit/>
          </a:bodyPr>
          <a:lstStyle/>
          <a:p>
            <a:pPr algn="l">
              <a:lnSpc>
                <a:spcPct val="116000"/>
              </a:lnSpc>
              <a:spcBef>
                <a:spcPts val="0"/>
              </a:spcBef>
              <a:spcAft>
                <a:spcPts val="0"/>
              </a:spcAft>
            </a:pPr>
            <a:r>
              <a:rPr sz="2000" b="0">
                <a:solidFill>
                  <a:srgbClr val="172B2A"/>
                </a:solidFill>
                <a:latin typeface="Noto Sans CJK KR"/>
                <a:ea typeface="Noto Sans CJK KR"/>
                <a:latin typeface="Noto Sans CJK KR"/>
              </a:rPr>
              <a:t>정상·허위·빈 근거 비교</a:t>
            </a:r>
          </a:p>
        </p:txBody>
      </p:sp>
      <p:sp>
        <p:nvSpPr>
          <p:cNvPr id="13" name="Rounded Rectangle 12"/>
          <p:cNvSpPr/>
          <p:nvPr/>
        </p:nvSpPr>
        <p:spPr>
          <a:xfrm>
            <a:off x="4315968" y="2660904"/>
            <a:ext cx="3547872" cy="1426464"/>
          </a:xfrm>
          <a:prstGeom prst="roundRect">
            <a:avLst>
              <a:gd name="adj" fmla="val 8000"/>
            </a:avLst>
          </a:prstGeom>
          <a:solidFill>
            <a:srgbClr val="E3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8–20분"/>
          <p:cNvSpPr txBox="1"/>
          <p:nvPr/>
        </p:nvSpPr>
        <p:spPr>
          <a:xfrm>
            <a:off x="4498848" y="2816352"/>
            <a:ext cx="3182112" cy="365760"/>
          </a:xfrm>
          <a:prstGeom prst="rect">
            <a:avLst/>
          </a:prstGeom>
          <a:noFill/>
        </p:spPr>
        <p:txBody>
          <a:bodyPr wrap="square" lIns="0" rIns="0" tIns="0" bIns="0">
            <a:noAutofit/>
          </a:bodyPr>
          <a:lstStyle/>
          <a:p>
            <a:pPr algn="l">
              <a:lnSpc>
                <a:spcPct val="116000"/>
              </a:lnSpc>
              <a:spcBef>
                <a:spcPts val="0"/>
              </a:spcBef>
              <a:spcAft>
                <a:spcPts val="0"/>
              </a:spcAft>
            </a:pPr>
            <a:r>
              <a:rPr sz="2300" b="1">
                <a:solidFill>
                  <a:srgbClr val="126858"/>
                </a:solidFill>
                <a:latin typeface="Noto Sans CJK KR"/>
                <a:ea typeface="Noto Sans CJK KR"/>
                <a:latin typeface="Noto Sans CJK KR"/>
              </a:rPr>
              <a:t>8–20분</a:t>
            </a:r>
          </a:p>
        </p:txBody>
      </p:sp>
      <p:sp>
        <p:nvSpPr>
          <p:cNvPr id="15" name="TEXT 승인·거부·대상 오류 실행"/>
          <p:cNvSpPr txBox="1"/>
          <p:nvPr/>
        </p:nvSpPr>
        <p:spPr>
          <a:xfrm>
            <a:off x="4498848" y="3374136"/>
            <a:ext cx="3182112" cy="502920"/>
          </a:xfrm>
          <a:prstGeom prst="rect">
            <a:avLst/>
          </a:prstGeom>
          <a:noFill/>
        </p:spPr>
        <p:txBody>
          <a:bodyPr wrap="square" lIns="0" rIns="0" tIns="0" bIns="0">
            <a:noAutofit/>
          </a:bodyPr>
          <a:lstStyle/>
          <a:p>
            <a:pPr algn="l">
              <a:lnSpc>
                <a:spcPct val="116000"/>
              </a:lnSpc>
              <a:spcBef>
                <a:spcPts val="0"/>
              </a:spcBef>
              <a:spcAft>
                <a:spcPts val="0"/>
              </a:spcAft>
            </a:pPr>
            <a:r>
              <a:rPr sz="2000" b="0">
                <a:solidFill>
                  <a:srgbClr val="172B2A"/>
                </a:solidFill>
                <a:latin typeface="Noto Sans CJK KR"/>
                <a:ea typeface="Noto Sans CJK KR"/>
                <a:latin typeface="Noto Sans CJK KR"/>
              </a:rPr>
              <a:t>승인·거부·대상 오류 실행</a:t>
            </a:r>
          </a:p>
        </p:txBody>
      </p:sp>
      <p:sp>
        <p:nvSpPr>
          <p:cNvPr id="16" name="Rounded Rectangle 15"/>
          <p:cNvSpPr/>
          <p:nvPr/>
        </p:nvSpPr>
        <p:spPr>
          <a:xfrm>
            <a:off x="8037576" y="2660904"/>
            <a:ext cx="3547872" cy="1426464"/>
          </a:xfrm>
          <a:prstGeom prst="roundRect">
            <a:avLst>
              <a:gd name="adj" fmla="val 8000"/>
            </a:avLst>
          </a:prstGeom>
          <a:solidFill>
            <a:srgbClr val="E3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20–30분"/>
          <p:cNvSpPr txBox="1"/>
          <p:nvPr/>
        </p:nvSpPr>
        <p:spPr>
          <a:xfrm>
            <a:off x="8220456" y="2816352"/>
            <a:ext cx="3182112" cy="365760"/>
          </a:xfrm>
          <a:prstGeom prst="rect">
            <a:avLst/>
          </a:prstGeom>
          <a:noFill/>
        </p:spPr>
        <p:txBody>
          <a:bodyPr wrap="square" lIns="0" rIns="0" tIns="0" bIns="0">
            <a:noAutofit/>
          </a:bodyPr>
          <a:lstStyle/>
          <a:p>
            <a:pPr algn="l">
              <a:lnSpc>
                <a:spcPct val="116000"/>
              </a:lnSpc>
              <a:spcBef>
                <a:spcPts val="0"/>
              </a:spcBef>
              <a:spcAft>
                <a:spcPts val="0"/>
              </a:spcAft>
            </a:pPr>
            <a:r>
              <a:rPr sz="2300" b="1">
                <a:solidFill>
                  <a:srgbClr val="126858"/>
                </a:solidFill>
                <a:latin typeface="Noto Sans CJK KR"/>
                <a:ea typeface="Noto Sans CJK KR"/>
                <a:latin typeface="Noto Sans CJK KR"/>
              </a:rPr>
              <a:t>20–30분</a:t>
            </a:r>
          </a:p>
        </p:txBody>
      </p:sp>
      <p:sp>
        <p:nvSpPr>
          <p:cNvPr id="18" name="TEXT 상태와 호출 횟수 검증"/>
          <p:cNvSpPr txBox="1"/>
          <p:nvPr/>
        </p:nvSpPr>
        <p:spPr>
          <a:xfrm>
            <a:off x="8220456" y="3374136"/>
            <a:ext cx="3182112" cy="502920"/>
          </a:xfrm>
          <a:prstGeom prst="rect">
            <a:avLst/>
          </a:prstGeom>
          <a:noFill/>
        </p:spPr>
        <p:txBody>
          <a:bodyPr wrap="square" lIns="0" rIns="0" tIns="0" bIns="0">
            <a:noAutofit/>
          </a:bodyPr>
          <a:lstStyle/>
          <a:p>
            <a:pPr algn="l">
              <a:lnSpc>
                <a:spcPct val="116000"/>
              </a:lnSpc>
              <a:spcBef>
                <a:spcPts val="0"/>
              </a:spcBef>
              <a:spcAft>
                <a:spcPts val="0"/>
              </a:spcAft>
            </a:pPr>
            <a:r>
              <a:rPr sz="2000" b="0">
                <a:solidFill>
                  <a:srgbClr val="172B2A"/>
                </a:solidFill>
                <a:latin typeface="Noto Sans CJK KR"/>
                <a:ea typeface="Noto Sans CJK KR"/>
                <a:latin typeface="Noto Sans CJK KR"/>
              </a:rPr>
              <a:t>상태와 호출 횟수 검증</a:t>
            </a:r>
          </a:p>
        </p:txBody>
      </p:sp>
      <p:sp>
        <p:nvSpPr>
          <p:cNvPr id="19" name="TEXT 제출: 상태 결과 + 테스트 결과"/>
          <p:cNvSpPr txBox="1"/>
          <p:nvPr/>
        </p:nvSpPr>
        <p:spPr>
          <a:xfrm>
            <a:off x="731520" y="4443984"/>
            <a:ext cx="10789920" cy="530352"/>
          </a:xfrm>
          <a:prstGeom prst="rect">
            <a:avLst/>
          </a:prstGeom>
          <a:noFill/>
        </p:spPr>
        <p:txBody>
          <a:bodyPr wrap="square" lIns="0" rIns="0" tIns="0" bIns="0">
            <a:noAutofit/>
          </a:bodyPr>
          <a:lstStyle/>
          <a:p>
            <a:pPr algn="l">
              <a:lnSpc>
                <a:spcPct val="116000"/>
              </a:lnSpc>
              <a:spcBef>
                <a:spcPts val="0"/>
              </a:spcBef>
              <a:spcAft>
                <a:spcPts val="0"/>
              </a:spcAft>
            </a:pPr>
            <a:r>
              <a:rPr sz="2500" b="1">
                <a:solidFill>
                  <a:srgbClr val="172B2A"/>
                </a:solidFill>
                <a:latin typeface="Noto Sans CJK KR"/>
                <a:ea typeface="Noto Sans CJK KR"/>
                <a:latin typeface="Noto Sans CJK KR"/>
              </a:rPr>
              <a:t>제출: 상태 결과 + 테스트 결과</a:t>
            </a:r>
          </a:p>
        </p:txBody>
      </p:sp>
      <p:sp>
        <p:nvSpPr>
          <p:cNvPr id="20" name="TEXT ✓ Executor가 차단 경로에서 호출되지 않는다&#10;✓ 제외된 인용을 검증된 근거"/>
          <p:cNvSpPr txBox="1"/>
          <p:nvPr/>
        </p:nvSpPr>
        <p:spPr>
          <a:xfrm>
            <a:off x="731520" y="5166360"/>
            <a:ext cx="10789920" cy="822960"/>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 Executor가 차단 경로에서 호출되지 않는다</a:t>
            </a:r>
          </a:p>
          <a:p>
            <a:pPr algn="l">
              <a:lnSpc>
                <a:spcPct val="116000"/>
              </a:lnSpc>
              <a:spcBef>
                <a:spcPts val="0"/>
              </a:spcBef>
              <a:spcAft>
                <a:spcPts val="0"/>
              </a:spcAft>
            </a:pPr>
            <a:r>
              <a:rPr sz="2100" b="0">
                <a:solidFill>
                  <a:srgbClr val="126858"/>
                </a:solidFill>
                <a:latin typeface="Noto Sans CJK KR"/>
                <a:ea typeface="Noto Sans CJK KR"/>
                <a:latin typeface="Noto Sans CJK KR"/>
              </a:rPr>
              <a:t>✓ 제외된 인용을 검증된 근거로 표시하지 않는다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2  /  근거·승인·복구"/>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2  /  근거·승인·복구</a:t>
            </a:r>
          </a:p>
        </p:txBody>
      </p:sp>
      <p:sp>
        <p:nvSpPr>
          <p:cNvPr id="3" name="TEXT 2회차 점검"/>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2회차 점검</a:t>
            </a:r>
          </a:p>
        </p:txBody>
      </p:sp>
      <p:sp>
        <p:nvSpPr>
          <p:cNvPr id="4" name="TEXT 근거·승인·저장·복구의 경계를 설명한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근거·승인·저장·복구의 경계를 설명한다.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06–C09"/>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C06–C09</a:t>
            </a:r>
          </a:p>
        </p:txBody>
      </p:sp>
      <p:sp>
        <p:nvSpPr>
          <p:cNvPr id="8" name="TEXT 40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40 / 72</a:t>
            </a:r>
          </a:p>
        </p:txBody>
      </p:sp>
      <p:sp>
        <p:nvSpPr>
          <p:cNvPr id="9" name="TEXT 심화 A10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A10 →</a:t>
            </a:r>
          </a:p>
        </p:txBody>
      </p:sp>
      <p:sp>
        <p:nvSpPr>
          <p:cNvPr id="10" name="Rounded Rectangle 9"/>
          <p:cNvSpPr/>
          <p:nvPr/>
        </p:nvSpPr>
        <p:spPr>
          <a:xfrm>
            <a:off x="594360" y="2596896"/>
            <a:ext cx="11000232" cy="914400"/>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01"/>
          <p:cNvSpPr txBox="1"/>
          <p:nvPr/>
        </p:nvSpPr>
        <p:spPr>
          <a:xfrm>
            <a:off x="822960" y="2779776"/>
            <a:ext cx="566928" cy="411480"/>
          </a:xfrm>
          <a:prstGeom prst="rect">
            <a:avLst/>
          </a:prstGeom>
          <a:noFill/>
        </p:spPr>
        <p:txBody>
          <a:bodyPr wrap="square" lIns="0" rIns="0" tIns="0" bIns="0">
            <a:noAutofit/>
          </a:bodyPr>
          <a:lstStyle/>
          <a:p>
            <a:pPr algn="l">
              <a:lnSpc>
                <a:spcPct val="116000"/>
              </a:lnSpc>
              <a:spcBef>
                <a:spcPts val="0"/>
              </a:spcBef>
              <a:spcAft>
                <a:spcPts val="0"/>
              </a:spcAft>
            </a:pPr>
            <a:r>
              <a:rPr sz="2300" b="1">
                <a:solidFill>
                  <a:srgbClr val="126858"/>
                </a:solidFill>
                <a:latin typeface="Noto Sans CJK KR"/>
                <a:ea typeface="Noto Sans CJK KR"/>
                <a:latin typeface="Noto Sans CJK KR"/>
              </a:rPr>
              <a:t>01</a:t>
            </a:r>
          </a:p>
        </p:txBody>
      </p:sp>
      <p:sp>
        <p:nvSpPr>
          <p:cNvPr id="12" name="TEXT 실제 출처 ID면 주장도 자동으로 타당한가?"/>
          <p:cNvSpPr txBox="1"/>
          <p:nvPr/>
        </p:nvSpPr>
        <p:spPr>
          <a:xfrm>
            <a:off x="1517904" y="2752344"/>
            <a:ext cx="9692640" cy="621792"/>
          </a:xfrm>
          <a:prstGeom prst="rect">
            <a:avLst/>
          </a:prstGeom>
          <a:noFill/>
        </p:spPr>
        <p:txBody>
          <a:bodyPr wrap="square" lIns="0" rIns="0" tIns="0" bIns="0">
            <a:noAutofit/>
          </a:bodyPr>
          <a:lstStyle/>
          <a:p>
            <a:pPr algn="l">
              <a:lnSpc>
                <a:spcPct val="116000"/>
              </a:lnSpc>
              <a:spcBef>
                <a:spcPts val="0"/>
              </a:spcBef>
              <a:spcAft>
                <a:spcPts val="0"/>
              </a:spcAft>
            </a:pPr>
            <a:r>
              <a:rPr sz="2300" b="0">
                <a:solidFill>
                  <a:srgbClr val="172B2A"/>
                </a:solidFill>
                <a:latin typeface="Noto Sans CJK KR"/>
                <a:ea typeface="Noto Sans CJK KR"/>
                <a:latin typeface="Noto Sans CJK KR"/>
              </a:rPr>
              <a:t>실제 출처 ID면 주장도 자동으로 타당한가?</a:t>
            </a:r>
          </a:p>
        </p:txBody>
      </p:sp>
      <p:sp>
        <p:nvSpPr>
          <p:cNvPr id="13" name="Rounded Rectangle 12"/>
          <p:cNvSpPr/>
          <p:nvPr/>
        </p:nvSpPr>
        <p:spPr>
          <a:xfrm>
            <a:off x="594360" y="3639311"/>
            <a:ext cx="11000232" cy="914400"/>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02"/>
          <p:cNvSpPr txBox="1"/>
          <p:nvPr/>
        </p:nvSpPr>
        <p:spPr>
          <a:xfrm>
            <a:off x="822960" y="3822191"/>
            <a:ext cx="566928" cy="411480"/>
          </a:xfrm>
          <a:prstGeom prst="rect">
            <a:avLst/>
          </a:prstGeom>
          <a:noFill/>
        </p:spPr>
        <p:txBody>
          <a:bodyPr wrap="square" lIns="0" rIns="0" tIns="0" bIns="0">
            <a:noAutofit/>
          </a:bodyPr>
          <a:lstStyle/>
          <a:p>
            <a:pPr algn="l">
              <a:lnSpc>
                <a:spcPct val="116000"/>
              </a:lnSpc>
              <a:spcBef>
                <a:spcPts val="0"/>
              </a:spcBef>
              <a:spcAft>
                <a:spcPts val="0"/>
              </a:spcAft>
            </a:pPr>
            <a:r>
              <a:rPr sz="2300" b="1">
                <a:solidFill>
                  <a:srgbClr val="126858"/>
                </a:solidFill>
                <a:latin typeface="Noto Sans CJK KR"/>
                <a:ea typeface="Noto Sans CJK KR"/>
                <a:latin typeface="Noto Sans CJK KR"/>
              </a:rPr>
              <a:t>02</a:t>
            </a:r>
          </a:p>
        </p:txBody>
      </p:sp>
      <p:sp>
        <p:nvSpPr>
          <p:cNvPr id="15" name="TEXT interrupt 앞 부작용은 재개 시 어떻게 되는가?"/>
          <p:cNvSpPr txBox="1"/>
          <p:nvPr/>
        </p:nvSpPr>
        <p:spPr>
          <a:xfrm>
            <a:off x="1517904" y="3794759"/>
            <a:ext cx="9692640" cy="621792"/>
          </a:xfrm>
          <a:prstGeom prst="rect">
            <a:avLst/>
          </a:prstGeom>
          <a:noFill/>
        </p:spPr>
        <p:txBody>
          <a:bodyPr wrap="square" lIns="0" rIns="0" tIns="0" bIns="0">
            <a:noAutofit/>
          </a:bodyPr>
          <a:lstStyle/>
          <a:p>
            <a:pPr algn="l">
              <a:lnSpc>
                <a:spcPct val="116000"/>
              </a:lnSpc>
              <a:spcBef>
                <a:spcPts val="0"/>
              </a:spcBef>
              <a:spcAft>
                <a:spcPts val="0"/>
              </a:spcAft>
            </a:pPr>
            <a:r>
              <a:rPr sz="2300" b="0">
                <a:solidFill>
                  <a:srgbClr val="172B2A"/>
                </a:solidFill>
                <a:latin typeface="Noto Sans CJK KR"/>
                <a:ea typeface="Noto Sans CJK KR"/>
                <a:latin typeface="Noto Sans CJK KR"/>
              </a:rPr>
              <a:t>interrupt 앞 부작용은 재개 시 어떻게 되는가?</a:t>
            </a:r>
          </a:p>
        </p:txBody>
      </p:sp>
      <p:sp>
        <p:nvSpPr>
          <p:cNvPr id="16" name="Rounded Rectangle 15"/>
          <p:cNvSpPr/>
          <p:nvPr/>
        </p:nvSpPr>
        <p:spPr>
          <a:xfrm>
            <a:off x="594360" y="4681727"/>
            <a:ext cx="11000232" cy="914400"/>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03"/>
          <p:cNvSpPr txBox="1"/>
          <p:nvPr/>
        </p:nvSpPr>
        <p:spPr>
          <a:xfrm>
            <a:off x="822960" y="4864607"/>
            <a:ext cx="566928" cy="411480"/>
          </a:xfrm>
          <a:prstGeom prst="rect">
            <a:avLst/>
          </a:prstGeom>
          <a:noFill/>
        </p:spPr>
        <p:txBody>
          <a:bodyPr wrap="square" lIns="0" rIns="0" tIns="0" bIns="0">
            <a:noAutofit/>
          </a:bodyPr>
          <a:lstStyle/>
          <a:p>
            <a:pPr algn="l">
              <a:lnSpc>
                <a:spcPct val="116000"/>
              </a:lnSpc>
              <a:spcBef>
                <a:spcPts val="0"/>
              </a:spcBef>
              <a:spcAft>
                <a:spcPts val="0"/>
              </a:spcAft>
            </a:pPr>
            <a:r>
              <a:rPr sz="2300" b="1">
                <a:solidFill>
                  <a:srgbClr val="126858"/>
                </a:solidFill>
                <a:latin typeface="Noto Sans CJK KR"/>
                <a:ea typeface="Noto Sans CJK KR"/>
                <a:latin typeface="Noto Sans CJK KR"/>
              </a:rPr>
              <a:t>03</a:t>
            </a:r>
          </a:p>
        </p:txBody>
      </p:sp>
      <p:sp>
        <p:nvSpPr>
          <p:cNvPr id="18" name="TEXT 외부 변경이 불명확하면 무엇을 먼저 확인하는가?"/>
          <p:cNvSpPr txBox="1"/>
          <p:nvPr/>
        </p:nvSpPr>
        <p:spPr>
          <a:xfrm>
            <a:off x="1517904" y="4837175"/>
            <a:ext cx="9692640" cy="621792"/>
          </a:xfrm>
          <a:prstGeom prst="rect">
            <a:avLst/>
          </a:prstGeom>
          <a:noFill/>
        </p:spPr>
        <p:txBody>
          <a:bodyPr wrap="square" lIns="0" rIns="0" tIns="0" bIns="0">
            <a:noAutofit/>
          </a:bodyPr>
          <a:lstStyle/>
          <a:p>
            <a:pPr algn="l">
              <a:lnSpc>
                <a:spcPct val="116000"/>
              </a:lnSpc>
              <a:spcBef>
                <a:spcPts val="0"/>
              </a:spcBef>
              <a:spcAft>
                <a:spcPts val="0"/>
              </a:spcAft>
            </a:pPr>
            <a:r>
              <a:rPr sz="2300" b="0">
                <a:solidFill>
                  <a:srgbClr val="172B2A"/>
                </a:solidFill>
                <a:latin typeface="Noto Sans CJK KR"/>
                <a:ea typeface="Noto Sans CJK KR"/>
                <a:latin typeface="Noto Sans CJK KR"/>
              </a:rPr>
              <a:t>외부 변경이 불명확하면 무엇을 먼저 확인하는가?</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3  /  실무·검증·운영"/>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3  /  실무·검증·운영</a:t>
            </a:r>
          </a:p>
        </p:txBody>
      </p:sp>
      <p:sp>
        <p:nvSpPr>
          <p:cNvPr id="3" name="TEXT Email 업무의 실행 경계"/>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Email 업무의 실행 경계</a:t>
            </a:r>
          </a:p>
        </p:txBody>
      </p:sp>
      <p:sp>
        <p:nvSpPr>
          <p:cNvPr id="4" name="TEXT 검색·초안·수신자 검토·승인·발송을 분리한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검색·초안·수신자 검토·승인·발송을 분리한다.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07·C08"/>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C07·C08</a:t>
            </a:r>
          </a:p>
        </p:txBody>
      </p:sp>
      <p:sp>
        <p:nvSpPr>
          <p:cNvPr id="8" name="TEXT 41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41 / 72</a:t>
            </a:r>
          </a:p>
        </p:txBody>
      </p:sp>
      <p:sp>
        <p:nvSpPr>
          <p:cNvPr id="9" name="TEXT 심화 A08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A08 →</a:t>
            </a:r>
          </a:p>
        </p:txBody>
      </p:sp>
      <p:sp>
        <p:nvSpPr>
          <p:cNvPr id="10" name="Rounded Rectangle 9"/>
          <p:cNvSpPr/>
          <p:nvPr/>
        </p:nvSpPr>
        <p:spPr>
          <a:xfrm>
            <a:off x="594360" y="2880360"/>
            <a:ext cx="1995220" cy="1874519"/>
          </a:xfrm>
          <a:prstGeom prst="roundRect">
            <a:avLst>
              <a:gd name="adj" fmla="val 8000"/>
            </a:avLst>
          </a:prstGeom>
          <a:solidFill>
            <a:srgbClr val="F0E9F6"/>
          </a:solidFill>
          <a:ln w="10160">
            <a:solidFill>
              <a:srgbClr val="7155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01"/>
          <p:cNvSpPr txBox="1"/>
          <p:nvPr/>
        </p:nvSpPr>
        <p:spPr>
          <a:xfrm>
            <a:off x="749808" y="3044952"/>
            <a:ext cx="1684324" cy="246888"/>
          </a:xfrm>
          <a:prstGeom prst="rect">
            <a:avLst/>
          </a:prstGeom>
          <a:noFill/>
        </p:spPr>
        <p:txBody>
          <a:bodyPr wrap="square" lIns="0" rIns="0" tIns="0" bIns="0">
            <a:noAutofit/>
          </a:bodyPr>
          <a:lstStyle/>
          <a:p>
            <a:pPr algn="l">
              <a:lnSpc>
                <a:spcPct val="116000"/>
              </a:lnSpc>
              <a:spcBef>
                <a:spcPts val="0"/>
              </a:spcBef>
              <a:spcAft>
                <a:spcPts val="0"/>
              </a:spcAft>
            </a:pPr>
            <a:r>
              <a:rPr sz="1200" b="1">
                <a:solidFill>
                  <a:srgbClr val="71559D"/>
                </a:solidFill>
                <a:latin typeface="Noto Sans CJK KR"/>
                <a:ea typeface="Noto Sans CJK KR"/>
                <a:latin typeface="Noto Sans CJK KR"/>
              </a:rPr>
              <a:t>01</a:t>
            </a:r>
          </a:p>
        </p:txBody>
      </p:sp>
      <p:sp>
        <p:nvSpPr>
          <p:cNvPr id="12" name="TEXT 자료 조회"/>
          <p:cNvSpPr txBox="1"/>
          <p:nvPr/>
        </p:nvSpPr>
        <p:spPr>
          <a:xfrm>
            <a:off x="749808" y="3511296"/>
            <a:ext cx="1684324" cy="713232"/>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71559D"/>
                </a:solidFill>
                <a:latin typeface="Noto Sans CJK KR"/>
                <a:ea typeface="Noto Sans CJK KR"/>
                <a:latin typeface="Noto Sans CJK KR"/>
              </a:rPr>
              <a:t>자료 조회</a:t>
            </a:r>
          </a:p>
        </p:txBody>
      </p:sp>
      <p:sp>
        <p:nvSpPr>
          <p:cNvPr id="13" name="TEXT 조회 권한"/>
          <p:cNvSpPr txBox="1"/>
          <p:nvPr/>
        </p:nvSpPr>
        <p:spPr>
          <a:xfrm>
            <a:off x="749808" y="4261104"/>
            <a:ext cx="1684324" cy="365760"/>
          </a:xfrm>
          <a:prstGeom prst="rect">
            <a:avLst/>
          </a:prstGeom>
          <a:noFill/>
        </p:spPr>
        <p:txBody>
          <a:bodyPr wrap="square" lIns="0" rIns="0" tIns="0" bIns="0">
            <a:noAutofit/>
          </a:bodyPr>
          <a:lstStyle/>
          <a:p>
            <a:pPr algn="l">
              <a:lnSpc>
                <a:spcPct val="116000"/>
              </a:lnSpc>
              <a:spcBef>
                <a:spcPts val="0"/>
              </a:spcBef>
              <a:spcAft>
                <a:spcPts val="0"/>
              </a:spcAft>
            </a:pPr>
            <a:r>
              <a:rPr sz="1600" b="0">
                <a:solidFill>
                  <a:srgbClr val="71559D"/>
                </a:solidFill>
                <a:latin typeface="Noto Sans CJK KR"/>
                <a:ea typeface="Noto Sans CJK KR"/>
                <a:latin typeface="Noto Sans CJK KR"/>
              </a:rPr>
              <a:t>조회 권한</a:t>
            </a:r>
          </a:p>
        </p:txBody>
      </p:sp>
      <p:cxnSp>
        <p:nvCxnSpPr>
          <p:cNvPr id="14" name="Connector 13"/>
          <p:cNvCxnSpPr/>
          <p:nvPr/>
        </p:nvCxnSpPr>
        <p:spPr>
          <a:xfrm>
            <a:off x="2607868" y="3803904"/>
            <a:ext cx="219456" cy="0"/>
          </a:xfrm>
          <a:prstGeom prst="line">
            <a:avLst/>
          </a:prstGeom>
          <a:ln w="22860">
            <a:solidFill>
              <a:srgbClr val="5E6E66"/>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845612" y="2880360"/>
            <a:ext cx="1995220" cy="1874519"/>
          </a:xfrm>
          <a:prstGeom prst="roundRect">
            <a:avLst>
              <a:gd name="adj" fmla="val 8000"/>
            </a:avLst>
          </a:prstGeom>
          <a:solidFill>
            <a:srgbClr val="E7EDFB"/>
          </a:solidFill>
          <a:ln w="10160">
            <a:solidFill>
              <a:srgbClr val="345C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02"/>
          <p:cNvSpPr txBox="1"/>
          <p:nvPr/>
        </p:nvSpPr>
        <p:spPr>
          <a:xfrm>
            <a:off x="3001060" y="3044952"/>
            <a:ext cx="1684324" cy="246888"/>
          </a:xfrm>
          <a:prstGeom prst="rect">
            <a:avLst/>
          </a:prstGeom>
          <a:noFill/>
        </p:spPr>
        <p:txBody>
          <a:bodyPr wrap="square" lIns="0" rIns="0" tIns="0" bIns="0">
            <a:noAutofit/>
          </a:bodyPr>
          <a:lstStyle/>
          <a:p>
            <a:pPr algn="l">
              <a:lnSpc>
                <a:spcPct val="116000"/>
              </a:lnSpc>
              <a:spcBef>
                <a:spcPts val="0"/>
              </a:spcBef>
              <a:spcAft>
                <a:spcPts val="0"/>
              </a:spcAft>
            </a:pPr>
            <a:r>
              <a:rPr sz="1200" b="1">
                <a:solidFill>
                  <a:srgbClr val="345CB5"/>
                </a:solidFill>
                <a:latin typeface="Noto Sans CJK KR"/>
                <a:ea typeface="Noto Sans CJK KR"/>
                <a:latin typeface="Noto Sans CJK KR"/>
              </a:rPr>
              <a:t>02</a:t>
            </a:r>
          </a:p>
        </p:txBody>
      </p:sp>
      <p:sp>
        <p:nvSpPr>
          <p:cNvPr id="17" name="TEXT 초안 생성"/>
          <p:cNvSpPr txBox="1"/>
          <p:nvPr/>
        </p:nvSpPr>
        <p:spPr>
          <a:xfrm>
            <a:off x="3001060" y="3511296"/>
            <a:ext cx="1684324" cy="713232"/>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345CB5"/>
                </a:solidFill>
                <a:latin typeface="Noto Sans CJK KR"/>
                <a:ea typeface="Noto Sans CJK KR"/>
                <a:latin typeface="Noto Sans CJK KR"/>
              </a:rPr>
              <a:t>초안 생성</a:t>
            </a:r>
          </a:p>
        </p:txBody>
      </p:sp>
      <p:sp>
        <p:nvSpPr>
          <p:cNvPr id="18" name="TEXT 모델 제안"/>
          <p:cNvSpPr txBox="1"/>
          <p:nvPr/>
        </p:nvSpPr>
        <p:spPr>
          <a:xfrm>
            <a:off x="3001060" y="4261104"/>
            <a:ext cx="1684324" cy="365760"/>
          </a:xfrm>
          <a:prstGeom prst="rect">
            <a:avLst/>
          </a:prstGeom>
          <a:noFill/>
        </p:spPr>
        <p:txBody>
          <a:bodyPr wrap="square" lIns="0" rIns="0" tIns="0" bIns="0">
            <a:noAutofit/>
          </a:bodyPr>
          <a:lstStyle/>
          <a:p>
            <a:pPr algn="l">
              <a:lnSpc>
                <a:spcPct val="116000"/>
              </a:lnSpc>
              <a:spcBef>
                <a:spcPts val="0"/>
              </a:spcBef>
              <a:spcAft>
                <a:spcPts val="0"/>
              </a:spcAft>
            </a:pPr>
            <a:r>
              <a:rPr sz="1600" b="0">
                <a:solidFill>
                  <a:srgbClr val="345CB5"/>
                </a:solidFill>
                <a:latin typeface="Noto Sans CJK KR"/>
                <a:ea typeface="Noto Sans CJK KR"/>
                <a:latin typeface="Noto Sans CJK KR"/>
              </a:rPr>
              <a:t>모델 제안</a:t>
            </a:r>
          </a:p>
        </p:txBody>
      </p:sp>
      <p:cxnSp>
        <p:nvCxnSpPr>
          <p:cNvPr id="19" name="Connector 18"/>
          <p:cNvCxnSpPr/>
          <p:nvPr/>
        </p:nvCxnSpPr>
        <p:spPr>
          <a:xfrm>
            <a:off x="4859121" y="3803904"/>
            <a:ext cx="219456" cy="0"/>
          </a:xfrm>
          <a:prstGeom prst="line">
            <a:avLst/>
          </a:prstGeom>
          <a:ln w="22860">
            <a:solidFill>
              <a:srgbClr val="5E6E66"/>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096865" y="2880360"/>
            <a:ext cx="1995220" cy="1874519"/>
          </a:xfrm>
          <a:prstGeom prst="roundRect">
            <a:avLst>
              <a:gd name="adj" fmla="val 8000"/>
            </a:avLst>
          </a:prstGeom>
          <a:solidFill>
            <a:srgbClr val="F7EADD"/>
          </a:solidFill>
          <a:ln w="10160">
            <a:solidFill>
              <a:srgbClr val="AD57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 03"/>
          <p:cNvSpPr txBox="1"/>
          <p:nvPr/>
        </p:nvSpPr>
        <p:spPr>
          <a:xfrm>
            <a:off x="5252313" y="3044952"/>
            <a:ext cx="1684324" cy="246888"/>
          </a:xfrm>
          <a:prstGeom prst="rect">
            <a:avLst/>
          </a:prstGeom>
          <a:noFill/>
        </p:spPr>
        <p:txBody>
          <a:bodyPr wrap="square" lIns="0" rIns="0" tIns="0" bIns="0">
            <a:noAutofit/>
          </a:bodyPr>
          <a:lstStyle/>
          <a:p>
            <a:pPr algn="l">
              <a:lnSpc>
                <a:spcPct val="116000"/>
              </a:lnSpc>
              <a:spcBef>
                <a:spcPts val="0"/>
              </a:spcBef>
              <a:spcAft>
                <a:spcPts val="0"/>
              </a:spcAft>
            </a:pPr>
            <a:r>
              <a:rPr sz="1200" b="1">
                <a:solidFill>
                  <a:srgbClr val="AD572B"/>
                </a:solidFill>
                <a:latin typeface="Noto Sans CJK KR"/>
                <a:ea typeface="Noto Sans CJK KR"/>
                <a:latin typeface="Noto Sans CJK KR"/>
              </a:rPr>
              <a:t>03</a:t>
            </a:r>
          </a:p>
        </p:txBody>
      </p:sp>
      <p:sp>
        <p:nvSpPr>
          <p:cNvPr id="22" name="TEXT 수신자·본문 검토"/>
          <p:cNvSpPr txBox="1"/>
          <p:nvPr/>
        </p:nvSpPr>
        <p:spPr>
          <a:xfrm>
            <a:off x="5252313" y="3511296"/>
            <a:ext cx="1684324" cy="713232"/>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AD572B"/>
                </a:solidFill>
                <a:latin typeface="Noto Sans CJK KR"/>
                <a:ea typeface="Noto Sans CJK KR"/>
                <a:latin typeface="Noto Sans CJK KR"/>
              </a:rPr>
              <a:t>수신자·본문 검토</a:t>
            </a:r>
          </a:p>
        </p:txBody>
      </p:sp>
      <p:sp>
        <p:nvSpPr>
          <p:cNvPr id="23" name="TEXT 계획 확정"/>
          <p:cNvSpPr txBox="1"/>
          <p:nvPr/>
        </p:nvSpPr>
        <p:spPr>
          <a:xfrm>
            <a:off x="5252313" y="4261104"/>
            <a:ext cx="1684324" cy="365760"/>
          </a:xfrm>
          <a:prstGeom prst="rect">
            <a:avLst/>
          </a:prstGeom>
          <a:noFill/>
        </p:spPr>
        <p:txBody>
          <a:bodyPr wrap="square" lIns="0" rIns="0" tIns="0" bIns="0">
            <a:noAutofit/>
          </a:bodyPr>
          <a:lstStyle/>
          <a:p>
            <a:pPr algn="l">
              <a:lnSpc>
                <a:spcPct val="116000"/>
              </a:lnSpc>
              <a:spcBef>
                <a:spcPts val="0"/>
              </a:spcBef>
              <a:spcAft>
                <a:spcPts val="0"/>
              </a:spcAft>
            </a:pPr>
            <a:r>
              <a:rPr sz="1600" b="0">
                <a:solidFill>
                  <a:srgbClr val="AD572B"/>
                </a:solidFill>
                <a:latin typeface="Noto Sans CJK KR"/>
                <a:ea typeface="Noto Sans CJK KR"/>
                <a:latin typeface="Noto Sans CJK KR"/>
              </a:rPr>
              <a:t>계획 확정</a:t>
            </a:r>
          </a:p>
        </p:txBody>
      </p:sp>
      <p:cxnSp>
        <p:nvCxnSpPr>
          <p:cNvPr id="24" name="Connector 23"/>
          <p:cNvCxnSpPr/>
          <p:nvPr/>
        </p:nvCxnSpPr>
        <p:spPr>
          <a:xfrm>
            <a:off x="7110374" y="3803904"/>
            <a:ext cx="219456" cy="0"/>
          </a:xfrm>
          <a:prstGeom prst="line">
            <a:avLst/>
          </a:prstGeom>
          <a:ln w="22860">
            <a:solidFill>
              <a:srgbClr val="5E6E66"/>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48118" y="2880360"/>
            <a:ext cx="1995220" cy="1874519"/>
          </a:xfrm>
          <a:prstGeom prst="roundRect">
            <a:avLst>
              <a:gd name="adj" fmla="val 8000"/>
            </a:avLst>
          </a:prstGeom>
          <a:solidFill>
            <a:srgbClr val="F7EADD"/>
          </a:solidFill>
          <a:ln w="10160">
            <a:solidFill>
              <a:srgbClr val="AD57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04"/>
          <p:cNvSpPr txBox="1"/>
          <p:nvPr/>
        </p:nvSpPr>
        <p:spPr>
          <a:xfrm>
            <a:off x="7503566" y="3044952"/>
            <a:ext cx="1684324" cy="246888"/>
          </a:xfrm>
          <a:prstGeom prst="rect">
            <a:avLst/>
          </a:prstGeom>
          <a:noFill/>
        </p:spPr>
        <p:txBody>
          <a:bodyPr wrap="square" lIns="0" rIns="0" tIns="0" bIns="0">
            <a:noAutofit/>
          </a:bodyPr>
          <a:lstStyle/>
          <a:p>
            <a:pPr algn="l">
              <a:lnSpc>
                <a:spcPct val="116000"/>
              </a:lnSpc>
              <a:spcBef>
                <a:spcPts val="0"/>
              </a:spcBef>
              <a:spcAft>
                <a:spcPts val="0"/>
              </a:spcAft>
            </a:pPr>
            <a:r>
              <a:rPr sz="1200" b="1">
                <a:solidFill>
                  <a:srgbClr val="AD572B"/>
                </a:solidFill>
                <a:latin typeface="Noto Sans CJK KR"/>
                <a:ea typeface="Noto Sans CJK KR"/>
                <a:latin typeface="Noto Sans CJK KR"/>
              </a:rPr>
              <a:t>04</a:t>
            </a:r>
          </a:p>
        </p:txBody>
      </p:sp>
      <p:sp>
        <p:nvSpPr>
          <p:cNvPr id="27" name="TEXT 승인"/>
          <p:cNvSpPr txBox="1"/>
          <p:nvPr/>
        </p:nvSpPr>
        <p:spPr>
          <a:xfrm>
            <a:off x="7503566" y="3511296"/>
            <a:ext cx="1684324" cy="713232"/>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AD572B"/>
                </a:solidFill>
                <a:latin typeface="Noto Sans CJK KR"/>
                <a:ea typeface="Noto Sans CJK KR"/>
                <a:latin typeface="Noto Sans CJK KR"/>
              </a:rPr>
              <a:t>승인</a:t>
            </a:r>
          </a:p>
        </p:txBody>
      </p:sp>
      <p:sp>
        <p:nvSpPr>
          <p:cNvPr id="28" name="TEXT 대상 결합"/>
          <p:cNvSpPr txBox="1"/>
          <p:nvPr/>
        </p:nvSpPr>
        <p:spPr>
          <a:xfrm>
            <a:off x="7503566" y="4261104"/>
            <a:ext cx="1684324" cy="365760"/>
          </a:xfrm>
          <a:prstGeom prst="rect">
            <a:avLst/>
          </a:prstGeom>
          <a:noFill/>
        </p:spPr>
        <p:txBody>
          <a:bodyPr wrap="square" lIns="0" rIns="0" tIns="0" bIns="0">
            <a:noAutofit/>
          </a:bodyPr>
          <a:lstStyle/>
          <a:p>
            <a:pPr algn="l">
              <a:lnSpc>
                <a:spcPct val="116000"/>
              </a:lnSpc>
              <a:spcBef>
                <a:spcPts val="0"/>
              </a:spcBef>
              <a:spcAft>
                <a:spcPts val="0"/>
              </a:spcAft>
            </a:pPr>
            <a:r>
              <a:rPr sz="1600" b="0">
                <a:solidFill>
                  <a:srgbClr val="AD572B"/>
                </a:solidFill>
                <a:latin typeface="Noto Sans CJK KR"/>
                <a:ea typeface="Noto Sans CJK KR"/>
                <a:latin typeface="Noto Sans CJK KR"/>
              </a:rPr>
              <a:t>대상 결합</a:t>
            </a:r>
          </a:p>
        </p:txBody>
      </p:sp>
      <p:cxnSp>
        <p:nvCxnSpPr>
          <p:cNvPr id="29" name="Connector 28"/>
          <p:cNvCxnSpPr/>
          <p:nvPr/>
        </p:nvCxnSpPr>
        <p:spPr>
          <a:xfrm>
            <a:off x="9361627" y="3803904"/>
            <a:ext cx="219456" cy="0"/>
          </a:xfrm>
          <a:prstGeom prst="line">
            <a:avLst/>
          </a:prstGeom>
          <a:ln w="22860">
            <a:solidFill>
              <a:srgbClr val="5E6E66"/>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9599371" y="2880360"/>
            <a:ext cx="1995220" cy="1874519"/>
          </a:xfrm>
          <a:prstGeom prst="roundRect">
            <a:avLst>
              <a:gd name="adj" fmla="val 8000"/>
            </a:avLst>
          </a:prstGeom>
          <a:solidFill>
            <a:srgbClr val="F0E9F6"/>
          </a:solidFill>
          <a:ln w="10160">
            <a:solidFill>
              <a:srgbClr val="7155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 05"/>
          <p:cNvSpPr txBox="1"/>
          <p:nvPr/>
        </p:nvSpPr>
        <p:spPr>
          <a:xfrm>
            <a:off x="9754819" y="3044952"/>
            <a:ext cx="1684324" cy="246888"/>
          </a:xfrm>
          <a:prstGeom prst="rect">
            <a:avLst/>
          </a:prstGeom>
          <a:noFill/>
        </p:spPr>
        <p:txBody>
          <a:bodyPr wrap="square" lIns="0" rIns="0" tIns="0" bIns="0">
            <a:noAutofit/>
          </a:bodyPr>
          <a:lstStyle/>
          <a:p>
            <a:pPr algn="l">
              <a:lnSpc>
                <a:spcPct val="116000"/>
              </a:lnSpc>
              <a:spcBef>
                <a:spcPts val="0"/>
              </a:spcBef>
              <a:spcAft>
                <a:spcPts val="0"/>
              </a:spcAft>
            </a:pPr>
            <a:r>
              <a:rPr sz="1200" b="1">
                <a:solidFill>
                  <a:srgbClr val="71559D"/>
                </a:solidFill>
                <a:latin typeface="Noto Sans CJK KR"/>
                <a:ea typeface="Noto Sans CJK KR"/>
                <a:latin typeface="Noto Sans CJK KR"/>
              </a:rPr>
              <a:t>05</a:t>
            </a:r>
          </a:p>
        </p:txBody>
      </p:sp>
      <p:sp>
        <p:nvSpPr>
          <p:cNvPr id="32" name="TEXT 발송·결과 확인"/>
          <p:cNvSpPr txBox="1"/>
          <p:nvPr/>
        </p:nvSpPr>
        <p:spPr>
          <a:xfrm>
            <a:off x="9754819" y="3511296"/>
            <a:ext cx="1684324" cy="713232"/>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71559D"/>
                </a:solidFill>
                <a:latin typeface="Noto Sans CJK KR"/>
                <a:ea typeface="Noto Sans CJK KR"/>
                <a:latin typeface="Noto Sans CJK KR"/>
              </a:rPr>
              <a:t>발송·결과 확인</a:t>
            </a:r>
          </a:p>
        </p:txBody>
      </p:sp>
      <p:sp>
        <p:nvSpPr>
          <p:cNvPr id="33" name="TEXT 실행 키"/>
          <p:cNvSpPr txBox="1"/>
          <p:nvPr/>
        </p:nvSpPr>
        <p:spPr>
          <a:xfrm>
            <a:off x="9754819" y="4261104"/>
            <a:ext cx="1684324" cy="365760"/>
          </a:xfrm>
          <a:prstGeom prst="rect">
            <a:avLst/>
          </a:prstGeom>
          <a:noFill/>
        </p:spPr>
        <p:txBody>
          <a:bodyPr wrap="square" lIns="0" rIns="0" tIns="0" bIns="0">
            <a:noAutofit/>
          </a:bodyPr>
          <a:lstStyle/>
          <a:p>
            <a:pPr algn="l">
              <a:lnSpc>
                <a:spcPct val="116000"/>
              </a:lnSpc>
              <a:spcBef>
                <a:spcPts val="0"/>
              </a:spcBef>
              <a:spcAft>
                <a:spcPts val="0"/>
              </a:spcAft>
            </a:pPr>
            <a:r>
              <a:rPr sz="1600" b="0">
                <a:solidFill>
                  <a:srgbClr val="71559D"/>
                </a:solidFill>
                <a:latin typeface="Noto Sans CJK KR"/>
                <a:ea typeface="Noto Sans CJK KR"/>
                <a:latin typeface="Noto Sans CJK KR"/>
              </a:rPr>
              <a:t>실행 키</a:t>
            </a:r>
          </a:p>
        </p:txBody>
      </p:sp>
      <p:sp>
        <p:nvSpPr>
          <p:cNvPr id="34" name="TEXT 실무 보강 사례 · 이 교육에서는 실제 Email을 발송하지 않는다."/>
          <p:cNvSpPr txBox="1"/>
          <p:nvPr/>
        </p:nvSpPr>
        <p:spPr>
          <a:xfrm>
            <a:off x="731520" y="5266944"/>
            <a:ext cx="10789920" cy="685800"/>
          </a:xfrm>
          <a:prstGeom prst="rect">
            <a:avLst/>
          </a:prstGeom>
          <a:noFill/>
        </p:spPr>
        <p:txBody>
          <a:bodyPr wrap="square" lIns="0" rIns="0" tIns="0" bIns="0">
            <a:noAutofit/>
          </a:bodyPr>
          <a:lstStyle/>
          <a:p>
            <a:pPr algn="l">
              <a:lnSpc>
                <a:spcPct val="116000"/>
              </a:lnSpc>
              <a:spcBef>
                <a:spcPts val="0"/>
              </a:spcBef>
              <a:spcAft>
                <a:spcPts val="0"/>
              </a:spcAft>
            </a:pPr>
            <a:r>
              <a:rPr sz="2100" b="1">
                <a:solidFill>
                  <a:srgbClr val="126858"/>
                </a:solidFill>
                <a:latin typeface="Noto Sans CJK KR"/>
                <a:ea typeface="Noto Sans CJK KR"/>
                <a:latin typeface="Noto Sans CJK KR"/>
              </a:rPr>
              <a:t>실무 보강 사례 · 이 교육에서는 실제 Email을 발송하지 않는다.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3  /  실무·검증·운영"/>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3  /  실무·검증·운영</a:t>
            </a:r>
          </a:p>
        </p:txBody>
      </p:sp>
      <p:sp>
        <p:nvSpPr>
          <p:cNvPr id="3" name="TEXT DB 조회와 변경"/>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DB 조회와 변경</a:t>
            </a:r>
          </a:p>
        </p:txBody>
      </p:sp>
      <p:sp>
        <p:nvSpPr>
          <p:cNvPr id="4" name="TEXT 읽기 권한·쿼리 제약·변경 트랜잭션을 구분한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읽기 권한·쿼리 제약·변경 트랜잭션을 구분한다.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07"/>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C07</a:t>
            </a:r>
          </a:p>
        </p:txBody>
      </p:sp>
      <p:sp>
        <p:nvSpPr>
          <p:cNvPr id="8" name="TEXT 42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42 / 72</a:t>
            </a:r>
          </a:p>
        </p:txBody>
      </p:sp>
      <p:sp>
        <p:nvSpPr>
          <p:cNvPr id="9" name="TEXT 심화 A09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A09 →</a:t>
            </a:r>
          </a:p>
        </p:txBody>
      </p:sp>
      <p:sp>
        <p:nvSpPr>
          <p:cNvPr id="10" name="Rounded Rectangle 9"/>
          <p:cNvSpPr/>
          <p:nvPr/>
        </p:nvSpPr>
        <p:spPr>
          <a:xfrm>
            <a:off x="594360" y="2606040"/>
            <a:ext cx="5376672" cy="3364992"/>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2606040"/>
            <a:ext cx="54864" cy="3364992"/>
          </a:xfrm>
          <a:prstGeom prst="rect">
            <a:avLst/>
          </a:prstGeom>
          <a:solidFill>
            <a:srgbClr val="126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조회 Tool"/>
          <p:cNvSpPr txBox="1"/>
          <p:nvPr/>
        </p:nvSpPr>
        <p:spPr>
          <a:xfrm>
            <a:off x="795528" y="2788920"/>
            <a:ext cx="497433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조회 Tool</a:t>
            </a:r>
          </a:p>
        </p:txBody>
      </p:sp>
      <p:sp>
        <p:nvSpPr>
          <p:cNvPr id="13" name="TEXT "/>
          <p:cNvSpPr txBox="1"/>
          <p:nvPr/>
        </p:nvSpPr>
        <p:spPr>
          <a:xfrm>
            <a:off x="795528" y="3474720"/>
            <a:ext cx="4974336" cy="2359152"/>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a:r>
          </a:p>
        </p:txBody>
      </p:sp>
      <p:sp>
        <p:nvSpPr>
          <p:cNvPr id="14" name="TEXT • 읽기 전용 계정·허용 범위"/>
          <p:cNvSpPr txBox="1"/>
          <p:nvPr/>
        </p:nvSpPr>
        <p:spPr>
          <a:xfrm>
            <a:off x="822960" y="3511296"/>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읽기 전용 계정·허용 범위</a:t>
            </a:r>
          </a:p>
        </p:txBody>
      </p:sp>
      <p:sp>
        <p:nvSpPr>
          <p:cNvPr id="15" name="TEXT • 행 수·시간·쿼리 비용 제한"/>
          <p:cNvSpPr txBox="1"/>
          <p:nvPr/>
        </p:nvSpPr>
        <p:spPr>
          <a:xfrm>
            <a:off x="822960" y="4206240"/>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행 수·시간·쿼리 비용 제한</a:t>
            </a:r>
          </a:p>
        </p:txBody>
      </p:sp>
      <p:sp>
        <p:nvSpPr>
          <p:cNvPr id="16" name="TEXT • 민감 필드와 입력 검사"/>
          <p:cNvSpPr txBox="1"/>
          <p:nvPr/>
        </p:nvSpPr>
        <p:spPr>
          <a:xfrm>
            <a:off x="822960" y="4901183"/>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민감 필드와 입력 검사</a:t>
            </a:r>
          </a:p>
        </p:txBody>
      </p:sp>
      <p:sp>
        <p:nvSpPr>
          <p:cNvPr id="17" name="Rounded Rectangle 16"/>
          <p:cNvSpPr/>
          <p:nvPr/>
        </p:nvSpPr>
        <p:spPr>
          <a:xfrm>
            <a:off x="6217920" y="2606040"/>
            <a:ext cx="5376672" cy="3364992"/>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2606040"/>
            <a:ext cx="54864" cy="3364992"/>
          </a:xfrm>
          <a:prstGeom prst="rect">
            <a:avLst/>
          </a:prstGeom>
          <a:solidFill>
            <a:srgbClr val="AD5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변경 Tool"/>
          <p:cNvSpPr txBox="1"/>
          <p:nvPr/>
        </p:nvSpPr>
        <p:spPr>
          <a:xfrm>
            <a:off x="6419088" y="2788920"/>
            <a:ext cx="497433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AD572B"/>
                </a:solidFill>
                <a:latin typeface="Noto Sans CJK KR"/>
                <a:ea typeface="Noto Sans CJK KR"/>
                <a:latin typeface="Noto Sans CJK KR"/>
              </a:rPr>
              <a:t>변경 Tool</a:t>
            </a:r>
          </a:p>
        </p:txBody>
      </p:sp>
      <p:sp>
        <p:nvSpPr>
          <p:cNvPr id="20" name="TEXT "/>
          <p:cNvSpPr txBox="1"/>
          <p:nvPr/>
        </p:nvSpPr>
        <p:spPr>
          <a:xfrm>
            <a:off x="6419088" y="3474720"/>
            <a:ext cx="4974336" cy="2359152"/>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a:r>
          </a:p>
        </p:txBody>
      </p:sp>
      <p:sp>
        <p:nvSpPr>
          <p:cNvPr id="21" name="TEXT • 승인된 명시적 명령"/>
          <p:cNvSpPr txBox="1"/>
          <p:nvPr/>
        </p:nvSpPr>
        <p:spPr>
          <a:xfrm>
            <a:off x="6446520" y="3511296"/>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승인된 명시적 명령</a:t>
            </a:r>
          </a:p>
        </p:txBody>
      </p:sp>
      <p:sp>
        <p:nvSpPr>
          <p:cNvPr id="22" name="TEXT • 트랜잭션·제약 조건 검사"/>
          <p:cNvSpPr txBox="1"/>
          <p:nvPr/>
        </p:nvSpPr>
        <p:spPr>
          <a:xfrm>
            <a:off x="6446520" y="4206240"/>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트랜잭션·제약 조건 검사</a:t>
            </a:r>
          </a:p>
        </p:txBody>
      </p:sp>
      <p:sp>
        <p:nvSpPr>
          <p:cNvPr id="23" name="TEXT • 실행 결과·감사 기록"/>
          <p:cNvSpPr txBox="1"/>
          <p:nvPr/>
        </p:nvSpPr>
        <p:spPr>
          <a:xfrm>
            <a:off x="6446520" y="4901183"/>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실행 결과·감사 기록</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3  /  실무·검증·운영"/>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3  /  실무·검증·운영</a:t>
            </a:r>
          </a:p>
        </p:txBody>
      </p:sp>
      <p:sp>
        <p:nvSpPr>
          <p:cNvPr id="3" name="TEXT 사내 시스템 연동"/>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사내 시스템 연동</a:t>
            </a:r>
          </a:p>
        </p:txBody>
      </p:sp>
      <p:sp>
        <p:nvSpPr>
          <p:cNvPr id="4" name="TEXT Connector가 달라도 입력·권한·결과·부작용 계약은 유지한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Connector가 달라도 입력·권한·결과·부작용 계약은 유지한다.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07"/>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C07</a:t>
            </a:r>
          </a:p>
        </p:txBody>
      </p:sp>
      <p:sp>
        <p:nvSpPr>
          <p:cNvPr id="8" name="TEXT 43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43 / 72</a:t>
            </a:r>
          </a:p>
        </p:txBody>
      </p:sp>
      <p:sp>
        <p:nvSpPr>
          <p:cNvPr id="9" name="TEXT 심화 A07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A07 →</a:t>
            </a:r>
          </a:p>
        </p:txBody>
      </p:sp>
      <p:graphicFrame>
        <p:nvGraphicFramePr>
          <p:cNvPr id="10" name="Table 9"/>
          <p:cNvGraphicFramePr>
            <a:graphicFrameLocks noGrp="1"/>
          </p:cNvGraphicFramePr>
          <p:nvPr/>
        </p:nvGraphicFramePr>
        <p:xfrm>
          <a:off x="594360" y="2587752"/>
          <a:ext cx="11000231" cy="3557016"/>
        </p:xfrm>
        <a:graphic>
          <a:graphicData uri="http://schemas.openxmlformats.org/drawingml/2006/table">
            <a:tbl>
              <a:tblPr firstRow="1" bandRow="1">
                <a:tableStyleId>{5C22544A-7EE6-4342-B048-85BDC9FD1C3A}</a:tableStyleId>
              </a:tblPr>
              <a:tblGrid>
                <a:gridCol w="2750058"/>
                <a:gridCol w="4290090"/>
                <a:gridCol w="3960083"/>
              </a:tblGrid>
              <a:tr h="484632">
                <a:tc>
                  <a:txBody>
                    <a:bodyPr/>
                    <a:lstStyle/>
                    <a:p>
                      <a:pPr>
                        <a:lnSpc>
                          <a:spcPct val="113000"/>
                        </a:lnSpc>
                        <a:spcAft>
                          <a:spcPts val="0"/>
                        </a:spcAft>
                      </a:pPr>
                      <a:r>
                        <a:rPr sz="1800" b="1">
                          <a:solidFill>
                            <a:srgbClr val="126858"/>
                          </a:solidFill>
                          <a:latin typeface="Noto Sans CJK KR"/>
                        </a:rPr>
                        <a:t>업무</a:t>
                      </a:r>
                    </a:p>
                  </a:txBody>
                  <a:tcPr marL="137160" marR="91440" marT="91440" marB="54864" anchor="ctr">
                    <a:solidFill>
                      <a:srgbClr val="E3EFE7"/>
                    </a:solidFill>
                  </a:tcPr>
                </a:tc>
                <a:tc>
                  <a:txBody>
                    <a:bodyPr/>
                    <a:lstStyle/>
                    <a:p>
                      <a:pPr>
                        <a:lnSpc>
                          <a:spcPct val="113000"/>
                        </a:lnSpc>
                        <a:spcAft>
                          <a:spcPts val="0"/>
                        </a:spcAft>
                      </a:pPr>
                      <a:r>
                        <a:rPr sz="1800" b="1">
                          <a:solidFill>
                            <a:srgbClr val="126858"/>
                          </a:solidFill>
                          <a:latin typeface="Noto Sans CJK KR"/>
                        </a:rPr>
                        <a:t>조회·계획</a:t>
                      </a:r>
                    </a:p>
                  </a:txBody>
                  <a:tcPr marL="137160" marR="91440" marT="91440" marB="54864" anchor="ctr">
                    <a:solidFill>
                      <a:srgbClr val="E3EFE7"/>
                    </a:solidFill>
                  </a:tcPr>
                </a:tc>
                <a:tc>
                  <a:txBody>
                    <a:bodyPr/>
                    <a:lstStyle/>
                    <a:p>
                      <a:pPr>
                        <a:lnSpc>
                          <a:spcPct val="113000"/>
                        </a:lnSpc>
                        <a:spcAft>
                          <a:spcPts val="0"/>
                        </a:spcAft>
                      </a:pPr>
                      <a:r>
                        <a:rPr sz="1800" b="1">
                          <a:solidFill>
                            <a:srgbClr val="126858"/>
                          </a:solidFill>
                          <a:latin typeface="Noto Sans CJK KR"/>
                        </a:rPr>
                        <a:t>변경 경계</a:t>
                      </a:r>
                    </a:p>
                  </a:txBody>
                  <a:tcPr marL="137160" marR="91440" marT="91440" marB="54864" anchor="ctr">
                    <a:solidFill>
                      <a:srgbClr val="E3EFE7"/>
                    </a:solidFill>
                  </a:tcPr>
                </a:tc>
              </a:tr>
              <a:tr h="768096">
                <a:tc>
                  <a:txBody>
                    <a:bodyPr/>
                    <a:lstStyle/>
                    <a:p>
                      <a:pPr>
                        <a:lnSpc>
                          <a:spcPct val="113000"/>
                        </a:lnSpc>
                        <a:spcAft>
                          <a:spcPts val="0"/>
                        </a:spcAft>
                      </a:pPr>
                      <a:r>
                        <a:rPr sz="2000" b="1">
                          <a:solidFill>
                            <a:srgbClr val="172B2A"/>
                          </a:solidFill>
                          <a:latin typeface="Noto Sans CJK KR"/>
                        </a:rPr>
                        <a:t>티켓</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기존 Incident 검색</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상태·담당자 변경 승인</a:t>
                      </a:r>
                    </a:p>
                  </a:txBody>
                  <a:tcPr marL="137160" marR="91440" marT="91440" marB="54864" anchor="ctr">
                    <a:solidFill>
                      <a:srgbClr val="FFFEF9"/>
                    </a:solidFill>
                  </a:tcPr>
                </a:tc>
              </a:tr>
              <a:tr h="768096">
                <a:tc>
                  <a:txBody>
                    <a:bodyPr/>
                    <a:lstStyle/>
                    <a:p>
                      <a:pPr>
                        <a:lnSpc>
                          <a:spcPct val="113000"/>
                        </a:lnSpc>
                        <a:spcAft>
                          <a:spcPts val="0"/>
                        </a:spcAft>
                      </a:pPr>
                      <a:r>
                        <a:rPr sz="2000" b="1">
                          <a:solidFill>
                            <a:srgbClr val="172B2A"/>
                          </a:solidFill>
                          <a:latin typeface="Noto Sans CJK KR"/>
                        </a:rPr>
                        <a:t>메신저</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관련 대화 요약</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채널·본문 확인 후 전송</a:t>
                      </a:r>
                    </a:p>
                  </a:txBody>
                  <a:tcPr marL="137160" marR="91440" marT="91440" marB="54864" anchor="ctr">
                    <a:solidFill>
                      <a:srgbClr val="EDF0E9"/>
                    </a:solidFill>
                  </a:tcPr>
                </a:tc>
              </a:tr>
              <a:tr h="768096">
                <a:tc>
                  <a:txBody>
                    <a:bodyPr/>
                    <a:lstStyle/>
                    <a:p>
                      <a:pPr>
                        <a:lnSpc>
                          <a:spcPct val="113000"/>
                        </a:lnSpc>
                        <a:spcAft>
                          <a:spcPts val="0"/>
                        </a:spcAft>
                      </a:pPr>
                      <a:r>
                        <a:rPr sz="2000" b="1">
                          <a:solidFill>
                            <a:srgbClr val="172B2A"/>
                          </a:solidFill>
                          <a:latin typeface="Noto Sans CJK KR"/>
                        </a:rPr>
                        <a:t>문서 저장소</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권한 내 문서 검색</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버전·공유 범위 검토</a:t>
                      </a:r>
                    </a:p>
                  </a:txBody>
                  <a:tcPr marL="137160" marR="91440" marT="91440" marB="54864" anchor="ctr">
                    <a:solidFill>
                      <a:srgbClr val="FFFEF9"/>
                    </a:solidFill>
                  </a:tcPr>
                </a:tc>
              </a:tr>
              <a:tr h="768096">
                <a:tc>
                  <a:txBody>
                    <a:bodyPr/>
                    <a:lstStyle/>
                    <a:p>
                      <a:pPr>
                        <a:lnSpc>
                          <a:spcPct val="113000"/>
                        </a:lnSpc>
                        <a:spcAft>
                          <a:spcPts val="0"/>
                        </a:spcAft>
                      </a:pPr>
                      <a:r>
                        <a:rPr sz="2000" b="1">
                          <a:solidFill>
                            <a:srgbClr val="172B2A"/>
                          </a:solidFill>
                          <a:latin typeface="Noto Sans CJK KR"/>
                        </a:rPr>
                        <a:t>운영 API</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현재 상태 확인</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실행 키·결과 조회</a:t>
                      </a:r>
                    </a:p>
                  </a:txBody>
                  <a:tcPr marL="137160" marR="91440" marT="91440" marB="54864" anchor="ctr">
                    <a:solidFill>
                      <a:srgbClr val="EDF0E9"/>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3  /  실무·검증·운영"/>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3  /  실무·검증·운영</a:t>
            </a:r>
          </a:p>
        </p:txBody>
      </p:sp>
      <p:sp>
        <p:nvSpPr>
          <p:cNvPr id="3" name="Rounded Rectangle 2"/>
          <p:cNvSpPr/>
          <p:nvPr/>
        </p:nvSpPr>
        <p:spPr>
          <a:xfrm>
            <a:off x="10195560" y="173736"/>
            <a:ext cx="1399032" cy="329184"/>
          </a:xfrm>
          <a:prstGeom prst="roundRect">
            <a:avLst>
              <a:gd name="adj" fmla="val 8000"/>
            </a:avLst>
          </a:prstGeom>
          <a:solidFill>
            <a:srgbClr val="E3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60분 경로"/>
          <p:cNvSpPr txBox="1"/>
          <p:nvPr/>
        </p:nvSpPr>
        <p:spPr>
          <a:xfrm>
            <a:off x="10241280" y="214884"/>
            <a:ext cx="1307592" cy="182880"/>
          </a:xfrm>
          <a:prstGeom prst="rect">
            <a:avLst/>
          </a:prstGeom>
          <a:noFill/>
        </p:spPr>
        <p:txBody>
          <a:bodyPr wrap="square" lIns="0" rIns="0" tIns="0" bIns="0">
            <a:noAutofit/>
          </a:bodyPr>
          <a:lstStyle/>
          <a:p>
            <a:pPr algn="ctr">
              <a:lnSpc>
                <a:spcPct val="116000"/>
              </a:lnSpc>
              <a:spcBef>
                <a:spcPts val="0"/>
              </a:spcBef>
              <a:spcAft>
                <a:spcPts val="0"/>
              </a:spcAft>
            </a:pPr>
            <a:r>
              <a:rPr sz="1000" b="1">
                <a:solidFill>
                  <a:srgbClr val="126858"/>
                </a:solidFill>
                <a:latin typeface="Noto Sans CJK KR"/>
                <a:ea typeface="Noto Sans CJK KR"/>
                <a:latin typeface="Noto Sans CJK KR"/>
              </a:rPr>
              <a:t>60분 경로</a:t>
            </a:r>
          </a:p>
        </p:txBody>
      </p:sp>
      <p:sp>
        <p:nvSpPr>
          <p:cNvPr id="5" name="TEXT 오류 분류와 대응"/>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오류 분류와 대응</a:t>
            </a:r>
          </a:p>
        </p:txBody>
      </p:sp>
      <p:sp>
        <p:nvSpPr>
          <p:cNvPr id="6" name="TEXT 재시도할 오류와 수정·중단해야 할 오류를 구분한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재시도할 오류와 수정·중단해야 할 오류를 구분한다.</a:t>
            </a:r>
          </a:p>
        </p:txBody>
      </p:sp>
      <p:cxnSp>
        <p:nvCxnSpPr>
          <p:cNvPr id="7" name="Connector 6"/>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9" name="TEXT AI AGENT FIELDNOTES  /  C10"/>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C10</a:t>
            </a:r>
          </a:p>
        </p:txBody>
      </p:sp>
      <p:sp>
        <p:nvSpPr>
          <p:cNvPr id="10" name="TEXT 44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44 / 72</a:t>
            </a:r>
          </a:p>
        </p:txBody>
      </p:sp>
      <p:sp>
        <p:nvSpPr>
          <p:cNvPr id="11" name="TEXT 심화 A10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A10 →</a:t>
            </a:r>
          </a:p>
        </p:txBody>
      </p:sp>
      <p:graphicFrame>
        <p:nvGraphicFramePr>
          <p:cNvPr id="12" name="Table 11"/>
          <p:cNvGraphicFramePr>
            <a:graphicFrameLocks noGrp="1"/>
          </p:cNvGraphicFramePr>
          <p:nvPr/>
        </p:nvGraphicFramePr>
        <p:xfrm>
          <a:off x="594360" y="2587752"/>
          <a:ext cx="11000231" cy="3557016"/>
        </p:xfrm>
        <a:graphic>
          <a:graphicData uri="http://schemas.openxmlformats.org/drawingml/2006/table">
            <a:tbl>
              <a:tblPr firstRow="1" bandRow="1">
                <a:tableStyleId>{5C22544A-7EE6-4342-B048-85BDC9FD1C3A}</a:tableStyleId>
              </a:tblPr>
              <a:tblGrid>
                <a:gridCol w="2750058"/>
                <a:gridCol w="4290090"/>
                <a:gridCol w="3960083"/>
              </a:tblGrid>
              <a:tr h="484632">
                <a:tc>
                  <a:txBody>
                    <a:bodyPr/>
                    <a:lstStyle/>
                    <a:p>
                      <a:pPr>
                        <a:lnSpc>
                          <a:spcPct val="113000"/>
                        </a:lnSpc>
                        <a:spcAft>
                          <a:spcPts val="0"/>
                        </a:spcAft>
                      </a:pPr>
                      <a:r>
                        <a:rPr sz="1800" b="1">
                          <a:solidFill>
                            <a:srgbClr val="126858"/>
                          </a:solidFill>
                          <a:latin typeface="Noto Sans CJK KR"/>
                        </a:rPr>
                        <a:t>오류</a:t>
                      </a:r>
                    </a:p>
                  </a:txBody>
                  <a:tcPr marL="137160" marR="91440" marT="91440" marB="54864" anchor="ctr">
                    <a:solidFill>
                      <a:srgbClr val="E3EFE7"/>
                    </a:solidFill>
                  </a:tcPr>
                </a:tc>
                <a:tc>
                  <a:txBody>
                    <a:bodyPr/>
                    <a:lstStyle/>
                    <a:p>
                      <a:pPr>
                        <a:lnSpc>
                          <a:spcPct val="113000"/>
                        </a:lnSpc>
                        <a:spcAft>
                          <a:spcPts val="0"/>
                        </a:spcAft>
                      </a:pPr>
                      <a:r>
                        <a:rPr sz="1800" b="1">
                          <a:solidFill>
                            <a:srgbClr val="126858"/>
                          </a:solidFill>
                          <a:latin typeface="Noto Sans CJK KR"/>
                        </a:rPr>
                        <a:t>기본 대응</a:t>
                      </a:r>
                    </a:p>
                  </a:txBody>
                  <a:tcPr marL="137160" marR="91440" marT="91440" marB="54864" anchor="ctr">
                    <a:solidFill>
                      <a:srgbClr val="E3EFE7"/>
                    </a:solidFill>
                  </a:tcPr>
                </a:tc>
                <a:tc>
                  <a:txBody>
                    <a:bodyPr/>
                    <a:lstStyle/>
                    <a:p>
                      <a:pPr>
                        <a:lnSpc>
                          <a:spcPct val="113000"/>
                        </a:lnSpc>
                        <a:spcAft>
                          <a:spcPts val="0"/>
                        </a:spcAft>
                      </a:pPr>
                      <a:r>
                        <a:rPr sz="1800" b="1">
                          <a:solidFill>
                            <a:srgbClr val="126858"/>
                          </a:solidFill>
                          <a:latin typeface="Noto Sans CJK KR"/>
                        </a:rPr>
                        <a:t>추가 확인</a:t>
                      </a:r>
                    </a:p>
                  </a:txBody>
                  <a:tcPr marL="137160" marR="91440" marT="91440" marB="54864" anchor="ctr">
                    <a:solidFill>
                      <a:srgbClr val="E3EFE7"/>
                    </a:solidFill>
                  </a:tcPr>
                </a:tc>
              </a:tr>
              <a:tr h="768096">
                <a:tc>
                  <a:txBody>
                    <a:bodyPr/>
                    <a:lstStyle/>
                    <a:p>
                      <a:pPr>
                        <a:lnSpc>
                          <a:spcPct val="113000"/>
                        </a:lnSpc>
                        <a:spcAft>
                          <a:spcPts val="0"/>
                        </a:spcAft>
                      </a:pPr>
                      <a:r>
                        <a:rPr sz="2000" b="1">
                          <a:solidFill>
                            <a:srgbClr val="172B2A"/>
                          </a:solidFill>
                          <a:latin typeface="Noto Sans CJK KR"/>
                        </a:rPr>
                        <a:t>일시 네트워크 오류</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제한 재시도</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부작용·예산</a:t>
                      </a:r>
                    </a:p>
                  </a:txBody>
                  <a:tcPr marL="137160" marR="91440" marT="91440" marB="54864" anchor="ctr">
                    <a:solidFill>
                      <a:srgbClr val="FFFEF9"/>
                    </a:solidFill>
                  </a:tcPr>
                </a:tc>
              </a:tr>
              <a:tr h="768096">
                <a:tc>
                  <a:txBody>
                    <a:bodyPr/>
                    <a:lstStyle/>
                    <a:p>
                      <a:pPr>
                        <a:lnSpc>
                          <a:spcPct val="113000"/>
                        </a:lnSpc>
                        <a:spcAft>
                          <a:spcPts val="0"/>
                        </a:spcAft>
                      </a:pPr>
                      <a:r>
                        <a:rPr sz="2000" b="1">
                          <a:solidFill>
                            <a:srgbClr val="172B2A"/>
                          </a:solidFill>
                          <a:latin typeface="Noto Sans CJK KR"/>
                        </a:rPr>
                        <a:t>인자·Schema 오류</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입력·계약 수정</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무한 보정 금지</a:t>
                      </a:r>
                    </a:p>
                  </a:txBody>
                  <a:tcPr marL="137160" marR="91440" marT="91440" marB="54864" anchor="ctr">
                    <a:solidFill>
                      <a:srgbClr val="EDF0E9"/>
                    </a:solidFill>
                  </a:tcPr>
                </a:tc>
              </a:tr>
              <a:tr h="768096">
                <a:tc>
                  <a:txBody>
                    <a:bodyPr/>
                    <a:lstStyle/>
                    <a:p>
                      <a:pPr>
                        <a:lnSpc>
                          <a:spcPct val="113000"/>
                        </a:lnSpc>
                        <a:spcAft>
                          <a:spcPts val="0"/>
                        </a:spcAft>
                      </a:pPr>
                      <a:r>
                        <a:rPr sz="2000" b="1">
                          <a:solidFill>
                            <a:srgbClr val="172B2A"/>
                          </a:solidFill>
                          <a:latin typeface="Noto Sans CJK KR"/>
                        </a:rPr>
                        <a:t>권한·정책 거절</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중단·명시적 보고</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설정·대상 재검토</a:t>
                      </a:r>
                    </a:p>
                  </a:txBody>
                  <a:tcPr marL="137160" marR="91440" marT="91440" marB="54864" anchor="ctr">
                    <a:solidFill>
                      <a:srgbClr val="FFFEF9"/>
                    </a:solidFill>
                  </a:tcPr>
                </a:tc>
              </a:tr>
              <a:tr h="768096">
                <a:tc>
                  <a:txBody>
                    <a:bodyPr/>
                    <a:lstStyle/>
                    <a:p>
                      <a:pPr>
                        <a:lnSpc>
                          <a:spcPct val="113000"/>
                        </a:lnSpc>
                        <a:spcAft>
                          <a:spcPts val="0"/>
                        </a:spcAft>
                      </a:pPr>
                      <a:r>
                        <a:rPr sz="2000" b="1">
                          <a:solidFill>
                            <a:srgbClr val="172B2A"/>
                          </a:solidFill>
                          <a:latin typeface="Noto Sans CJK KR"/>
                        </a:rPr>
                        <a:t>변경 결과 불명확</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외부 결과 조회·조정</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맹목적 재호출 금지</a:t>
                      </a:r>
                    </a:p>
                  </a:txBody>
                  <a:tcPr marL="137160" marR="91440" marT="91440" marB="54864" anchor="ctr">
                    <a:solidFill>
                      <a:srgbClr val="EDF0E9"/>
                    </a:solid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3  /  실무·검증·운영"/>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3  /  실무·검증·운영</a:t>
            </a:r>
          </a:p>
        </p:txBody>
      </p:sp>
      <p:sp>
        <p:nvSpPr>
          <p:cNvPr id="3" name="TEXT Retry·Timeout·취소"/>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Retry·Timeout·취소</a:t>
            </a:r>
          </a:p>
        </p:txBody>
      </p:sp>
      <p:sp>
        <p:nvSpPr>
          <p:cNvPr id="4" name="TEXT 재시도 예산과 부작용을 함께 관리한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재시도 예산과 부작용을 함께 관리한다.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09·C10"/>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C09·C10</a:t>
            </a:r>
          </a:p>
        </p:txBody>
      </p:sp>
      <p:sp>
        <p:nvSpPr>
          <p:cNvPr id="8" name="TEXT 45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45 / 72</a:t>
            </a:r>
          </a:p>
        </p:txBody>
      </p:sp>
      <p:sp>
        <p:nvSpPr>
          <p:cNvPr id="9" name="TEXT 심화 A10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A10 →</a:t>
            </a:r>
          </a:p>
        </p:txBody>
      </p:sp>
      <p:sp>
        <p:nvSpPr>
          <p:cNvPr id="10" name="Rounded Rectangle 9"/>
          <p:cNvSpPr/>
          <p:nvPr/>
        </p:nvSpPr>
        <p:spPr>
          <a:xfrm>
            <a:off x="594360" y="2660904"/>
            <a:ext cx="3547872" cy="3154680"/>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2660904"/>
            <a:ext cx="54864" cy="3154680"/>
          </a:xfrm>
          <a:prstGeom prst="rect">
            <a:avLst/>
          </a:prstGeom>
          <a:solidFill>
            <a:srgbClr val="126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Retry"/>
          <p:cNvSpPr txBox="1"/>
          <p:nvPr/>
        </p:nvSpPr>
        <p:spPr>
          <a:xfrm>
            <a:off x="795528" y="2843784"/>
            <a:ext cx="314553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Retry</a:t>
            </a:r>
          </a:p>
        </p:txBody>
      </p:sp>
      <p:sp>
        <p:nvSpPr>
          <p:cNvPr id="13" name="TEXT 횟수·시간·토큰 한도&#10;같은 실행 키 유지"/>
          <p:cNvSpPr txBox="1"/>
          <p:nvPr/>
        </p:nvSpPr>
        <p:spPr>
          <a:xfrm>
            <a:off x="795528" y="3529584"/>
            <a:ext cx="3145536" cy="2148840"/>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횟수·시간·토큰 한도</a:t>
            </a:r>
          </a:p>
          <a:p>
            <a:pPr algn="l">
              <a:lnSpc>
                <a:spcPct val="116000"/>
              </a:lnSpc>
              <a:spcBef>
                <a:spcPts val="0"/>
              </a:spcBef>
              <a:spcAft>
                <a:spcPts val="0"/>
              </a:spcAft>
            </a:pPr>
            <a:r>
              <a:rPr sz="2200" b="0">
                <a:solidFill>
                  <a:srgbClr val="172B2A"/>
                </a:solidFill>
                <a:latin typeface="Noto Sans CJK KR"/>
                <a:ea typeface="Noto Sans CJK KR"/>
                <a:latin typeface="Noto Sans CJK KR"/>
              </a:rPr>
              <a:t>같은 실행 키 유지</a:t>
            </a:r>
          </a:p>
        </p:txBody>
      </p:sp>
      <p:sp>
        <p:nvSpPr>
          <p:cNvPr id="14" name="Rounded Rectangle 13"/>
          <p:cNvSpPr/>
          <p:nvPr/>
        </p:nvSpPr>
        <p:spPr>
          <a:xfrm>
            <a:off x="4315968" y="2660904"/>
            <a:ext cx="3547872" cy="3154680"/>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15968" y="2660904"/>
            <a:ext cx="54864" cy="3154680"/>
          </a:xfrm>
          <a:prstGeom prst="rect">
            <a:avLst/>
          </a:prstGeom>
          <a:solidFill>
            <a:srgbClr val="345C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Timeout"/>
          <p:cNvSpPr txBox="1"/>
          <p:nvPr/>
        </p:nvSpPr>
        <p:spPr>
          <a:xfrm>
            <a:off x="4517136" y="2843784"/>
            <a:ext cx="314553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345CB5"/>
                </a:solidFill>
                <a:latin typeface="Noto Sans CJK KR"/>
                <a:ea typeface="Noto Sans CJK KR"/>
                <a:latin typeface="Noto Sans CJK KR"/>
              </a:rPr>
              <a:t>Timeout</a:t>
            </a:r>
          </a:p>
        </p:txBody>
      </p:sp>
      <p:sp>
        <p:nvSpPr>
          <p:cNvPr id="17" name="TEXT 관측 실패와 실행 실패 구분&#10;외부 결과 조회"/>
          <p:cNvSpPr txBox="1"/>
          <p:nvPr/>
        </p:nvSpPr>
        <p:spPr>
          <a:xfrm>
            <a:off x="4517136" y="3529584"/>
            <a:ext cx="3145536" cy="2148840"/>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관측 실패와 실행 실패 구분</a:t>
            </a:r>
          </a:p>
          <a:p>
            <a:pPr algn="l">
              <a:lnSpc>
                <a:spcPct val="116000"/>
              </a:lnSpc>
              <a:spcBef>
                <a:spcPts val="0"/>
              </a:spcBef>
              <a:spcAft>
                <a:spcPts val="0"/>
              </a:spcAft>
            </a:pPr>
            <a:r>
              <a:rPr sz="2200" b="0">
                <a:solidFill>
                  <a:srgbClr val="172B2A"/>
                </a:solidFill>
                <a:latin typeface="Noto Sans CJK KR"/>
                <a:ea typeface="Noto Sans CJK KR"/>
                <a:latin typeface="Noto Sans CJK KR"/>
              </a:rPr>
              <a:t>외부 결과 조회</a:t>
            </a:r>
          </a:p>
        </p:txBody>
      </p:sp>
      <p:sp>
        <p:nvSpPr>
          <p:cNvPr id="18" name="Rounded Rectangle 17"/>
          <p:cNvSpPr/>
          <p:nvPr/>
        </p:nvSpPr>
        <p:spPr>
          <a:xfrm>
            <a:off x="8037576" y="2660904"/>
            <a:ext cx="3547872" cy="3154680"/>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37576" y="2660904"/>
            <a:ext cx="54864" cy="3154680"/>
          </a:xfrm>
          <a:prstGeom prst="rect">
            <a:avLst/>
          </a:prstGeom>
          <a:solidFill>
            <a:srgbClr val="AD5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 취소"/>
          <p:cNvSpPr txBox="1"/>
          <p:nvPr/>
        </p:nvSpPr>
        <p:spPr>
          <a:xfrm>
            <a:off x="8238744" y="2843784"/>
            <a:ext cx="314553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AD572B"/>
                </a:solidFill>
                <a:latin typeface="Noto Sans CJK KR"/>
                <a:ea typeface="Noto Sans CJK KR"/>
                <a:latin typeface="Noto Sans CJK KR"/>
              </a:rPr>
              <a:t>취소</a:t>
            </a:r>
          </a:p>
        </p:txBody>
      </p:sp>
      <p:sp>
        <p:nvSpPr>
          <p:cNvPr id="21" name="TEXT 새 작업 시작 중단&#10;이미 시작한 변경은 조정"/>
          <p:cNvSpPr txBox="1"/>
          <p:nvPr/>
        </p:nvSpPr>
        <p:spPr>
          <a:xfrm>
            <a:off x="8238744" y="3529584"/>
            <a:ext cx="3145536" cy="2148840"/>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새 작업 시작 중단</a:t>
            </a:r>
          </a:p>
          <a:p>
            <a:pPr algn="l">
              <a:lnSpc>
                <a:spcPct val="116000"/>
              </a:lnSpc>
              <a:spcBef>
                <a:spcPts val="0"/>
              </a:spcBef>
              <a:spcAft>
                <a:spcPts val="0"/>
              </a:spcAft>
            </a:pPr>
            <a:r>
              <a:rPr sz="2200" b="0">
                <a:solidFill>
                  <a:srgbClr val="172B2A"/>
                </a:solidFill>
                <a:latin typeface="Noto Sans CJK KR"/>
                <a:ea typeface="Noto Sans CJK KR"/>
                <a:latin typeface="Noto Sans CJK KR"/>
              </a:rPr>
              <a:t>이미 시작한 변경은 조정</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3  /  실무·검증·운영"/>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3  /  실무·검증·운영</a:t>
            </a:r>
          </a:p>
        </p:txBody>
      </p:sp>
      <p:sp>
        <p:nvSpPr>
          <p:cNvPr id="3" name="TEXT 부분 실패의 최종 결과"/>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부분 실패의 최종 결과</a:t>
            </a:r>
          </a:p>
        </p:txBody>
      </p:sp>
      <p:sp>
        <p:nvSpPr>
          <p:cNvPr id="4" name="TEXT 사용자가 무엇을 믿고 무엇을 다시 해야 하는지 알 수 있게 보고한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사용자가 무엇을 믿고 무엇을 다시 해야 하는지 알 수 있게 보고한다.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10"/>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C10</a:t>
            </a:r>
          </a:p>
        </p:txBody>
      </p:sp>
      <p:sp>
        <p:nvSpPr>
          <p:cNvPr id="8" name="TEXT 46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46 / 72</a:t>
            </a:r>
          </a:p>
        </p:txBody>
      </p:sp>
      <p:sp>
        <p:nvSpPr>
          <p:cNvPr id="9" name="TEXT 심화 A10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A10 →</a:t>
            </a:r>
          </a:p>
        </p:txBody>
      </p:sp>
      <p:graphicFrame>
        <p:nvGraphicFramePr>
          <p:cNvPr id="10" name="Table 9"/>
          <p:cNvGraphicFramePr>
            <a:graphicFrameLocks noGrp="1"/>
          </p:cNvGraphicFramePr>
          <p:nvPr/>
        </p:nvGraphicFramePr>
        <p:xfrm>
          <a:off x="594360" y="2587752"/>
          <a:ext cx="11000231" cy="3557016"/>
        </p:xfrm>
        <a:graphic>
          <a:graphicData uri="http://schemas.openxmlformats.org/drawingml/2006/table">
            <a:tbl>
              <a:tblPr firstRow="1" bandRow="1">
                <a:tableStyleId>{5C22544A-7EE6-4342-B048-85BDC9FD1C3A}</a:tableStyleId>
              </a:tblPr>
              <a:tblGrid>
                <a:gridCol w="2750058"/>
                <a:gridCol w="4290090"/>
                <a:gridCol w="3960083"/>
              </a:tblGrid>
              <a:tr h="484632">
                <a:tc>
                  <a:txBody>
                    <a:bodyPr/>
                    <a:lstStyle/>
                    <a:p>
                      <a:pPr>
                        <a:lnSpc>
                          <a:spcPct val="113000"/>
                        </a:lnSpc>
                        <a:spcAft>
                          <a:spcPts val="0"/>
                        </a:spcAft>
                      </a:pPr>
                      <a:r>
                        <a:rPr sz="1800" b="1">
                          <a:solidFill>
                            <a:srgbClr val="126858"/>
                          </a:solidFill>
                          <a:latin typeface="Noto Sans CJK KR"/>
                        </a:rPr>
                        <a:t>결과</a:t>
                      </a:r>
                    </a:p>
                  </a:txBody>
                  <a:tcPr marL="137160" marR="91440" marT="91440" marB="54864" anchor="ctr">
                    <a:solidFill>
                      <a:srgbClr val="E3EFE7"/>
                    </a:solidFill>
                  </a:tcPr>
                </a:tc>
                <a:tc>
                  <a:txBody>
                    <a:bodyPr/>
                    <a:lstStyle/>
                    <a:p>
                      <a:pPr>
                        <a:lnSpc>
                          <a:spcPct val="113000"/>
                        </a:lnSpc>
                        <a:spcAft>
                          <a:spcPts val="0"/>
                        </a:spcAft>
                      </a:pPr>
                      <a:r>
                        <a:rPr sz="1800" b="1">
                          <a:solidFill>
                            <a:srgbClr val="126858"/>
                          </a:solidFill>
                          <a:latin typeface="Noto Sans CJK KR"/>
                        </a:rPr>
                        <a:t>보고할 내용</a:t>
                      </a:r>
                    </a:p>
                  </a:txBody>
                  <a:tcPr marL="137160" marR="91440" marT="91440" marB="54864" anchor="ctr">
                    <a:solidFill>
                      <a:srgbClr val="E3EFE7"/>
                    </a:solidFill>
                  </a:tcPr>
                </a:tc>
                <a:tc>
                  <a:txBody>
                    <a:bodyPr/>
                    <a:lstStyle/>
                    <a:p>
                      <a:pPr>
                        <a:lnSpc>
                          <a:spcPct val="113000"/>
                        </a:lnSpc>
                        <a:spcAft>
                          <a:spcPts val="0"/>
                        </a:spcAft>
                      </a:pPr>
                      <a:r>
                        <a:rPr sz="1800" b="1">
                          <a:solidFill>
                            <a:srgbClr val="126858"/>
                          </a:solidFill>
                          <a:latin typeface="Noto Sans CJK KR"/>
                        </a:rPr>
                        <a:t>실행 정책</a:t>
                      </a:r>
                    </a:p>
                  </a:txBody>
                  <a:tcPr marL="137160" marR="91440" marT="91440" marB="54864" anchor="ctr">
                    <a:solidFill>
                      <a:srgbClr val="E3EFE7"/>
                    </a:solidFill>
                  </a:tcPr>
                </a:tc>
              </a:tr>
              <a:tr h="768096">
                <a:tc>
                  <a:txBody>
                    <a:bodyPr/>
                    <a:lstStyle/>
                    <a:p>
                      <a:pPr>
                        <a:lnSpc>
                          <a:spcPct val="113000"/>
                        </a:lnSpc>
                        <a:spcAft>
                          <a:spcPts val="0"/>
                        </a:spcAft>
                      </a:pPr>
                      <a:r>
                        <a:rPr sz="2000" b="1">
                          <a:solidFill>
                            <a:srgbClr val="172B2A"/>
                          </a:solidFill>
                          <a:latin typeface="Noto Sans CJK KR"/>
                        </a:rPr>
                        <a:t>성공</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검증된 결과·근거</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완료 범위를 명시</a:t>
                      </a:r>
                    </a:p>
                  </a:txBody>
                  <a:tcPr marL="137160" marR="91440" marT="91440" marB="54864" anchor="ctr">
                    <a:solidFill>
                      <a:srgbClr val="FFFEF9"/>
                    </a:solidFill>
                  </a:tcPr>
                </a:tc>
              </a:tr>
              <a:tr h="768096">
                <a:tc>
                  <a:txBody>
                    <a:bodyPr/>
                    <a:lstStyle/>
                    <a:p>
                      <a:pPr>
                        <a:lnSpc>
                          <a:spcPct val="113000"/>
                        </a:lnSpc>
                        <a:spcAft>
                          <a:spcPts val="0"/>
                        </a:spcAft>
                      </a:pPr>
                      <a:r>
                        <a:rPr sz="2000" b="1">
                          <a:solidFill>
                            <a:srgbClr val="172B2A"/>
                          </a:solidFill>
                          <a:latin typeface="Noto Sans CJK KR"/>
                        </a:rPr>
                        <a:t>부분 성공</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성공한 조사 + 빠진 근거</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허용된 범위만 진행</a:t>
                      </a:r>
                    </a:p>
                  </a:txBody>
                  <a:tcPr marL="137160" marR="91440" marT="91440" marB="54864" anchor="ctr">
                    <a:solidFill>
                      <a:srgbClr val="EDF0E9"/>
                    </a:solidFill>
                  </a:tcPr>
                </a:tc>
              </a:tr>
              <a:tr h="768096">
                <a:tc>
                  <a:txBody>
                    <a:bodyPr/>
                    <a:lstStyle/>
                    <a:p>
                      <a:pPr>
                        <a:lnSpc>
                          <a:spcPct val="113000"/>
                        </a:lnSpc>
                        <a:spcAft>
                          <a:spcPts val="0"/>
                        </a:spcAft>
                      </a:pPr>
                      <a:r>
                        <a:rPr sz="2000" b="1">
                          <a:solidFill>
                            <a:srgbClr val="172B2A"/>
                          </a:solidFill>
                          <a:latin typeface="Noto Sans CJK KR"/>
                        </a:rPr>
                        <a:t>차단·실패</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사유·재시도 가능성</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필수 조건 미충족 시 중단</a:t>
                      </a:r>
                    </a:p>
                  </a:txBody>
                  <a:tcPr marL="137160" marR="91440" marT="91440" marB="54864" anchor="ctr">
                    <a:solidFill>
                      <a:srgbClr val="FFFEF9"/>
                    </a:solidFill>
                  </a:tcPr>
                </a:tc>
              </a:tr>
              <a:tr h="768096">
                <a:tc>
                  <a:txBody>
                    <a:bodyPr/>
                    <a:lstStyle/>
                    <a:p>
                      <a:pPr>
                        <a:lnSpc>
                          <a:spcPct val="113000"/>
                        </a:lnSpc>
                        <a:spcAft>
                          <a:spcPts val="0"/>
                        </a:spcAft>
                      </a:pPr>
                      <a:r>
                        <a:rPr sz="2000" b="1">
                          <a:solidFill>
                            <a:srgbClr val="172B2A"/>
                          </a:solidFill>
                          <a:latin typeface="Noto Sans CJK KR"/>
                        </a:rPr>
                        <a:t>결과 불명확</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변경 여부 미확정</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조회·조정 경로 제시</a:t>
                      </a:r>
                    </a:p>
                  </a:txBody>
                  <a:tcPr marL="137160" marR="91440" marT="91440" marB="54864" anchor="ctr">
                    <a:solidFill>
                      <a:srgbClr val="EDF0E9"/>
                    </a:solidFill>
                  </a:tcPr>
                </a:tc>
              </a:tr>
            </a:tbl>
          </a:graphicData>
        </a:graphic>
      </p:graphicFrame>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3  /  실무·검증·운영"/>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3  /  실무·검증·운영</a:t>
            </a:r>
          </a:p>
        </p:txBody>
      </p:sp>
      <p:sp>
        <p:nvSpPr>
          <p:cNvPr id="3" name="TEXT 테스트의 계층"/>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테스트의 계층</a:t>
            </a:r>
          </a:p>
        </p:txBody>
      </p:sp>
      <p:sp>
        <p:nvSpPr>
          <p:cNvPr id="4" name="TEXT Workflow의 통제와 실제 모델·Provider의 동작을 따로 입증한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Workflow의 통제와 실제 모델·Provider의 동작을 따로 입증한다.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10"/>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C10</a:t>
            </a:r>
          </a:p>
        </p:txBody>
      </p:sp>
      <p:sp>
        <p:nvSpPr>
          <p:cNvPr id="8" name="TEXT 47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47 / 72</a:t>
            </a:r>
          </a:p>
        </p:txBody>
      </p:sp>
      <p:sp>
        <p:nvSpPr>
          <p:cNvPr id="9" name="TEXT 심화 A11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A11 →</a:t>
            </a:r>
          </a:p>
        </p:txBody>
      </p:sp>
      <p:graphicFrame>
        <p:nvGraphicFramePr>
          <p:cNvPr id="10" name="Table 9"/>
          <p:cNvGraphicFramePr>
            <a:graphicFrameLocks noGrp="1"/>
          </p:cNvGraphicFramePr>
          <p:nvPr/>
        </p:nvGraphicFramePr>
        <p:xfrm>
          <a:off x="594360" y="2587752"/>
          <a:ext cx="11000231" cy="3557016"/>
        </p:xfrm>
        <a:graphic>
          <a:graphicData uri="http://schemas.openxmlformats.org/drawingml/2006/table">
            <a:tbl>
              <a:tblPr firstRow="1" bandRow="1">
                <a:tableStyleId>{5C22544A-7EE6-4342-B048-85BDC9FD1C3A}</a:tableStyleId>
              </a:tblPr>
              <a:tblGrid>
                <a:gridCol w="2750058"/>
                <a:gridCol w="4290090"/>
                <a:gridCol w="3960083"/>
              </a:tblGrid>
              <a:tr h="484632">
                <a:tc>
                  <a:txBody>
                    <a:bodyPr/>
                    <a:lstStyle/>
                    <a:p>
                      <a:pPr>
                        <a:lnSpc>
                          <a:spcPct val="113000"/>
                        </a:lnSpc>
                        <a:spcAft>
                          <a:spcPts val="0"/>
                        </a:spcAft>
                      </a:pPr>
                      <a:r>
                        <a:rPr sz="1800" b="1">
                          <a:solidFill>
                            <a:srgbClr val="126858"/>
                          </a:solidFill>
                          <a:latin typeface="Noto Sans CJK KR"/>
                        </a:rPr>
                        <a:t>검증 계층</a:t>
                      </a:r>
                    </a:p>
                  </a:txBody>
                  <a:tcPr marL="137160" marR="91440" marT="91440" marB="54864" anchor="ctr">
                    <a:solidFill>
                      <a:srgbClr val="E3EFE7"/>
                    </a:solidFill>
                  </a:tcPr>
                </a:tc>
                <a:tc>
                  <a:txBody>
                    <a:bodyPr/>
                    <a:lstStyle/>
                    <a:p>
                      <a:pPr>
                        <a:lnSpc>
                          <a:spcPct val="113000"/>
                        </a:lnSpc>
                        <a:spcAft>
                          <a:spcPts val="0"/>
                        </a:spcAft>
                      </a:pPr>
                      <a:r>
                        <a:rPr sz="1800" b="1">
                          <a:solidFill>
                            <a:srgbClr val="126858"/>
                          </a:solidFill>
                          <a:latin typeface="Noto Sans CJK KR"/>
                        </a:rPr>
                        <a:t>검사 대상</a:t>
                      </a:r>
                    </a:p>
                  </a:txBody>
                  <a:tcPr marL="137160" marR="91440" marT="91440" marB="54864" anchor="ctr">
                    <a:solidFill>
                      <a:srgbClr val="E3EFE7"/>
                    </a:solidFill>
                  </a:tcPr>
                </a:tc>
                <a:tc>
                  <a:txBody>
                    <a:bodyPr/>
                    <a:lstStyle/>
                    <a:p>
                      <a:pPr>
                        <a:lnSpc>
                          <a:spcPct val="113000"/>
                        </a:lnSpc>
                        <a:spcAft>
                          <a:spcPts val="0"/>
                        </a:spcAft>
                      </a:pPr>
                      <a:r>
                        <a:rPr sz="1800" b="1">
                          <a:solidFill>
                            <a:srgbClr val="126858"/>
                          </a:solidFill>
                          <a:latin typeface="Noto Sans CJK KR"/>
                        </a:rPr>
                        <a:t>보장하지 않는 것</a:t>
                      </a:r>
                    </a:p>
                  </a:txBody>
                  <a:tcPr marL="137160" marR="91440" marT="91440" marB="54864" anchor="ctr">
                    <a:solidFill>
                      <a:srgbClr val="E3EFE7"/>
                    </a:solidFill>
                  </a:tcPr>
                </a:tc>
              </a:tr>
              <a:tr h="768096">
                <a:tc>
                  <a:txBody>
                    <a:bodyPr/>
                    <a:lstStyle/>
                    <a:p>
                      <a:pPr>
                        <a:lnSpc>
                          <a:spcPct val="113000"/>
                        </a:lnSpc>
                        <a:spcAft>
                          <a:spcPts val="0"/>
                        </a:spcAft>
                      </a:pPr>
                      <a:r>
                        <a:rPr sz="2000" b="1">
                          <a:solidFill>
                            <a:srgbClr val="172B2A"/>
                          </a:solidFill>
                          <a:latin typeface="Noto Sans CJK KR"/>
                        </a:rPr>
                        <a:t>Unit / Policy</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Schema·대상 비교</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실제 모델 품질</a:t>
                      </a:r>
                    </a:p>
                  </a:txBody>
                  <a:tcPr marL="137160" marR="91440" marT="91440" marB="54864" anchor="ctr">
                    <a:solidFill>
                      <a:srgbClr val="FFFEF9"/>
                    </a:solidFill>
                  </a:tcPr>
                </a:tc>
              </a:tr>
              <a:tr h="768096">
                <a:tc>
                  <a:txBody>
                    <a:bodyPr/>
                    <a:lstStyle/>
                    <a:p>
                      <a:pPr>
                        <a:lnSpc>
                          <a:spcPct val="113000"/>
                        </a:lnSpc>
                        <a:spcAft>
                          <a:spcPts val="0"/>
                        </a:spcAft>
                      </a:pPr>
                      <a:r>
                        <a:rPr sz="2000" b="1">
                          <a:solidFill>
                            <a:srgbClr val="172B2A"/>
                          </a:solidFill>
                          <a:latin typeface="Noto Sans CJK KR"/>
                        </a:rPr>
                        <a:t>Fake Workflow</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분기·중단·실행 횟수</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원격 Tool 호환성</a:t>
                      </a:r>
                    </a:p>
                  </a:txBody>
                  <a:tcPr marL="137160" marR="91440" marT="91440" marB="54864" anchor="ctr">
                    <a:solidFill>
                      <a:srgbClr val="EDF0E9"/>
                    </a:solidFill>
                  </a:tcPr>
                </a:tc>
              </a:tr>
              <a:tr h="768096">
                <a:tc>
                  <a:txBody>
                    <a:bodyPr/>
                    <a:lstStyle/>
                    <a:p>
                      <a:pPr>
                        <a:lnSpc>
                          <a:spcPct val="113000"/>
                        </a:lnSpc>
                        <a:spcAft>
                          <a:spcPts val="0"/>
                        </a:spcAft>
                      </a:pPr>
                      <a:r>
                        <a:rPr sz="2000" b="1">
                          <a:solidFill>
                            <a:srgbClr val="172B2A"/>
                          </a:solidFill>
                          <a:latin typeface="Noto Sans CJK KR"/>
                        </a:rPr>
                        <a:t>Integration</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인증·SDK·Provider·Tool</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모든 입력의 품질</a:t>
                      </a:r>
                    </a:p>
                  </a:txBody>
                  <a:tcPr marL="137160" marR="91440" marT="91440" marB="54864" anchor="ctr">
                    <a:solidFill>
                      <a:srgbClr val="FFFEF9"/>
                    </a:solidFill>
                  </a:tcPr>
                </a:tc>
              </a:tr>
              <a:tr h="768096">
                <a:tc>
                  <a:txBody>
                    <a:bodyPr/>
                    <a:lstStyle/>
                    <a:p>
                      <a:pPr>
                        <a:lnSpc>
                          <a:spcPct val="113000"/>
                        </a:lnSpc>
                        <a:spcAft>
                          <a:spcPts val="0"/>
                        </a:spcAft>
                      </a:pPr>
                      <a:r>
                        <a:rPr sz="2000" b="1">
                          <a:solidFill>
                            <a:srgbClr val="172B2A"/>
                          </a:solidFill>
                          <a:latin typeface="Noto Sans CJK KR"/>
                        </a:rPr>
                        <a:t>Evaluation</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정확성·근거·거부 적절성</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전체 운영 권한 설계</a:t>
                      </a:r>
                    </a:p>
                  </a:txBody>
                  <a:tcPr marL="137160" marR="91440" marT="91440" marB="54864" anchor="ctr">
                    <a:solidFill>
                      <a:srgbClr val="EDF0E9"/>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3  /  실무·검증·운영"/>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3  /  실무·검증·운영</a:t>
            </a:r>
          </a:p>
        </p:txBody>
      </p:sp>
      <p:sp>
        <p:nvSpPr>
          <p:cNvPr id="3" name="TEXT Fake Agent"/>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Fake Agent</a:t>
            </a:r>
          </a:p>
        </p:txBody>
      </p:sp>
      <p:sp>
        <p:nvSpPr>
          <p:cNvPr id="4" name="TEXT 외부 모델 없이 결과를 고정해 분기와 정책을 검증한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외부 모델 없이 결과를 고정해 분기와 정책을 검증한다.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10"/>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C10</a:t>
            </a:r>
          </a:p>
        </p:txBody>
      </p:sp>
      <p:sp>
        <p:nvSpPr>
          <p:cNvPr id="8" name="TEXT 48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48 / 72</a:t>
            </a:r>
          </a:p>
        </p:txBody>
      </p:sp>
      <p:sp>
        <p:nvSpPr>
          <p:cNvPr id="9" name="TEXT 심화 A11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A11 →</a:t>
            </a:r>
          </a:p>
        </p:txBody>
      </p:sp>
      <p:sp>
        <p:nvSpPr>
          <p:cNvPr id="10" name="Rounded Rectangle 9"/>
          <p:cNvSpPr/>
          <p:nvPr/>
        </p:nvSpPr>
        <p:spPr>
          <a:xfrm>
            <a:off x="594360" y="2578608"/>
            <a:ext cx="7406640" cy="3584448"/>
          </a:xfrm>
          <a:prstGeom prst="roundRect">
            <a:avLst>
              <a:gd name="adj" fmla="val 8000"/>
            </a:avLst>
          </a:prstGeom>
          <a:solidFill>
            <a:srgbClr val="1636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class FakeAgent:&#10;    def __init__(self, paylo"/>
          <p:cNvSpPr txBox="1"/>
          <p:nvPr/>
        </p:nvSpPr>
        <p:spPr>
          <a:xfrm>
            <a:off x="822960" y="2779776"/>
            <a:ext cx="6949440" cy="3172968"/>
          </a:xfrm>
          <a:prstGeom prst="rect">
            <a:avLst/>
          </a:prstGeom>
          <a:noFill/>
        </p:spPr>
        <p:txBody>
          <a:bodyPr wrap="square" lIns="0" rIns="0" tIns="0" bIns="0">
            <a:noAutofit/>
          </a:bodyPr>
          <a:lstStyle/>
          <a:p>
            <a:pPr algn="l">
              <a:lnSpc>
                <a:spcPct val="116000"/>
              </a:lnSpc>
              <a:spcBef>
                <a:spcPts val="0"/>
              </a:spcBef>
              <a:spcAft>
                <a:spcPts val="0"/>
              </a:spcAft>
            </a:pPr>
            <a:r>
              <a:rPr sz="1800" b="0">
                <a:solidFill>
                  <a:srgbClr val="FFFFFF"/>
                </a:solidFill>
                <a:latin typeface="DejaVu Sans Mono"/>
                <a:ea typeface="DejaVu Sans Mono"/>
                <a:latin typeface="DejaVu Sans Mono"/>
              </a:rPr>
              <a:t>class FakeAgent:</a:t>
            </a:r>
          </a:p>
          <a:p>
            <a:pPr algn="l">
              <a:lnSpc>
                <a:spcPct val="116000"/>
              </a:lnSpc>
              <a:spcBef>
                <a:spcPts val="0"/>
              </a:spcBef>
              <a:spcAft>
                <a:spcPts val="0"/>
              </a:spcAft>
            </a:pPr>
            <a:r>
              <a:rPr sz="1800" b="0">
                <a:solidFill>
                  <a:srgbClr val="FFFFFF"/>
                </a:solidFill>
                <a:latin typeface="DejaVu Sans Mono"/>
                <a:ea typeface="DejaVu Sans Mono"/>
                <a:latin typeface="DejaVu Sans Mono"/>
              </a:rPr>
              <a:t>    def __init__(self, payload):</a:t>
            </a:r>
          </a:p>
          <a:p>
            <a:pPr algn="l">
              <a:lnSpc>
                <a:spcPct val="116000"/>
              </a:lnSpc>
              <a:spcBef>
                <a:spcPts val="0"/>
              </a:spcBef>
              <a:spcAft>
                <a:spcPts val="0"/>
              </a:spcAft>
            </a:pPr>
            <a:r>
              <a:rPr sz="1800" b="0">
                <a:solidFill>
                  <a:srgbClr val="FFFFFF"/>
                </a:solidFill>
                <a:latin typeface="DejaVu Sans Mono"/>
                <a:ea typeface="DejaVu Sans Mono"/>
                <a:latin typeface="DejaVu Sans Mono"/>
              </a:rPr>
              <a:t>        self.payload = payload</a:t>
            </a:r>
          </a:p>
          <a:p>
            <a:pPr algn="l">
              <a:lnSpc>
                <a:spcPct val="116000"/>
              </a:lnSpc>
              <a:spcBef>
                <a:spcPts val="0"/>
              </a:spcBef>
              <a:spcAft>
                <a:spcPts val="0"/>
              </a:spcAft>
            </a:pPr>
            <a:r>
              <a:rPr sz="1800" b="0">
                <a:solidFill>
                  <a:srgbClr val="FFFFFF"/>
                </a:solidFill>
                <a:latin typeface="DejaVu Sans Mono"/>
                <a:ea typeface="DejaVu Sans Mono"/>
                <a:latin typeface="DejaVu Sans Mono"/>
              </a:rPr>
              <a:t/>
            </a:r>
          </a:p>
          <a:p>
            <a:pPr algn="l">
              <a:lnSpc>
                <a:spcPct val="116000"/>
              </a:lnSpc>
              <a:spcBef>
                <a:spcPts val="0"/>
              </a:spcBef>
              <a:spcAft>
                <a:spcPts val="0"/>
              </a:spcAft>
            </a:pPr>
            <a:r>
              <a:rPr sz="1800" b="0">
                <a:solidFill>
                  <a:srgbClr val="FFFFFF"/>
                </a:solidFill>
                <a:latin typeface="DejaVu Sans Mono"/>
                <a:ea typeface="DejaVu Sans Mono"/>
                <a:latin typeface="DejaVu Sans Mono"/>
              </a:rPr>
              <a:t>    def invoke(self, _request):</a:t>
            </a:r>
          </a:p>
          <a:p>
            <a:pPr algn="l">
              <a:lnSpc>
                <a:spcPct val="116000"/>
              </a:lnSpc>
              <a:spcBef>
                <a:spcPts val="0"/>
              </a:spcBef>
              <a:spcAft>
                <a:spcPts val="0"/>
              </a:spcAft>
            </a:pPr>
            <a:r>
              <a:rPr sz="1800" b="0">
                <a:solidFill>
                  <a:srgbClr val="FFFFFF"/>
                </a:solidFill>
                <a:latin typeface="DejaVu Sans Mono"/>
                <a:ea typeface="DejaVu Sans Mono"/>
                <a:latin typeface="DejaVu Sans Mono"/>
              </a:rPr>
              <a:t>        return self.payload.copy()</a:t>
            </a:r>
          </a:p>
          <a:p>
            <a:pPr algn="l">
              <a:lnSpc>
                <a:spcPct val="116000"/>
              </a:lnSpc>
              <a:spcBef>
                <a:spcPts val="0"/>
              </a:spcBef>
              <a:spcAft>
                <a:spcPts val="0"/>
              </a:spcAft>
            </a:pPr>
            <a:r>
              <a:rPr sz="1800" b="0">
                <a:solidFill>
                  <a:srgbClr val="FFFFFF"/>
                </a:solidFill>
                <a:latin typeface="DejaVu Sans Mono"/>
                <a:ea typeface="DejaVu Sans Mono"/>
                <a:latin typeface="DejaVu Sans Mono"/>
              </a:rPr>
              <a:t/>
            </a:r>
          </a:p>
          <a:p>
            <a:pPr algn="l">
              <a:lnSpc>
                <a:spcPct val="116000"/>
              </a:lnSpc>
              <a:spcBef>
                <a:spcPts val="0"/>
              </a:spcBef>
              <a:spcAft>
                <a:spcPts val="0"/>
              </a:spcAft>
            </a:pPr>
            <a:r>
              <a:rPr sz="1800" b="0">
                <a:solidFill>
                  <a:srgbClr val="FFFFFF"/>
                </a:solidFill>
                <a:latin typeface="DejaVu Sans Mono"/>
                <a:ea typeface="DejaVu Sans Mono"/>
                <a:latin typeface="DejaVu Sans Mono"/>
              </a:rPr>
              <a:t># 합성 결과를 결정적으로 반환한다.</a:t>
            </a:r>
          </a:p>
          <a:p>
            <a:pPr algn="l">
              <a:lnSpc>
                <a:spcPct val="116000"/>
              </a:lnSpc>
              <a:spcBef>
                <a:spcPts val="0"/>
              </a:spcBef>
              <a:spcAft>
                <a:spcPts val="0"/>
              </a:spcAft>
            </a:pPr>
            <a:r>
              <a:rPr sz="1800" b="0">
                <a:solidFill>
                  <a:srgbClr val="FFFFFF"/>
                </a:solidFill>
                <a:latin typeface="DejaVu Sans Mono"/>
                <a:ea typeface="DejaVu Sans Mono"/>
                <a:latin typeface="DejaVu Sans Mono"/>
              </a:rPr>
              <a:t># 실제 모델 호출·토큰 측정이 아니다.</a:t>
            </a:r>
          </a:p>
        </p:txBody>
      </p:sp>
      <p:sp>
        <p:nvSpPr>
          <p:cNvPr id="12" name="Rounded Rectangle 11"/>
          <p:cNvSpPr/>
          <p:nvPr/>
        </p:nvSpPr>
        <p:spPr>
          <a:xfrm>
            <a:off x="8229600" y="2587752"/>
            <a:ext cx="3364992" cy="1700784"/>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229600" y="2587752"/>
            <a:ext cx="54864" cy="1700784"/>
          </a:xfrm>
          <a:prstGeom prst="rect">
            <a:avLst/>
          </a:prstGeom>
          <a:solidFill>
            <a:srgbClr val="126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고정 입력"/>
          <p:cNvSpPr txBox="1"/>
          <p:nvPr/>
        </p:nvSpPr>
        <p:spPr>
          <a:xfrm>
            <a:off x="8430768" y="2770632"/>
            <a:ext cx="296265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고정 입력</a:t>
            </a:r>
          </a:p>
        </p:txBody>
      </p:sp>
      <p:sp>
        <p:nvSpPr>
          <p:cNvPr id="15" name="TEXT 정상·허위·빈 근거 Fixture"/>
          <p:cNvSpPr txBox="1"/>
          <p:nvPr/>
        </p:nvSpPr>
        <p:spPr>
          <a:xfrm>
            <a:off x="8430768" y="3456432"/>
            <a:ext cx="2962656" cy="694944"/>
          </a:xfrm>
          <a:prstGeom prst="rect">
            <a:avLst/>
          </a:prstGeom>
          <a:noFill/>
        </p:spPr>
        <p:txBody>
          <a:bodyPr wrap="square" lIns="0" rIns="0" tIns="0" bIns="0">
            <a:noAutofit/>
          </a:bodyPr>
          <a:lstStyle/>
          <a:p>
            <a:pPr algn="l">
              <a:lnSpc>
                <a:spcPct val="116000"/>
              </a:lnSpc>
              <a:spcBef>
                <a:spcPts val="0"/>
              </a:spcBef>
              <a:spcAft>
                <a:spcPts val="0"/>
              </a:spcAft>
            </a:pPr>
            <a:r>
              <a:rPr sz="2000" b="0">
                <a:solidFill>
                  <a:srgbClr val="172B2A"/>
                </a:solidFill>
                <a:latin typeface="Noto Sans CJK KR"/>
                <a:ea typeface="Noto Sans CJK KR"/>
                <a:latin typeface="Noto Sans CJK KR"/>
              </a:rPr>
              <a:t>정상·허위·빈 근거 Fixture</a:t>
            </a:r>
          </a:p>
        </p:txBody>
      </p:sp>
      <p:sp>
        <p:nvSpPr>
          <p:cNvPr id="16" name="Rounded Rectangle 15"/>
          <p:cNvSpPr/>
          <p:nvPr/>
        </p:nvSpPr>
        <p:spPr>
          <a:xfrm>
            <a:off x="8229600" y="4443983"/>
            <a:ext cx="3364992" cy="1700784"/>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229600" y="4443983"/>
            <a:ext cx="54864" cy="1700784"/>
          </a:xfrm>
          <a:prstGeom prst="rect">
            <a:avLst/>
          </a:prstGeom>
          <a:solidFill>
            <a:srgbClr val="AD5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 확인 대상"/>
          <p:cNvSpPr txBox="1"/>
          <p:nvPr/>
        </p:nvSpPr>
        <p:spPr>
          <a:xfrm>
            <a:off x="8430768" y="4626864"/>
            <a:ext cx="296265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AD572B"/>
                </a:solidFill>
                <a:latin typeface="Noto Sans CJK KR"/>
                <a:ea typeface="Noto Sans CJK KR"/>
                <a:latin typeface="Noto Sans CJK KR"/>
              </a:rPr>
              <a:t>확인 대상</a:t>
            </a:r>
          </a:p>
        </p:txBody>
      </p:sp>
      <p:sp>
        <p:nvSpPr>
          <p:cNvPr id="19" name="TEXT State·Gate·부작용 호출 수"/>
          <p:cNvSpPr txBox="1"/>
          <p:nvPr/>
        </p:nvSpPr>
        <p:spPr>
          <a:xfrm>
            <a:off x="8430768" y="5312664"/>
            <a:ext cx="2962656" cy="694944"/>
          </a:xfrm>
          <a:prstGeom prst="rect">
            <a:avLst/>
          </a:prstGeom>
          <a:noFill/>
        </p:spPr>
        <p:txBody>
          <a:bodyPr wrap="square" lIns="0" rIns="0" tIns="0" bIns="0">
            <a:noAutofit/>
          </a:bodyPr>
          <a:lstStyle/>
          <a:p>
            <a:pPr algn="l">
              <a:lnSpc>
                <a:spcPct val="116000"/>
              </a:lnSpc>
              <a:spcBef>
                <a:spcPts val="0"/>
              </a:spcBef>
              <a:spcAft>
                <a:spcPts val="0"/>
              </a:spcAft>
            </a:pPr>
            <a:r>
              <a:rPr sz="2000" b="0">
                <a:solidFill>
                  <a:srgbClr val="172B2A"/>
                </a:solidFill>
                <a:latin typeface="Noto Sans CJK KR"/>
                <a:ea typeface="Noto Sans CJK KR"/>
                <a:latin typeface="Noto Sans CJK KR"/>
              </a:rPr>
              <a:t>State·Gate·부작용 호출 수</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3  /  실무·검증·운영"/>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3  /  실무·검증·운영</a:t>
            </a:r>
          </a:p>
        </p:txBody>
      </p:sp>
      <p:sp>
        <p:nvSpPr>
          <p:cNvPr id="3" name="Rounded Rectangle 2"/>
          <p:cNvSpPr/>
          <p:nvPr/>
        </p:nvSpPr>
        <p:spPr>
          <a:xfrm>
            <a:off x="10195560" y="173736"/>
            <a:ext cx="1399032" cy="329184"/>
          </a:xfrm>
          <a:prstGeom prst="roundRect">
            <a:avLst>
              <a:gd name="adj" fmla="val 8000"/>
            </a:avLst>
          </a:prstGeom>
          <a:solidFill>
            <a:srgbClr val="E3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60분 경로"/>
          <p:cNvSpPr txBox="1"/>
          <p:nvPr/>
        </p:nvSpPr>
        <p:spPr>
          <a:xfrm>
            <a:off x="10241280" y="214884"/>
            <a:ext cx="1307592" cy="182880"/>
          </a:xfrm>
          <a:prstGeom prst="rect">
            <a:avLst/>
          </a:prstGeom>
          <a:noFill/>
        </p:spPr>
        <p:txBody>
          <a:bodyPr wrap="square" lIns="0" rIns="0" tIns="0" bIns="0">
            <a:noAutofit/>
          </a:bodyPr>
          <a:lstStyle/>
          <a:p>
            <a:pPr algn="ctr">
              <a:lnSpc>
                <a:spcPct val="116000"/>
              </a:lnSpc>
              <a:spcBef>
                <a:spcPts val="0"/>
              </a:spcBef>
              <a:spcAft>
                <a:spcPts val="0"/>
              </a:spcAft>
            </a:pPr>
            <a:r>
              <a:rPr sz="1000" b="1">
                <a:solidFill>
                  <a:srgbClr val="126858"/>
                </a:solidFill>
                <a:latin typeface="Noto Sans CJK KR"/>
                <a:ea typeface="Noto Sans CJK KR"/>
                <a:latin typeface="Noto Sans CJK KR"/>
              </a:rPr>
              <a:t>60분 경로</a:t>
            </a:r>
          </a:p>
        </p:txBody>
      </p:sp>
      <p:sp>
        <p:nvSpPr>
          <p:cNvPr id="5" name="TEXT 승인 경계 테스트"/>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승인 경계 테스트</a:t>
            </a:r>
          </a:p>
        </p:txBody>
      </p:sp>
      <p:sp>
        <p:nvSpPr>
          <p:cNvPr id="6" name="TEXT 상태 이름과 실행 호출 횟수를 함께 검사한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상태 이름과 실행 호출 횟수를 함께 검사한다.</a:t>
            </a:r>
          </a:p>
        </p:txBody>
      </p:sp>
      <p:cxnSp>
        <p:nvCxnSpPr>
          <p:cNvPr id="7" name="Connector 6"/>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9" name="TEXT AI AGENT FIELDNOTES  /  C08·C10"/>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C08·C10</a:t>
            </a:r>
          </a:p>
        </p:txBody>
      </p:sp>
      <p:sp>
        <p:nvSpPr>
          <p:cNvPr id="10" name="TEXT 49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49 / 72</a:t>
            </a:r>
          </a:p>
        </p:txBody>
      </p:sp>
      <p:sp>
        <p:nvSpPr>
          <p:cNvPr id="11" name="TEXT 심화 A10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A10 →</a:t>
            </a:r>
          </a:p>
        </p:txBody>
      </p:sp>
      <p:sp>
        <p:nvSpPr>
          <p:cNvPr id="12" name="Rounded Rectangle 11"/>
          <p:cNvSpPr/>
          <p:nvPr/>
        </p:nvSpPr>
        <p:spPr>
          <a:xfrm>
            <a:off x="594360" y="2578608"/>
            <a:ext cx="7406640" cy="3584448"/>
          </a:xfrm>
          <a:prstGeom prst="roundRect">
            <a:avLst>
              <a:gd name="adj" fmla="val 8000"/>
            </a:avLst>
          </a:prstGeom>
          <a:solidFill>
            <a:srgbClr val="16362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 graph, sim, state = start()&#10;decision = approv"/>
          <p:cNvSpPr txBox="1"/>
          <p:nvPr/>
        </p:nvSpPr>
        <p:spPr>
          <a:xfrm>
            <a:off x="822960" y="2779776"/>
            <a:ext cx="6949440" cy="3172968"/>
          </a:xfrm>
          <a:prstGeom prst="rect">
            <a:avLst/>
          </a:prstGeom>
          <a:noFill/>
        </p:spPr>
        <p:txBody>
          <a:bodyPr wrap="square" lIns="0" rIns="0" tIns="0" bIns="0">
            <a:noAutofit/>
          </a:bodyPr>
          <a:lstStyle/>
          <a:p>
            <a:pPr algn="l">
              <a:lnSpc>
                <a:spcPct val="116000"/>
              </a:lnSpc>
              <a:spcBef>
                <a:spcPts val="0"/>
              </a:spcBef>
              <a:spcAft>
                <a:spcPts val="0"/>
              </a:spcAft>
            </a:pPr>
            <a:r>
              <a:rPr sz="1800" b="0">
                <a:solidFill>
                  <a:srgbClr val="FFFFFF"/>
                </a:solidFill>
                <a:latin typeface="DejaVu Sans Mono"/>
                <a:ea typeface="DejaVu Sans Mono"/>
                <a:latin typeface="DejaVu Sans Mono"/>
              </a:rPr>
              <a:t>graph, sim, state = start()</a:t>
            </a:r>
          </a:p>
          <a:p>
            <a:pPr algn="l">
              <a:lnSpc>
                <a:spcPct val="116000"/>
              </a:lnSpc>
              <a:spcBef>
                <a:spcPts val="0"/>
              </a:spcBef>
              <a:spcAft>
                <a:spcPts val="0"/>
              </a:spcAft>
            </a:pPr>
            <a:r>
              <a:rPr sz="1800" b="0">
                <a:solidFill>
                  <a:srgbClr val="FFFFFF"/>
                </a:solidFill>
                <a:latin typeface="DejaVu Sans Mono"/>
                <a:ea typeface="DejaVu Sans Mono"/>
                <a:latin typeface="DejaVu Sans Mono"/>
              </a:rPr>
              <a:t>decision = approval_for(state["plan"], "reject")</a:t>
            </a:r>
          </a:p>
          <a:p>
            <a:pPr algn="l">
              <a:lnSpc>
                <a:spcPct val="116000"/>
              </a:lnSpc>
              <a:spcBef>
                <a:spcPts val="0"/>
              </a:spcBef>
              <a:spcAft>
                <a:spcPts val="0"/>
              </a:spcAft>
            </a:pPr>
            <a:r>
              <a:rPr sz="1800" b="0">
                <a:solidFill>
                  <a:srgbClr val="FFFFFF"/>
                </a:solidFill>
                <a:latin typeface="DejaVu Sans Mono"/>
                <a:ea typeface="DejaVu Sans Mono"/>
                <a:latin typeface="DejaVu Sans Mono"/>
              </a:rPr>
              <a:t>result = graph.invoke(</a:t>
            </a:r>
          </a:p>
          <a:p>
            <a:pPr algn="l">
              <a:lnSpc>
                <a:spcPct val="116000"/>
              </a:lnSpc>
              <a:spcBef>
                <a:spcPts val="0"/>
              </a:spcBef>
              <a:spcAft>
                <a:spcPts val="0"/>
              </a:spcAft>
            </a:pPr>
            <a:r>
              <a:rPr sz="1800" b="0">
                <a:solidFill>
                  <a:srgbClr val="FFFFFF"/>
                </a:solidFill>
                <a:latin typeface="DejaVu Sans Mono"/>
                <a:ea typeface="DejaVu Sans Mono"/>
                <a:latin typeface="DejaVu Sans Mono"/>
              </a:rPr>
              <a:t>    Command(resume=decision), CONFIG</a:t>
            </a:r>
          </a:p>
          <a:p>
            <a:pPr algn="l">
              <a:lnSpc>
                <a:spcPct val="116000"/>
              </a:lnSpc>
              <a:spcBef>
                <a:spcPts val="0"/>
              </a:spcBef>
              <a:spcAft>
                <a:spcPts val="0"/>
              </a:spcAft>
            </a:pPr>
            <a:r>
              <a:rPr sz="1800" b="0">
                <a:solidFill>
                  <a:srgbClr val="FFFFFF"/>
                </a:solidFill>
                <a:latin typeface="DejaVu Sans Mono"/>
                <a:ea typeface="DejaVu Sans Mono"/>
                <a:latin typeface="DejaVu Sans Mono"/>
              </a:rPr>
              <a:t>)</a:t>
            </a:r>
          </a:p>
          <a:p>
            <a:pPr algn="l">
              <a:lnSpc>
                <a:spcPct val="116000"/>
              </a:lnSpc>
              <a:spcBef>
                <a:spcPts val="0"/>
              </a:spcBef>
              <a:spcAft>
                <a:spcPts val="0"/>
              </a:spcAft>
            </a:pPr>
            <a:r>
              <a:rPr sz="1800" b="0">
                <a:solidFill>
                  <a:srgbClr val="FFFFFF"/>
                </a:solidFill>
                <a:latin typeface="DejaVu Sans Mono"/>
                <a:ea typeface="DejaVu Sans Mono"/>
                <a:latin typeface="DejaVu Sans Mono"/>
              </a:rPr>
              <a:t>assert result["status"] == "rejected"</a:t>
            </a:r>
          </a:p>
          <a:p>
            <a:pPr algn="l">
              <a:lnSpc>
                <a:spcPct val="116000"/>
              </a:lnSpc>
              <a:spcBef>
                <a:spcPts val="0"/>
              </a:spcBef>
              <a:spcAft>
                <a:spcPts val="0"/>
              </a:spcAft>
            </a:pPr>
            <a:r>
              <a:rPr sz="1800" b="0">
                <a:solidFill>
                  <a:srgbClr val="FFFFFF"/>
                </a:solidFill>
                <a:latin typeface="DejaVu Sans Mono"/>
                <a:ea typeface="DejaVu Sans Mono"/>
                <a:latin typeface="DejaVu Sans Mono"/>
              </a:rPr>
              <a:t>assert len(sim.calls) == 0</a:t>
            </a:r>
          </a:p>
          <a:p>
            <a:pPr algn="l">
              <a:lnSpc>
                <a:spcPct val="116000"/>
              </a:lnSpc>
              <a:spcBef>
                <a:spcPts val="0"/>
              </a:spcBef>
              <a:spcAft>
                <a:spcPts val="0"/>
              </a:spcAft>
            </a:pPr>
            <a:r>
              <a:rPr sz="1800" b="0">
                <a:solidFill>
                  <a:srgbClr val="FFFFFF"/>
                </a:solidFill>
                <a:latin typeface="DejaVu Sans Mono"/>
                <a:ea typeface="DejaVu Sans Mono"/>
                <a:latin typeface="DejaVu Sans Mono"/>
              </a:rPr>
              <a:t/>
            </a:r>
          </a:p>
          <a:p>
            <a:pPr algn="l">
              <a:lnSpc>
                <a:spcPct val="116000"/>
              </a:lnSpc>
              <a:spcBef>
                <a:spcPts val="0"/>
              </a:spcBef>
              <a:spcAft>
                <a:spcPts val="0"/>
              </a:spcAft>
            </a:pPr>
            <a:r>
              <a:rPr sz="1800" b="0">
                <a:solidFill>
                  <a:srgbClr val="FFFFFF"/>
                </a:solidFill>
                <a:latin typeface="DejaVu Sans Mono"/>
                <a:ea typeface="DejaVu Sans Mono"/>
                <a:latin typeface="DejaVu Sans Mono"/>
              </a:rPr>
              <a:t># 대상 불일치·필드 누락도 실행 0회 검사</a:t>
            </a:r>
          </a:p>
        </p:txBody>
      </p:sp>
      <p:sp>
        <p:nvSpPr>
          <p:cNvPr id="14" name="Rounded Rectangle 13"/>
          <p:cNvSpPr/>
          <p:nvPr/>
        </p:nvSpPr>
        <p:spPr>
          <a:xfrm>
            <a:off x="8229600" y="2587752"/>
            <a:ext cx="3364992" cy="1700784"/>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229600" y="2587752"/>
            <a:ext cx="54864" cy="1700784"/>
          </a:xfrm>
          <a:prstGeom prst="rect">
            <a:avLst/>
          </a:prstGeom>
          <a:solidFill>
            <a:srgbClr val="126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실제 검증"/>
          <p:cNvSpPr txBox="1"/>
          <p:nvPr/>
        </p:nvSpPr>
        <p:spPr>
          <a:xfrm>
            <a:off x="8430768" y="2770632"/>
            <a:ext cx="296265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실제 검증</a:t>
            </a:r>
          </a:p>
        </p:txBody>
      </p:sp>
      <p:sp>
        <p:nvSpPr>
          <p:cNvPr id="17" name="TEXT 정답 테스트 13개 통과"/>
          <p:cNvSpPr txBox="1"/>
          <p:nvPr/>
        </p:nvSpPr>
        <p:spPr>
          <a:xfrm>
            <a:off x="8430768" y="3456432"/>
            <a:ext cx="2962656" cy="694944"/>
          </a:xfrm>
          <a:prstGeom prst="rect">
            <a:avLst/>
          </a:prstGeom>
          <a:noFill/>
        </p:spPr>
        <p:txBody>
          <a:bodyPr wrap="square" lIns="0" rIns="0" tIns="0" bIns="0">
            <a:noAutofit/>
          </a:bodyPr>
          <a:lstStyle/>
          <a:p>
            <a:pPr algn="l">
              <a:lnSpc>
                <a:spcPct val="116000"/>
              </a:lnSpc>
              <a:spcBef>
                <a:spcPts val="0"/>
              </a:spcBef>
              <a:spcAft>
                <a:spcPts val="0"/>
              </a:spcAft>
            </a:pPr>
            <a:r>
              <a:rPr sz="2000" b="0">
                <a:solidFill>
                  <a:srgbClr val="172B2A"/>
                </a:solidFill>
                <a:latin typeface="Noto Sans CJK KR"/>
                <a:ea typeface="Noto Sans CJK KR"/>
                <a:latin typeface="Noto Sans CJK KR"/>
              </a:rPr>
              <a:t>정답 테스트 13개 통과</a:t>
            </a:r>
          </a:p>
        </p:txBody>
      </p:sp>
      <p:sp>
        <p:nvSpPr>
          <p:cNvPr id="18" name="Rounded Rectangle 17"/>
          <p:cNvSpPr/>
          <p:nvPr/>
        </p:nvSpPr>
        <p:spPr>
          <a:xfrm>
            <a:off x="8229600" y="4443983"/>
            <a:ext cx="3364992" cy="1700784"/>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29600" y="4443983"/>
            <a:ext cx="54864" cy="1700784"/>
          </a:xfrm>
          <a:prstGeom prst="rect">
            <a:avLst/>
          </a:prstGeom>
          <a:solidFill>
            <a:srgbClr val="AD5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 검증 범위"/>
          <p:cNvSpPr txBox="1"/>
          <p:nvPr/>
        </p:nvSpPr>
        <p:spPr>
          <a:xfrm>
            <a:off x="8430768" y="4626864"/>
            <a:ext cx="296265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AD572B"/>
                </a:solidFill>
                <a:latin typeface="Noto Sans CJK KR"/>
                <a:ea typeface="Noto Sans CJK KR"/>
                <a:latin typeface="Noto Sans CJK KR"/>
              </a:rPr>
              <a:t>검증 범위</a:t>
            </a:r>
          </a:p>
        </p:txBody>
      </p:sp>
      <p:sp>
        <p:nvSpPr>
          <p:cNvPr id="21" name="TEXT 교육용 Fake·Simulator Graph"/>
          <p:cNvSpPr txBox="1"/>
          <p:nvPr/>
        </p:nvSpPr>
        <p:spPr>
          <a:xfrm>
            <a:off x="8430768" y="5312664"/>
            <a:ext cx="2962656" cy="694944"/>
          </a:xfrm>
          <a:prstGeom prst="rect">
            <a:avLst/>
          </a:prstGeom>
          <a:noFill/>
        </p:spPr>
        <p:txBody>
          <a:bodyPr wrap="square" lIns="0" rIns="0" tIns="0" bIns="0">
            <a:noAutofit/>
          </a:bodyPr>
          <a:lstStyle/>
          <a:p>
            <a:pPr algn="l">
              <a:lnSpc>
                <a:spcPct val="116000"/>
              </a:lnSpc>
              <a:spcBef>
                <a:spcPts val="0"/>
              </a:spcBef>
              <a:spcAft>
                <a:spcPts val="0"/>
              </a:spcAft>
            </a:pPr>
            <a:r>
              <a:rPr sz="2000" b="0">
                <a:solidFill>
                  <a:srgbClr val="172B2A"/>
                </a:solidFill>
                <a:latin typeface="Noto Sans CJK KR"/>
                <a:ea typeface="Noto Sans CJK KR"/>
                <a:latin typeface="Noto Sans CJK KR"/>
              </a:rPr>
              <a:t>교육용 Fake·Simulator Graph</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3  /  실무·검증·운영"/>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3  /  실무·검증·운영</a:t>
            </a:r>
          </a:p>
        </p:txBody>
      </p:sp>
      <p:sp>
        <p:nvSpPr>
          <p:cNvPr id="3" name="TEXT Agent 품질 평가"/>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Agent 품질 평가</a:t>
            </a:r>
          </a:p>
        </p:txBody>
      </p:sp>
      <p:sp>
        <p:nvSpPr>
          <p:cNvPr id="4" name="TEXT 대표 업무와 실패 사례를 고정해 변경 전후를 비교한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대표 업무와 실패 사례를 고정해 변경 전후를 비교한다.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10"/>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C10</a:t>
            </a:r>
          </a:p>
        </p:txBody>
      </p:sp>
      <p:sp>
        <p:nvSpPr>
          <p:cNvPr id="8" name="TEXT 50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50 / 72</a:t>
            </a:r>
          </a:p>
        </p:txBody>
      </p:sp>
      <p:sp>
        <p:nvSpPr>
          <p:cNvPr id="9" name="TEXT 심화 A10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A10 →</a:t>
            </a:r>
          </a:p>
        </p:txBody>
      </p:sp>
      <p:graphicFrame>
        <p:nvGraphicFramePr>
          <p:cNvPr id="10" name="Table 9"/>
          <p:cNvGraphicFramePr>
            <a:graphicFrameLocks noGrp="1"/>
          </p:cNvGraphicFramePr>
          <p:nvPr/>
        </p:nvGraphicFramePr>
        <p:xfrm>
          <a:off x="594360" y="2587752"/>
          <a:ext cx="11000231" cy="3557016"/>
        </p:xfrm>
        <a:graphic>
          <a:graphicData uri="http://schemas.openxmlformats.org/drawingml/2006/table">
            <a:tbl>
              <a:tblPr firstRow="1" bandRow="1">
                <a:tableStyleId>{5C22544A-7EE6-4342-B048-85BDC9FD1C3A}</a:tableStyleId>
              </a:tblPr>
              <a:tblGrid>
                <a:gridCol w="2750058"/>
                <a:gridCol w="4290090"/>
                <a:gridCol w="3960083"/>
              </a:tblGrid>
              <a:tr h="484632">
                <a:tc>
                  <a:txBody>
                    <a:bodyPr/>
                    <a:lstStyle/>
                    <a:p>
                      <a:pPr>
                        <a:lnSpc>
                          <a:spcPct val="113000"/>
                        </a:lnSpc>
                        <a:spcAft>
                          <a:spcPts val="0"/>
                        </a:spcAft>
                      </a:pPr>
                      <a:r>
                        <a:rPr sz="1800" b="1">
                          <a:solidFill>
                            <a:srgbClr val="126858"/>
                          </a:solidFill>
                          <a:latin typeface="Noto Sans CJK KR"/>
                        </a:rPr>
                        <a:t>평가 입력</a:t>
                      </a:r>
                    </a:p>
                  </a:txBody>
                  <a:tcPr marL="137160" marR="91440" marT="91440" marB="54864" anchor="ctr">
                    <a:solidFill>
                      <a:srgbClr val="E3EFE7"/>
                    </a:solidFill>
                  </a:tcPr>
                </a:tc>
                <a:tc>
                  <a:txBody>
                    <a:bodyPr/>
                    <a:lstStyle/>
                    <a:p>
                      <a:pPr>
                        <a:lnSpc>
                          <a:spcPct val="113000"/>
                        </a:lnSpc>
                        <a:spcAft>
                          <a:spcPts val="0"/>
                        </a:spcAft>
                      </a:pPr>
                      <a:r>
                        <a:rPr sz="1800" b="1">
                          <a:solidFill>
                            <a:srgbClr val="126858"/>
                          </a:solidFill>
                          <a:latin typeface="Noto Sans CJK KR"/>
                        </a:rPr>
                        <a:t>관측 기준</a:t>
                      </a:r>
                    </a:p>
                  </a:txBody>
                  <a:tcPr marL="137160" marR="91440" marT="91440" marB="54864" anchor="ctr">
                    <a:solidFill>
                      <a:srgbClr val="E3EFE7"/>
                    </a:solidFill>
                  </a:tcPr>
                </a:tc>
                <a:tc>
                  <a:txBody>
                    <a:bodyPr/>
                    <a:lstStyle/>
                    <a:p>
                      <a:pPr>
                        <a:lnSpc>
                          <a:spcPct val="113000"/>
                        </a:lnSpc>
                        <a:spcAft>
                          <a:spcPts val="0"/>
                        </a:spcAft>
                      </a:pPr>
                      <a:r>
                        <a:rPr sz="1800" b="1">
                          <a:solidFill>
                            <a:srgbClr val="126858"/>
                          </a:solidFill>
                          <a:latin typeface="Noto Sans CJK KR"/>
                        </a:rPr>
                        <a:t>주의</a:t>
                      </a:r>
                    </a:p>
                  </a:txBody>
                  <a:tcPr marL="137160" marR="91440" marT="91440" marB="54864" anchor="ctr">
                    <a:solidFill>
                      <a:srgbClr val="E3EFE7"/>
                    </a:solidFill>
                  </a:tcPr>
                </a:tc>
              </a:tr>
              <a:tr h="768096">
                <a:tc>
                  <a:txBody>
                    <a:bodyPr/>
                    <a:lstStyle/>
                    <a:p>
                      <a:pPr>
                        <a:lnSpc>
                          <a:spcPct val="113000"/>
                        </a:lnSpc>
                        <a:spcAft>
                          <a:spcPts val="0"/>
                        </a:spcAft>
                      </a:pPr>
                      <a:r>
                        <a:rPr sz="2000" b="1">
                          <a:solidFill>
                            <a:srgbClr val="172B2A"/>
                          </a:solidFill>
                          <a:latin typeface="Noto Sans CJK KR"/>
                        </a:rPr>
                        <a:t>근거 충분한 질문</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정확성·근거 충실도</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출처와 주장 연결</a:t>
                      </a:r>
                    </a:p>
                  </a:txBody>
                  <a:tcPr marL="137160" marR="91440" marT="91440" marB="54864" anchor="ctr">
                    <a:solidFill>
                      <a:srgbClr val="FFFEF9"/>
                    </a:solidFill>
                  </a:tcPr>
                </a:tc>
              </a:tr>
              <a:tr h="768096">
                <a:tc>
                  <a:txBody>
                    <a:bodyPr/>
                    <a:lstStyle/>
                    <a:p>
                      <a:pPr>
                        <a:lnSpc>
                          <a:spcPct val="113000"/>
                        </a:lnSpc>
                        <a:spcAft>
                          <a:spcPts val="0"/>
                        </a:spcAft>
                      </a:pPr>
                      <a:r>
                        <a:rPr sz="2000" b="1">
                          <a:solidFill>
                            <a:srgbClr val="172B2A"/>
                          </a:solidFill>
                          <a:latin typeface="Noto Sans CJK KR"/>
                        </a:rPr>
                        <a:t>문서가 없는 질문</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적절한 거부·추가 질문</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그럴듯한 창작 방지</a:t>
                      </a:r>
                    </a:p>
                  </a:txBody>
                  <a:tcPr marL="137160" marR="91440" marT="91440" marB="54864" anchor="ctr">
                    <a:solidFill>
                      <a:srgbClr val="EDF0E9"/>
                    </a:solidFill>
                  </a:tcPr>
                </a:tc>
              </a:tr>
              <a:tr h="768096">
                <a:tc>
                  <a:txBody>
                    <a:bodyPr/>
                    <a:lstStyle/>
                    <a:p>
                      <a:pPr>
                        <a:lnSpc>
                          <a:spcPct val="113000"/>
                        </a:lnSpc>
                        <a:spcAft>
                          <a:spcPts val="0"/>
                        </a:spcAft>
                      </a:pPr>
                      <a:r>
                        <a:rPr sz="2000" b="1">
                          <a:solidFill>
                            <a:srgbClr val="172B2A"/>
                          </a:solidFill>
                          <a:latin typeface="Noto Sans CJK KR"/>
                        </a:rPr>
                        <a:t>다른 서비스 문서</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범위 불일치 감지</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ID 존재만 평가하지 않음</a:t>
                      </a:r>
                    </a:p>
                  </a:txBody>
                  <a:tcPr marL="137160" marR="91440" marT="91440" marB="54864" anchor="ctr">
                    <a:solidFill>
                      <a:srgbClr val="FFFEF9"/>
                    </a:solidFill>
                  </a:tcPr>
                </a:tc>
              </a:tr>
              <a:tr h="768096">
                <a:tc>
                  <a:txBody>
                    <a:bodyPr/>
                    <a:lstStyle/>
                    <a:p>
                      <a:pPr>
                        <a:lnSpc>
                          <a:spcPct val="113000"/>
                        </a:lnSpc>
                        <a:spcAft>
                          <a:spcPts val="0"/>
                        </a:spcAft>
                      </a:pPr>
                      <a:r>
                        <a:rPr sz="2000" b="1">
                          <a:solidFill>
                            <a:srgbClr val="172B2A"/>
                          </a:solidFill>
                          <a:latin typeface="Noto Sans CJK KR"/>
                        </a:rPr>
                        <a:t>오염된 문서</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지침 경계 유지</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실행 권한 별도 검사</a:t>
                      </a:r>
                    </a:p>
                  </a:txBody>
                  <a:tcPr marL="137160" marR="91440" marT="91440" marB="54864" anchor="ctr">
                    <a:solidFill>
                      <a:srgbClr val="EDF0E9"/>
                    </a:solidFill>
                  </a:tcPr>
                </a:tc>
              </a:tr>
            </a:tbl>
          </a:graphicData>
        </a:graphic>
      </p:graphicFrame>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3  /  실무·검증·운영"/>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3  /  실무·검증·운영</a:t>
            </a:r>
          </a:p>
        </p:txBody>
      </p:sp>
      <p:sp>
        <p:nvSpPr>
          <p:cNvPr id="3" name="TEXT Trace와 업무 State"/>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Trace와 업무 State</a:t>
            </a:r>
          </a:p>
        </p:txBody>
      </p:sp>
      <p:sp>
        <p:nvSpPr>
          <p:cNvPr id="4" name="TEXT 진단을 위한 상세 기록과 재개를 위한 업무 결과는 목적이 다르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진단을 위한 상세 기록과 재개를 위한 업무 결과는 목적이 다르다.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10"/>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C10</a:t>
            </a:r>
          </a:p>
        </p:txBody>
      </p:sp>
      <p:sp>
        <p:nvSpPr>
          <p:cNvPr id="8" name="TEXT 51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51 / 72</a:t>
            </a:r>
          </a:p>
        </p:txBody>
      </p:sp>
      <p:sp>
        <p:nvSpPr>
          <p:cNvPr id="9" name="TEXT 심화 A01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A01 →</a:t>
            </a:r>
          </a:p>
        </p:txBody>
      </p:sp>
      <p:sp>
        <p:nvSpPr>
          <p:cNvPr id="10" name="Rounded Rectangle 9"/>
          <p:cNvSpPr/>
          <p:nvPr/>
        </p:nvSpPr>
        <p:spPr>
          <a:xfrm>
            <a:off x="594360" y="2606040"/>
            <a:ext cx="5376672" cy="3364992"/>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2606040"/>
            <a:ext cx="54864" cy="3364992"/>
          </a:xfrm>
          <a:prstGeom prst="rect">
            <a:avLst/>
          </a:prstGeom>
          <a:solidFill>
            <a:srgbClr val="126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업무 State"/>
          <p:cNvSpPr txBox="1"/>
          <p:nvPr/>
        </p:nvSpPr>
        <p:spPr>
          <a:xfrm>
            <a:off x="795528" y="2788920"/>
            <a:ext cx="497433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업무 State</a:t>
            </a:r>
          </a:p>
        </p:txBody>
      </p:sp>
      <p:sp>
        <p:nvSpPr>
          <p:cNvPr id="13" name="TEXT "/>
          <p:cNvSpPr txBox="1"/>
          <p:nvPr/>
        </p:nvSpPr>
        <p:spPr>
          <a:xfrm>
            <a:off x="795528" y="3474720"/>
            <a:ext cx="4974336" cy="2359152"/>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a:r>
          </a:p>
        </p:txBody>
      </p:sp>
      <p:sp>
        <p:nvSpPr>
          <p:cNvPr id="14" name="TEXT • 확정된 입력·조사·결정"/>
          <p:cNvSpPr txBox="1"/>
          <p:nvPr/>
        </p:nvSpPr>
        <p:spPr>
          <a:xfrm>
            <a:off x="822960" y="3511296"/>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확정된 입력·조사·결정</a:t>
            </a:r>
          </a:p>
        </p:txBody>
      </p:sp>
      <p:sp>
        <p:nvSpPr>
          <p:cNvPr id="15" name="TEXT • 승인·실행 결과"/>
          <p:cNvSpPr txBox="1"/>
          <p:nvPr/>
        </p:nvSpPr>
        <p:spPr>
          <a:xfrm>
            <a:off x="822960" y="4206240"/>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승인·실행 결과</a:t>
            </a:r>
          </a:p>
        </p:txBody>
      </p:sp>
      <p:sp>
        <p:nvSpPr>
          <p:cNvPr id="16" name="TEXT • 재개에 필요한 최소 데이터"/>
          <p:cNvSpPr txBox="1"/>
          <p:nvPr/>
        </p:nvSpPr>
        <p:spPr>
          <a:xfrm>
            <a:off x="822960" y="4901183"/>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재개에 필요한 최소 데이터</a:t>
            </a:r>
          </a:p>
        </p:txBody>
      </p:sp>
      <p:sp>
        <p:nvSpPr>
          <p:cNvPr id="17" name="Rounded Rectangle 16"/>
          <p:cNvSpPr/>
          <p:nvPr/>
        </p:nvSpPr>
        <p:spPr>
          <a:xfrm>
            <a:off x="6217920" y="2606040"/>
            <a:ext cx="5376672" cy="3364992"/>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2606040"/>
            <a:ext cx="54864" cy="3364992"/>
          </a:xfrm>
          <a:prstGeom prst="rect">
            <a:avLst/>
          </a:prstGeom>
          <a:solidFill>
            <a:srgbClr val="AD5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상세 Trace"/>
          <p:cNvSpPr txBox="1"/>
          <p:nvPr/>
        </p:nvSpPr>
        <p:spPr>
          <a:xfrm>
            <a:off x="6419088" y="2788920"/>
            <a:ext cx="497433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AD572B"/>
                </a:solidFill>
                <a:latin typeface="Noto Sans CJK KR"/>
                <a:ea typeface="Noto Sans CJK KR"/>
                <a:latin typeface="Noto Sans CJK KR"/>
              </a:rPr>
              <a:t>상세 Trace</a:t>
            </a:r>
          </a:p>
        </p:txBody>
      </p:sp>
      <p:sp>
        <p:nvSpPr>
          <p:cNvPr id="20" name="TEXT "/>
          <p:cNvSpPr txBox="1"/>
          <p:nvPr/>
        </p:nvSpPr>
        <p:spPr>
          <a:xfrm>
            <a:off x="6419088" y="3474720"/>
            <a:ext cx="4974336" cy="2359152"/>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a:r>
          </a:p>
        </p:txBody>
      </p:sp>
      <p:sp>
        <p:nvSpPr>
          <p:cNvPr id="21" name="TEXT • 호출 순서·지연·오류"/>
          <p:cNvSpPr txBox="1"/>
          <p:nvPr/>
        </p:nvSpPr>
        <p:spPr>
          <a:xfrm>
            <a:off x="6446520" y="3511296"/>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호출 순서·지연·오류</a:t>
            </a:r>
          </a:p>
        </p:txBody>
      </p:sp>
      <p:sp>
        <p:nvSpPr>
          <p:cNvPr id="22" name="TEXT • 모델·Tool별 진단 정보"/>
          <p:cNvSpPr txBox="1"/>
          <p:nvPr/>
        </p:nvSpPr>
        <p:spPr>
          <a:xfrm>
            <a:off x="6446520" y="4206240"/>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모델·Tool별 진단 정보</a:t>
            </a:r>
          </a:p>
        </p:txBody>
      </p:sp>
      <p:sp>
        <p:nvSpPr>
          <p:cNvPr id="23" name="TEXT • 별도 보관·접근·삭제 정책"/>
          <p:cNvSpPr txBox="1"/>
          <p:nvPr/>
        </p:nvSpPr>
        <p:spPr>
          <a:xfrm>
            <a:off x="6446520" y="4901183"/>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별도 보관·접근·삭제 정책</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3  /  실무·검증·운영"/>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3  /  실무·검증·운영</a:t>
            </a:r>
          </a:p>
        </p:txBody>
      </p:sp>
      <p:sp>
        <p:nvSpPr>
          <p:cNvPr id="3" name="TEXT 지연시간과 사용량"/>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지연시간과 사용량</a:t>
            </a:r>
          </a:p>
        </p:txBody>
      </p:sp>
      <p:sp>
        <p:nvSpPr>
          <p:cNvPr id="4" name="TEXT 측정 범위·대기 시간·누락 값을 함께 표시한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측정 범위·대기 시간·누락 값을 함께 표시한다.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10"/>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C10</a:t>
            </a:r>
          </a:p>
        </p:txBody>
      </p:sp>
      <p:sp>
        <p:nvSpPr>
          <p:cNvPr id="8" name="TEXT 52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52 / 72</a:t>
            </a:r>
          </a:p>
        </p:txBody>
      </p:sp>
      <p:sp>
        <p:nvSpPr>
          <p:cNvPr id="9" name="TEXT 심화 A10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A10 →</a:t>
            </a:r>
          </a:p>
        </p:txBody>
      </p:sp>
      <p:graphicFrame>
        <p:nvGraphicFramePr>
          <p:cNvPr id="10" name="Table 9"/>
          <p:cNvGraphicFramePr>
            <a:graphicFrameLocks noGrp="1"/>
          </p:cNvGraphicFramePr>
          <p:nvPr/>
        </p:nvGraphicFramePr>
        <p:xfrm>
          <a:off x="594360" y="2587752"/>
          <a:ext cx="11000231" cy="3557016"/>
        </p:xfrm>
        <a:graphic>
          <a:graphicData uri="http://schemas.openxmlformats.org/drawingml/2006/table">
            <a:tbl>
              <a:tblPr firstRow="1" bandRow="1">
                <a:tableStyleId>{5C22544A-7EE6-4342-B048-85BDC9FD1C3A}</a:tableStyleId>
              </a:tblPr>
              <a:tblGrid>
                <a:gridCol w="2750058"/>
                <a:gridCol w="4290090"/>
                <a:gridCol w="3960083"/>
              </a:tblGrid>
              <a:tr h="484632">
                <a:tc>
                  <a:txBody>
                    <a:bodyPr/>
                    <a:lstStyle/>
                    <a:p>
                      <a:pPr>
                        <a:lnSpc>
                          <a:spcPct val="113000"/>
                        </a:lnSpc>
                        <a:spcAft>
                          <a:spcPts val="0"/>
                        </a:spcAft>
                      </a:pPr>
                      <a:r>
                        <a:rPr sz="1800" b="1">
                          <a:solidFill>
                            <a:srgbClr val="126858"/>
                          </a:solidFill>
                          <a:latin typeface="Noto Sans CJK KR"/>
                        </a:rPr>
                        <a:t>지표</a:t>
                      </a:r>
                    </a:p>
                  </a:txBody>
                  <a:tcPr marL="137160" marR="91440" marT="91440" marB="54864" anchor="ctr">
                    <a:solidFill>
                      <a:srgbClr val="E3EFE7"/>
                    </a:solidFill>
                  </a:tcPr>
                </a:tc>
                <a:tc>
                  <a:txBody>
                    <a:bodyPr/>
                    <a:lstStyle/>
                    <a:p>
                      <a:pPr>
                        <a:lnSpc>
                          <a:spcPct val="113000"/>
                        </a:lnSpc>
                        <a:spcAft>
                          <a:spcPts val="0"/>
                        </a:spcAft>
                      </a:pPr>
                      <a:r>
                        <a:rPr sz="1800" b="1">
                          <a:solidFill>
                            <a:srgbClr val="126858"/>
                          </a:solidFill>
                          <a:latin typeface="Noto Sans CJK KR"/>
                        </a:rPr>
                        <a:t>명시할 범위</a:t>
                      </a:r>
                    </a:p>
                  </a:txBody>
                  <a:tcPr marL="137160" marR="91440" marT="91440" marB="54864" anchor="ctr">
                    <a:solidFill>
                      <a:srgbClr val="E3EFE7"/>
                    </a:solidFill>
                  </a:tcPr>
                </a:tc>
                <a:tc>
                  <a:txBody>
                    <a:bodyPr/>
                    <a:lstStyle/>
                    <a:p>
                      <a:pPr>
                        <a:lnSpc>
                          <a:spcPct val="113000"/>
                        </a:lnSpc>
                        <a:spcAft>
                          <a:spcPts val="0"/>
                        </a:spcAft>
                      </a:pPr>
                      <a:r>
                        <a:rPr sz="1800" b="1">
                          <a:solidFill>
                            <a:srgbClr val="126858"/>
                          </a:solidFill>
                          <a:latin typeface="Noto Sans CJK KR"/>
                        </a:rPr>
                        <a:t>해석 오류 방지</a:t>
                      </a:r>
                    </a:p>
                  </a:txBody>
                  <a:tcPr marL="137160" marR="91440" marT="91440" marB="54864" anchor="ctr">
                    <a:solidFill>
                      <a:srgbClr val="E3EFE7"/>
                    </a:solidFill>
                  </a:tcPr>
                </a:tc>
              </a:tr>
              <a:tr h="768096">
                <a:tc>
                  <a:txBody>
                    <a:bodyPr/>
                    <a:lstStyle/>
                    <a:p>
                      <a:pPr>
                        <a:lnSpc>
                          <a:spcPct val="113000"/>
                        </a:lnSpc>
                        <a:spcAft>
                          <a:spcPts val="0"/>
                        </a:spcAft>
                      </a:pPr>
                      <a:r>
                        <a:rPr sz="2000" b="1">
                          <a:solidFill>
                            <a:srgbClr val="172B2A"/>
                          </a:solidFill>
                          <a:latin typeface="Noto Sans CJK KR"/>
                        </a:rPr>
                        <a:t>전체 지연</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접수 → 최종 보고</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승인 대기 시간을 분리</a:t>
                      </a:r>
                    </a:p>
                  </a:txBody>
                  <a:tcPr marL="137160" marR="91440" marT="91440" marB="54864" anchor="ctr">
                    <a:solidFill>
                      <a:srgbClr val="FFFEF9"/>
                    </a:solidFill>
                  </a:tcPr>
                </a:tc>
              </a:tr>
              <a:tr h="768096">
                <a:tc>
                  <a:txBody>
                    <a:bodyPr/>
                    <a:lstStyle/>
                    <a:p>
                      <a:pPr>
                        <a:lnSpc>
                          <a:spcPct val="113000"/>
                        </a:lnSpc>
                        <a:spcAft>
                          <a:spcPts val="0"/>
                        </a:spcAft>
                      </a:pPr>
                      <a:r>
                        <a:rPr sz="2000" b="1">
                          <a:solidFill>
                            <a:srgbClr val="172B2A"/>
                          </a:solidFill>
                          <a:latin typeface="Noto Sans CJK KR"/>
                        </a:rPr>
                        <a:t>Agent 지연</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각 호출·재시도 포함 여부</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병렬 합류와 구분</a:t>
                      </a:r>
                    </a:p>
                  </a:txBody>
                  <a:tcPr marL="137160" marR="91440" marT="91440" marB="54864" anchor="ctr">
                    <a:solidFill>
                      <a:srgbClr val="EDF0E9"/>
                    </a:solidFill>
                  </a:tcPr>
                </a:tc>
              </a:tr>
              <a:tr h="768096">
                <a:tc>
                  <a:txBody>
                    <a:bodyPr/>
                    <a:lstStyle/>
                    <a:p>
                      <a:pPr>
                        <a:lnSpc>
                          <a:spcPct val="113000"/>
                        </a:lnSpc>
                        <a:spcAft>
                          <a:spcPts val="0"/>
                        </a:spcAft>
                      </a:pPr>
                      <a:r>
                        <a:rPr sz="2000" b="1">
                          <a:solidFill>
                            <a:srgbClr val="172B2A"/>
                          </a:solidFill>
                          <a:latin typeface="Noto Sans CJK KR"/>
                        </a:rPr>
                        <a:t>호출·실패율</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Tool 시도 수 또는 요청 수</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분모를 명시</a:t>
                      </a:r>
                    </a:p>
                  </a:txBody>
                  <a:tcPr marL="137160" marR="91440" marT="91440" marB="54864" anchor="ctr">
                    <a:solidFill>
                      <a:srgbClr val="FFFEF9"/>
                    </a:solidFill>
                  </a:tcPr>
                </a:tc>
              </a:tr>
              <a:tr h="768096">
                <a:tc>
                  <a:txBody>
                    <a:bodyPr/>
                    <a:lstStyle/>
                    <a:p>
                      <a:pPr>
                        <a:lnSpc>
                          <a:spcPct val="113000"/>
                        </a:lnSpc>
                        <a:spcAft>
                          <a:spcPts val="0"/>
                        </a:spcAft>
                      </a:pPr>
                      <a:r>
                        <a:rPr sz="2000" b="1">
                          <a:solidFill>
                            <a:srgbClr val="172B2A"/>
                          </a:solidFill>
                          <a:latin typeface="Noto Sans CJK KR"/>
                        </a:rPr>
                        <a:t>토큰 사용량</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Provider 보고 범위</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누락은 unknown, 0 아님</a:t>
                      </a:r>
                    </a:p>
                  </a:txBody>
                  <a:tcPr marL="137160" marR="91440" marT="91440" marB="54864" anchor="ctr">
                    <a:solidFill>
                      <a:srgbClr val="EDF0E9"/>
                    </a:solidFill>
                  </a:tcPr>
                </a:tc>
              </a:tr>
            </a:tbl>
          </a:graphicData>
        </a:graphic>
      </p:graphicFrame>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3  /  실무·검증·운영"/>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3  /  실무·검증·운영</a:t>
            </a:r>
          </a:p>
        </p:txBody>
      </p:sp>
      <p:sp>
        <p:nvSpPr>
          <p:cNvPr id="3" name="TEXT 비용과 응답시간 조정"/>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비용과 응답시간 조정</a:t>
            </a:r>
          </a:p>
        </p:txBody>
      </p:sp>
      <p:sp>
        <p:nvSpPr>
          <p:cNvPr id="4" name="TEXT 호출 수·Context·병렬화의 효과를 같은 기준으로 비교한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호출 수·Context·병렬화의 효과를 같은 기준으로 비교한다.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10"/>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C10</a:t>
            </a:r>
          </a:p>
        </p:txBody>
      </p:sp>
      <p:sp>
        <p:nvSpPr>
          <p:cNvPr id="8" name="TEXT 53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53 / 72</a:t>
            </a:r>
          </a:p>
        </p:txBody>
      </p:sp>
      <p:sp>
        <p:nvSpPr>
          <p:cNvPr id="9" name="TEXT 심화 A10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A10 →</a:t>
            </a:r>
          </a:p>
        </p:txBody>
      </p:sp>
      <p:sp>
        <p:nvSpPr>
          <p:cNvPr id="10" name="Rounded Rectangle 9"/>
          <p:cNvSpPr/>
          <p:nvPr/>
        </p:nvSpPr>
        <p:spPr>
          <a:xfrm>
            <a:off x="594360" y="2660904"/>
            <a:ext cx="3547872" cy="3154680"/>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2660904"/>
            <a:ext cx="54864" cy="3154680"/>
          </a:xfrm>
          <a:prstGeom prst="rect">
            <a:avLst/>
          </a:prstGeom>
          <a:solidFill>
            <a:srgbClr val="126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Context 선택"/>
          <p:cNvSpPr txBox="1"/>
          <p:nvPr/>
        </p:nvSpPr>
        <p:spPr>
          <a:xfrm>
            <a:off x="795528" y="2843784"/>
            <a:ext cx="314553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Context 선택</a:t>
            </a:r>
          </a:p>
        </p:txBody>
      </p:sp>
      <p:sp>
        <p:nvSpPr>
          <p:cNvPr id="13" name="TEXT 관련 근거만 전달&#10;정확성·토큰 함께 평가"/>
          <p:cNvSpPr txBox="1"/>
          <p:nvPr/>
        </p:nvSpPr>
        <p:spPr>
          <a:xfrm>
            <a:off x="795528" y="3529584"/>
            <a:ext cx="3145536" cy="2148840"/>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관련 근거만 전달</a:t>
            </a:r>
          </a:p>
          <a:p>
            <a:pPr algn="l">
              <a:lnSpc>
                <a:spcPct val="116000"/>
              </a:lnSpc>
              <a:spcBef>
                <a:spcPts val="0"/>
              </a:spcBef>
              <a:spcAft>
                <a:spcPts val="0"/>
              </a:spcAft>
            </a:pPr>
            <a:r>
              <a:rPr sz="2200" b="0">
                <a:solidFill>
                  <a:srgbClr val="172B2A"/>
                </a:solidFill>
                <a:latin typeface="Noto Sans CJK KR"/>
                <a:ea typeface="Noto Sans CJK KR"/>
                <a:latin typeface="Noto Sans CJK KR"/>
              </a:rPr>
              <a:t>정확성·토큰 함께 평가</a:t>
            </a:r>
          </a:p>
        </p:txBody>
      </p:sp>
      <p:sp>
        <p:nvSpPr>
          <p:cNvPr id="14" name="Rounded Rectangle 13"/>
          <p:cNvSpPr/>
          <p:nvPr/>
        </p:nvSpPr>
        <p:spPr>
          <a:xfrm>
            <a:off x="4315968" y="2660904"/>
            <a:ext cx="3547872" cy="3154680"/>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15968" y="2660904"/>
            <a:ext cx="54864" cy="3154680"/>
          </a:xfrm>
          <a:prstGeom prst="rect">
            <a:avLst/>
          </a:prstGeom>
          <a:solidFill>
            <a:srgbClr val="345C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호출 수 조정"/>
          <p:cNvSpPr txBox="1"/>
          <p:nvPr/>
        </p:nvSpPr>
        <p:spPr>
          <a:xfrm>
            <a:off x="4517136" y="2843784"/>
            <a:ext cx="314553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345CB5"/>
                </a:solidFill>
                <a:latin typeface="Noto Sans CJK KR"/>
                <a:ea typeface="Noto Sans CJK KR"/>
                <a:latin typeface="Noto Sans CJK KR"/>
              </a:rPr>
              <a:t>호출 수 조정</a:t>
            </a:r>
          </a:p>
        </p:txBody>
      </p:sp>
      <p:sp>
        <p:nvSpPr>
          <p:cNvPr id="17" name="TEXT 중복 조회·불필요한 Agent 제거&#10;실패율·비용 함께 비교"/>
          <p:cNvSpPr txBox="1"/>
          <p:nvPr/>
        </p:nvSpPr>
        <p:spPr>
          <a:xfrm>
            <a:off x="4517136" y="3529584"/>
            <a:ext cx="3145536" cy="2148840"/>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중복 조회·불필요한 Agent 제거</a:t>
            </a:r>
          </a:p>
          <a:p>
            <a:pPr algn="l">
              <a:lnSpc>
                <a:spcPct val="116000"/>
              </a:lnSpc>
              <a:spcBef>
                <a:spcPts val="0"/>
              </a:spcBef>
              <a:spcAft>
                <a:spcPts val="0"/>
              </a:spcAft>
            </a:pPr>
            <a:r>
              <a:rPr sz="2200" b="0">
                <a:solidFill>
                  <a:srgbClr val="172B2A"/>
                </a:solidFill>
                <a:latin typeface="Noto Sans CJK KR"/>
                <a:ea typeface="Noto Sans CJK KR"/>
                <a:latin typeface="Noto Sans CJK KR"/>
              </a:rPr>
              <a:t>실패율·비용 함께 비교</a:t>
            </a:r>
          </a:p>
        </p:txBody>
      </p:sp>
      <p:sp>
        <p:nvSpPr>
          <p:cNvPr id="18" name="Rounded Rectangle 17"/>
          <p:cNvSpPr/>
          <p:nvPr/>
        </p:nvSpPr>
        <p:spPr>
          <a:xfrm>
            <a:off x="8037576" y="2660904"/>
            <a:ext cx="3547872" cy="3154680"/>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37576" y="2660904"/>
            <a:ext cx="54864" cy="3154680"/>
          </a:xfrm>
          <a:prstGeom prst="rect">
            <a:avLst/>
          </a:prstGeom>
          <a:solidFill>
            <a:srgbClr val="AD5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 병렬화"/>
          <p:cNvSpPr txBox="1"/>
          <p:nvPr/>
        </p:nvSpPr>
        <p:spPr>
          <a:xfrm>
            <a:off x="8238744" y="2843784"/>
            <a:ext cx="314553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AD572B"/>
                </a:solidFill>
                <a:latin typeface="Noto Sans CJK KR"/>
                <a:ea typeface="Noto Sans CJK KR"/>
                <a:latin typeface="Noto Sans CJK KR"/>
              </a:rPr>
              <a:t>병렬화</a:t>
            </a:r>
          </a:p>
        </p:txBody>
      </p:sp>
      <p:sp>
        <p:nvSpPr>
          <p:cNvPr id="21" name="TEXT 독립 작업만 동시 실행&#10;합류·자원 제한 확인"/>
          <p:cNvSpPr txBox="1"/>
          <p:nvPr/>
        </p:nvSpPr>
        <p:spPr>
          <a:xfrm>
            <a:off x="8238744" y="3529584"/>
            <a:ext cx="3145536" cy="2148840"/>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독립 작업만 동시 실행</a:t>
            </a:r>
          </a:p>
          <a:p>
            <a:pPr algn="l">
              <a:lnSpc>
                <a:spcPct val="116000"/>
              </a:lnSpc>
              <a:spcBef>
                <a:spcPts val="0"/>
              </a:spcBef>
              <a:spcAft>
                <a:spcPts val="0"/>
              </a:spcAft>
            </a:pPr>
            <a:r>
              <a:rPr sz="2200" b="0">
                <a:solidFill>
                  <a:srgbClr val="172B2A"/>
                </a:solidFill>
                <a:latin typeface="Noto Sans CJK KR"/>
                <a:ea typeface="Noto Sans CJK KR"/>
                <a:latin typeface="Noto Sans CJK KR"/>
              </a:rPr>
              <a:t>합류·자원 제한 확인</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3  /  실무·검증·운영"/>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3  /  실무·검증·운영</a:t>
            </a:r>
          </a:p>
        </p:txBody>
      </p:sp>
      <p:sp>
        <p:nvSpPr>
          <p:cNvPr id="3" name="TEXT 통합 시연"/>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통합 시연</a:t>
            </a:r>
          </a:p>
        </p:txBody>
      </p:sp>
      <p:sp>
        <p:nvSpPr>
          <p:cNvPr id="4" name="TEXT 같은 입력으로 승인·거부·근거 부족 경로를 비교한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같은 입력으로 승인·거부·근거 부족 경로를 비교한다.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11"/>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C11</a:t>
            </a:r>
          </a:p>
        </p:txBody>
      </p:sp>
      <p:sp>
        <p:nvSpPr>
          <p:cNvPr id="8" name="TEXT 54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54 / 72</a:t>
            </a:r>
          </a:p>
        </p:txBody>
      </p:sp>
      <p:sp>
        <p:nvSpPr>
          <p:cNvPr id="9" name="TEXT 심화 A11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A11 →</a:t>
            </a:r>
          </a:p>
        </p:txBody>
      </p:sp>
      <p:graphicFrame>
        <p:nvGraphicFramePr>
          <p:cNvPr id="10" name="Table 9"/>
          <p:cNvGraphicFramePr>
            <a:graphicFrameLocks noGrp="1"/>
          </p:cNvGraphicFramePr>
          <p:nvPr/>
        </p:nvGraphicFramePr>
        <p:xfrm>
          <a:off x="594360" y="2587752"/>
          <a:ext cx="11000231" cy="3557016"/>
        </p:xfrm>
        <a:graphic>
          <a:graphicData uri="http://schemas.openxmlformats.org/drawingml/2006/table">
            <a:tbl>
              <a:tblPr firstRow="1" bandRow="1">
                <a:tableStyleId>{5C22544A-7EE6-4342-B048-85BDC9FD1C3A}</a:tableStyleId>
              </a:tblPr>
              <a:tblGrid>
                <a:gridCol w="2750058"/>
                <a:gridCol w="4290090"/>
                <a:gridCol w="3960083"/>
              </a:tblGrid>
              <a:tr h="484632">
                <a:tc>
                  <a:txBody>
                    <a:bodyPr/>
                    <a:lstStyle/>
                    <a:p>
                      <a:pPr>
                        <a:lnSpc>
                          <a:spcPct val="113000"/>
                        </a:lnSpc>
                        <a:spcAft>
                          <a:spcPts val="0"/>
                        </a:spcAft>
                      </a:pPr>
                      <a:r>
                        <a:rPr sz="1800" b="1">
                          <a:solidFill>
                            <a:srgbClr val="126858"/>
                          </a:solidFill>
                          <a:latin typeface="Noto Sans CJK KR"/>
                        </a:rPr>
                        <a:t>교육용 경로</a:t>
                      </a:r>
                    </a:p>
                  </a:txBody>
                  <a:tcPr marL="137160" marR="91440" marT="91440" marB="54864" anchor="ctr">
                    <a:solidFill>
                      <a:srgbClr val="E3EFE7"/>
                    </a:solidFill>
                  </a:tcPr>
                </a:tc>
                <a:tc>
                  <a:txBody>
                    <a:bodyPr/>
                    <a:lstStyle/>
                    <a:p>
                      <a:pPr>
                        <a:lnSpc>
                          <a:spcPct val="113000"/>
                        </a:lnSpc>
                        <a:spcAft>
                          <a:spcPts val="0"/>
                        </a:spcAft>
                      </a:pPr>
                      <a:r>
                        <a:rPr sz="1800" b="1">
                          <a:solidFill>
                            <a:srgbClr val="126858"/>
                          </a:solidFill>
                          <a:latin typeface="Noto Sans CJK KR"/>
                        </a:rPr>
                        <a:t>최종 상태</a:t>
                      </a:r>
                    </a:p>
                  </a:txBody>
                  <a:tcPr marL="137160" marR="91440" marT="91440" marB="54864" anchor="ctr">
                    <a:solidFill>
                      <a:srgbClr val="E3EFE7"/>
                    </a:solidFill>
                  </a:tcPr>
                </a:tc>
                <a:tc>
                  <a:txBody>
                    <a:bodyPr/>
                    <a:lstStyle/>
                    <a:p>
                      <a:pPr>
                        <a:lnSpc>
                          <a:spcPct val="113000"/>
                        </a:lnSpc>
                        <a:spcAft>
                          <a:spcPts val="0"/>
                        </a:spcAft>
                      </a:pPr>
                      <a:r>
                        <a:rPr sz="1800" b="1">
                          <a:solidFill>
                            <a:srgbClr val="126858"/>
                          </a:solidFill>
                          <a:latin typeface="Noto Sans CJK KR"/>
                        </a:rPr>
                        <a:t>Simulator</a:t>
                      </a:r>
                    </a:p>
                  </a:txBody>
                  <a:tcPr marL="137160" marR="91440" marT="91440" marB="54864" anchor="ctr">
                    <a:solidFill>
                      <a:srgbClr val="E3EFE7"/>
                    </a:solidFill>
                  </a:tcPr>
                </a:tc>
              </a:tr>
              <a:tr h="768096">
                <a:tc>
                  <a:txBody>
                    <a:bodyPr/>
                    <a:lstStyle/>
                    <a:p>
                      <a:pPr>
                        <a:lnSpc>
                          <a:spcPct val="113000"/>
                        </a:lnSpc>
                        <a:spcAft>
                          <a:spcPts val="0"/>
                        </a:spcAft>
                      </a:pPr>
                      <a:r>
                        <a:rPr sz="2000" b="1">
                          <a:solidFill>
                            <a:srgbClr val="172B2A"/>
                          </a:solidFill>
                          <a:latin typeface="Noto Sans CJK KR"/>
                        </a:rPr>
                        <a:t>정상 + approve</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simulated</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1회</a:t>
                      </a:r>
                    </a:p>
                  </a:txBody>
                  <a:tcPr marL="137160" marR="91440" marT="91440" marB="54864" anchor="ctr">
                    <a:solidFill>
                      <a:srgbClr val="FFFEF9"/>
                    </a:solidFill>
                  </a:tcPr>
                </a:tc>
              </a:tr>
              <a:tr h="768096">
                <a:tc>
                  <a:txBody>
                    <a:bodyPr/>
                    <a:lstStyle/>
                    <a:p>
                      <a:pPr>
                        <a:lnSpc>
                          <a:spcPct val="113000"/>
                        </a:lnSpc>
                        <a:spcAft>
                          <a:spcPts val="0"/>
                        </a:spcAft>
                      </a:pPr>
                      <a:r>
                        <a:rPr sz="2000" b="1">
                          <a:solidFill>
                            <a:srgbClr val="172B2A"/>
                          </a:solidFill>
                          <a:latin typeface="Noto Sans CJK KR"/>
                        </a:rPr>
                        <a:t>정상 + reject</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rejected</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0회</a:t>
                      </a:r>
                    </a:p>
                  </a:txBody>
                  <a:tcPr marL="137160" marR="91440" marT="91440" marB="54864" anchor="ctr">
                    <a:solidFill>
                      <a:srgbClr val="EDF0E9"/>
                    </a:solidFill>
                  </a:tcPr>
                </a:tc>
              </a:tr>
              <a:tr h="768096">
                <a:tc>
                  <a:txBody>
                    <a:bodyPr/>
                    <a:lstStyle/>
                    <a:p>
                      <a:pPr>
                        <a:lnSpc>
                          <a:spcPct val="113000"/>
                        </a:lnSpc>
                        <a:spcAft>
                          <a:spcPts val="0"/>
                        </a:spcAft>
                      </a:pPr>
                      <a:r>
                        <a:rPr sz="2000" b="1">
                          <a:solidFill>
                            <a:srgbClr val="172B2A"/>
                          </a:solidFill>
                          <a:latin typeface="Noto Sans CJK KR"/>
                        </a:rPr>
                        <a:t>허위 출처 / Runbook 없음</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blocked</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0회</a:t>
                      </a:r>
                    </a:p>
                  </a:txBody>
                  <a:tcPr marL="137160" marR="91440" marT="91440" marB="54864" anchor="ctr">
                    <a:solidFill>
                      <a:srgbClr val="FFFEF9"/>
                    </a:solidFill>
                  </a:tcPr>
                </a:tc>
              </a:tr>
              <a:tr h="768096">
                <a:tc>
                  <a:txBody>
                    <a:bodyPr/>
                    <a:lstStyle/>
                    <a:p>
                      <a:pPr>
                        <a:lnSpc>
                          <a:spcPct val="113000"/>
                        </a:lnSpc>
                        <a:spcAft>
                          <a:spcPts val="0"/>
                        </a:spcAft>
                      </a:pPr>
                      <a:r>
                        <a:rPr sz="2000" b="1">
                          <a:solidFill>
                            <a:srgbClr val="172B2A"/>
                          </a:solidFill>
                          <a:latin typeface="Noto Sans CJK KR"/>
                        </a:rPr>
                        <a:t>Tool / 출력 오류</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blocked + reason</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0회</a:t>
                      </a:r>
                    </a:p>
                  </a:txBody>
                  <a:tcPr marL="137160" marR="91440" marT="91440" marB="54864" anchor="ctr">
                    <a:solidFill>
                      <a:srgbClr val="EDF0E9"/>
                    </a:solidFill>
                  </a:tcPr>
                </a:tc>
              </a:tr>
            </a:tbl>
          </a:graphicData>
        </a:graphic>
      </p:graphicFrame>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3  /  실무·검증·운영"/>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3  /  실무·검증·운영</a:t>
            </a:r>
          </a:p>
        </p:txBody>
      </p:sp>
      <p:sp>
        <p:nvSpPr>
          <p:cNvPr id="3" name="TEXT 실습 3 · 실패 주입"/>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실습 3 · 실패 주입</a:t>
            </a:r>
          </a:p>
        </p:txBody>
      </p:sp>
      <p:sp>
        <p:nvSpPr>
          <p:cNvPr id="4" name="TEXT 오류가 발생해도 실행 정책이 유지되는지 확인한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오류가 발생해도 실행 정책이 유지되는지 확인한다.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09·C10"/>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C09·C10</a:t>
            </a:r>
          </a:p>
        </p:txBody>
      </p:sp>
      <p:sp>
        <p:nvSpPr>
          <p:cNvPr id="8" name="TEXT 55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55 / 72</a:t>
            </a:r>
          </a:p>
        </p:txBody>
      </p:sp>
      <p:sp>
        <p:nvSpPr>
          <p:cNvPr id="9" name="TEXT 심화 A10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A10 →</a:t>
            </a:r>
          </a:p>
        </p:txBody>
      </p:sp>
      <p:sp>
        <p:nvSpPr>
          <p:cNvPr id="10" name="Rounded Rectangle 9"/>
          <p:cNvSpPr/>
          <p:nvPr/>
        </p:nvSpPr>
        <p:spPr>
          <a:xfrm>
            <a:off x="594360" y="2660904"/>
            <a:ext cx="3547872" cy="1426464"/>
          </a:xfrm>
          <a:prstGeom prst="roundRect">
            <a:avLst>
              <a:gd name="adj" fmla="val 8000"/>
            </a:avLst>
          </a:prstGeom>
          <a:solidFill>
            <a:srgbClr val="E3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0–10분"/>
          <p:cNvSpPr txBox="1"/>
          <p:nvPr/>
        </p:nvSpPr>
        <p:spPr>
          <a:xfrm>
            <a:off x="777240" y="2816352"/>
            <a:ext cx="3182112" cy="365760"/>
          </a:xfrm>
          <a:prstGeom prst="rect">
            <a:avLst/>
          </a:prstGeom>
          <a:noFill/>
        </p:spPr>
        <p:txBody>
          <a:bodyPr wrap="square" lIns="0" rIns="0" tIns="0" bIns="0">
            <a:noAutofit/>
          </a:bodyPr>
          <a:lstStyle/>
          <a:p>
            <a:pPr algn="l">
              <a:lnSpc>
                <a:spcPct val="116000"/>
              </a:lnSpc>
              <a:spcBef>
                <a:spcPts val="0"/>
              </a:spcBef>
              <a:spcAft>
                <a:spcPts val="0"/>
              </a:spcAft>
            </a:pPr>
            <a:r>
              <a:rPr sz="2300" b="1">
                <a:solidFill>
                  <a:srgbClr val="126858"/>
                </a:solidFill>
                <a:latin typeface="Noto Sans CJK KR"/>
                <a:ea typeface="Noto Sans CJK KR"/>
                <a:latin typeface="Noto Sans CJK KR"/>
              </a:rPr>
              <a:t>0–10분</a:t>
            </a:r>
          </a:p>
        </p:txBody>
      </p:sp>
      <p:sp>
        <p:nvSpPr>
          <p:cNvPr id="12" name="TEXT Tool Timeout 주입"/>
          <p:cNvSpPr txBox="1"/>
          <p:nvPr/>
        </p:nvSpPr>
        <p:spPr>
          <a:xfrm>
            <a:off x="777240" y="3374136"/>
            <a:ext cx="3182112" cy="502920"/>
          </a:xfrm>
          <a:prstGeom prst="rect">
            <a:avLst/>
          </a:prstGeom>
          <a:noFill/>
        </p:spPr>
        <p:txBody>
          <a:bodyPr wrap="square" lIns="0" rIns="0" tIns="0" bIns="0">
            <a:noAutofit/>
          </a:bodyPr>
          <a:lstStyle/>
          <a:p>
            <a:pPr algn="l">
              <a:lnSpc>
                <a:spcPct val="116000"/>
              </a:lnSpc>
              <a:spcBef>
                <a:spcPts val="0"/>
              </a:spcBef>
              <a:spcAft>
                <a:spcPts val="0"/>
              </a:spcAft>
            </a:pPr>
            <a:r>
              <a:rPr sz="2000" b="0">
                <a:solidFill>
                  <a:srgbClr val="172B2A"/>
                </a:solidFill>
                <a:latin typeface="Noto Sans CJK KR"/>
                <a:ea typeface="Noto Sans CJK KR"/>
                <a:latin typeface="Noto Sans CJK KR"/>
              </a:rPr>
              <a:t>Tool Timeout 주입</a:t>
            </a:r>
          </a:p>
        </p:txBody>
      </p:sp>
      <p:sp>
        <p:nvSpPr>
          <p:cNvPr id="13" name="Rounded Rectangle 12"/>
          <p:cNvSpPr/>
          <p:nvPr/>
        </p:nvSpPr>
        <p:spPr>
          <a:xfrm>
            <a:off x="4315968" y="2660904"/>
            <a:ext cx="3547872" cy="1426464"/>
          </a:xfrm>
          <a:prstGeom prst="roundRect">
            <a:avLst>
              <a:gd name="adj" fmla="val 8000"/>
            </a:avLst>
          </a:prstGeom>
          <a:solidFill>
            <a:srgbClr val="E3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 10–20분"/>
          <p:cNvSpPr txBox="1"/>
          <p:nvPr/>
        </p:nvSpPr>
        <p:spPr>
          <a:xfrm>
            <a:off x="4498848" y="2816352"/>
            <a:ext cx="3182112" cy="365760"/>
          </a:xfrm>
          <a:prstGeom prst="rect">
            <a:avLst/>
          </a:prstGeom>
          <a:noFill/>
        </p:spPr>
        <p:txBody>
          <a:bodyPr wrap="square" lIns="0" rIns="0" tIns="0" bIns="0">
            <a:noAutofit/>
          </a:bodyPr>
          <a:lstStyle/>
          <a:p>
            <a:pPr algn="l">
              <a:lnSpc>
                <a:spcPct val="116000"/>
              </a:lnSpc>
              <a:spcBef>
                <a:spcPts val="0"/>
              </a:spcBef>
              <a:spcAft>
                <a:spcPts val="0"/>
              </a:spcAft>
            </a:pPr>
            <a:r>
              <a:rPr sz="2300" b="1">
                <a:solidFill>
                  <a:srgbClr val="126858"/>
                </a:solidFill>
                <a:latin typeface="Noto Sans CJK KR"/>
                <a:ea typeface="Noto Sans CJK KR"/>
                <a:latin typeface="Noto Sans CJK KR"/>
              </a:rPr>
              <a:t>10–20분</a:t>
            </a:r>
          </a:p>
        </p:txBody>
      </p:sp>
      <p:sp>
        <p:nvSpPr>
          <p:cNvPr id="15" name="TEXT 출력 Schema 오류 주입"/>
          <p:cNvSpPr txBox="1"/>
          <p:nvPr/>
        </p:nvSpPr>
        <p:spPr>
          <a:xfrm>
            <a:off x="4498848" y="3374136"/>
            <a:ext cx="3182112" cy="502920"/>
          </a:xfrm>
          <a:prstGeom prst="rect">
            <a:avLst/>
          </a:prstGeom>
          <a:noFill/>
        </p:spPr>
        <p:txBody>
          <a:bodyPr wrap="square" lIns="0" rIns="0" tIns="0" bIns="0">
            <a:noAutofit/>
          </a:bodyPr>
          <a:lstStyle/>
          <a:p>
            <a:pPr algn="l">
              <a:lnSpc>
                <a:spcPct val="116000"/>
              </a:lnSpc>
              <a:spcBef>
                <a:spcPts val="0"/>
              </a:spcBef>
              <a:spcAft>
                <a:spcPts val="0"/>
              </a:spcAft>
            </a:pPr>
            <a:r>
              <a:rPr sz="2000" b="0">
                <a:solidFill>
                  <a:srgbClr val="172B2A"/>
                </a:solidFill>
                <a:latin typeface="Noto Sans CJK KR"/>
                <a:ea typeface="Noto Sans CJK KR"/>
                <a:latin typeface="Noto Sans CJK KR"/>
              </a:rPr>
              <a:t>출력 Schema 오류 주입</a:t>
            </a:r>
          </a:p>
        </p:txBody>
      </p:sp>
      <p:sp>
        <p:nvSpPr>
          <p:cNvPr id="16" name="Rounded Rectangle 15"/>
          <p:cNvSpPr/>
          <p:nvPr/>
        </p:nvSpPr>
        <p:spPr>
          <a:xfrm>
            <a:off x="8037576" y="2660904"/>
            <a:ext cx="3547872" cy="1426464"/>
          </a:xfrm>
          <a:prstGeom prst="roundRect">
            <a:avLst>
              <a:gd name="adj" fmla="val 8000"/>
            </a:avLst>
          </a:prstGeom>
          <a:solidFill>
            <a:srgbClr val="E3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 20–30분"/>
          <p:cNvSpPr txBox="1"/>
          <p:nvPr/>
        </p:nvSpPr>
        <p:spPr>
          <a:xfrm>
            <a:off x="8220456" y="2816352"/>
            <a:ext cx="3182112" cy="365760"/>
          </a:xfrm>
          <a:prstGeom prst="rect">
            <a:avLst/>
          </a:prstGeom>
          <a:noFill/>
        </p:spPr>
        <p:txBody>
          <a:bodyPr wrap="square" lIns="0" rIns="0" tIns="0" bIns="0">
            <a:noAutofit/>
          </a:bodyPr>
          <a:lstStyle/>
          <a:p>
            <a:pPr algn="l">
              <a:lnSpc>
                <a:spcPct val="116000"/>
              </a:lnSpc>
              <a:spcBef>
                <a:spcPts val="0"/>
              </a:spcBef>
              <a:spcAft>
                <a:spcPts val="0"/>
              </a:spcAft>
            </a:pPr>
            <a:r>
              <a:rPr sz="2300" b="1">
                <a:solidFill>
                  <a:srgbClr val="126858"/>
                </a:solidFill>
                <a:latin typeface="Noto Sans CJK KR"/>
                <a:ea typeface="Noto Sans CJK KR"/>
                <a:latin typeface="Noto Sans CJK KR"/>
              </a:rPr>
              <a:t>20–30분</a:t>
            </a:r>
          </a:p>
        </p:txBody>
      </p:sp>
      <p:sp>
        <p:nvSpPr>
          <p:cNvPr id="18" name="TEXT 불명확한 실행의 복구 설계"/>
          <p:cNvSpPr txBox="1"/>
          <p:nvPr/>
        </p:nvSpPr>
        <p:spPr>
          <a:xfrm>
            <a:off x="8220456" y="3374136"/>
            <a:ext cx="3182112" cy="502920"/>
          </a:xfrm>
          <a:prstGeom prst="rect">
            <a:avLst/>
          </a:prstGeom>
          <a:noFill/>
        </p:spPr>
        <p:txBody>
          <a:bodyPr wrap="square" lIns="0" rIns="0" tIns="0" bIns="0">
            <a:noAutofit/>
          </a:bodyPr>
          <a:lstStyle/>
          <a:p>
            <a:pPr algn="l">
              <a:lnSpc>
                <a:spcPct val="116000"/>
              </a:lnSpc>
              <a:spcBef>
                <a:spcPts val="0"/>
              </a:spcBef>
              <a:spcAft>
                <a:spcPts val="0"/>
              </a:spcAft>
            </a:pPr>
            <a:r>
              <a:rPr sz="2000" b="0">
                <a:solidFill>
                  <a:srgbClr val="172B2A"/>
                </a:solidFill>
                <a:latin typeface="Noto Sans CJK KR"/>
                <a:ea typeface="Noto Sans CJK KR"/>
                <a:latin typeface="Noto Sans CJK KR"/>
              </a:rPr>
              <a:t>불명확한 실행의 복구 설계</a:t>
            </a:r>
          </a:p>
        </p:txBody>
      </p:sp>
      <p:sp>
        <p:nvSpPr>
          <p:cNvPr id="19" name="TEXT 제출: 테스트 2개 + 결과 조회·조정 메모"/>
          <p:cNvSpPr txBox="1"/>
          <p:nvPr/>
        </p:nvSpPr>
        <p:spPr>
          <a:xfrm>
            <a:off x="731520" y="4443984"/>
            <a:ext cx="10789920" cy="530352"/>
          </a:xfrm>
          <a:prstGeom prst="rect">
            <a:avLst/>
          </a:prstGeom>
          <a:noFill/>
        </p:spPr>
        <p:txBody>
          <a:bodyPr wrap="square" lIns="0" rIns="0" tIns="0" bIns="0">
            <a:noAutofit/>
          </a:bodyPr>
          <a:lstStyle/>
          <a:p>
            <a:pPr algn="l">
              <a:lnSpc>
                <a:spcPct val="116000"/>
              </a:lnSpc>
              <a:spcBef>
                <a:spcPts val="0"/>
              </a:spcBef>
              <a:spcAft>
                <a:spcPts val="0"/>
              </a:spcAft>
            </a:pPr>
            <a:r>
              <a:rPr sz="2500" b="1">
                <a:solidFill>
                  <a:srgbClr val="172B2A"/>
                </a:solidFill>
                <a:latin typeface="Noto Sans CJK KR"/>
                <a:ea typeface="Noto Sans CJK KR"/>
                <a:latin typeface="Noto Sans CJK KR"/>
              </a:rPr>
              <a:t>제출: 테스트 2개 + 결과 조회·조정 메모</a:t>
            </a:r>
          </a:p>
        </p:txBody>
      </p:sp>
      <p:sp>
        <p:nvSpPr>
          <p:cNvPr id="20" name="TEXT ✓ 일시 오류와 validation 실패를 구분한다&#10;✓ 부작용 있는 요청을 무조건"/>
          <p:cNvSpPr txBox="1"/>
          <p:nvPr/>
        </p:nvSpPr>
        <p:spPr>
          <a:xfrm>
            <a:off x="731520" y="5166360"/>
            <a:ext cx="10789920" cy="822960"/>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 일시 오류와 validation 실패를 구분한다</a:t>
            </a:r>
          </a:p>
          <a:p>
            <a:pPr algn="l">
              <a:lnSpc>
                <a:spcPct val="116000"/>
              </a:lnSpc>
              <a:spcBef>
                <a:spcPts val="0"/>
              </a:spcBef>
              <a:spcAft>
                <a:spcPts val="0"/>
              </a:spcAft>
            </a:pPr>
            <a:r>
              <a:rPr sz="2100" b="0">
                <a:solidFill>
                  <a:srgbClr val="126858"/>
                </a:solidFill>
                <a:latin typeface="Noto Sans CJK KR"/>
                <a:ea typeface="Noto Sans CJK KR"/>
                <a:latin typeface="Noto Sans CJK KR"/>
              </a:rPr>
              <a:t>✓ 부작용 있는 요청을 무조건 재실행하지 않는다</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3  /  실무·검증·운영"/>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3  /  실무·검증·운영</a:t>
            </a:r>
          </a:p>
        </p:txBody>
      </p:sp>
      <p:sp>
        <p:nvSpPr>
          <p:cNvPr id="3" name="Rounded Rectangle 2"/>
          <p:cNvSpPr/>
          <p:nvPr/>
        </p:nvSpPr>
        <p:spPr>
          <a:xfrm>
            <a:off x="10195560" y="173736"/>
            <a:ext cx="1399032" cy="329184"/>
          </a:xfrm>
          <a:prstGeom prst="roundRect">
            <a:avLst>
              <a:gd name="adj" fmla="val 8000"/>
            </a:avLst>
          </a:prstGeom>
          <a:solidFill>
            <a:srgbClr val="E3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60분 경로"/>
          <p:cNvSpPr txBox="1"/>
          <p:nvPr/>
        </p:nvSpPr>
        <p:spPr>
          <a:xfrm>
            <a:off x="10241280" y="214884"/>
            <a:ext cx="1307592" cy="182880"/>
          </a:xfrm>
          <a:prstGeom prst="rect">
            <a:avLst/>
          </a:prstGeom>
          <a:noFill/>
        </p:spPr>
        <p:txBody>
          <a:bodyPr wrap="square" lIns="0" rIns="0" tIns="0" bIns="0">
            <a:noAutofit/>
          </a:bodyPr>
          <a:lstStyle/>
          <a:p>
            <a:pPr algn="ctr">
              <a:lnSpc>
                <a:spcPct val="116000"/>
              </a:lnSpc>
              <a:spcBef>
                <a:spcPts val="0"/>
              </a:spcBef>
              <a:spcAft>
                <a:spcPts val="0"/>
              </a:spcAft>
            </a:pPr>
            <a:r>
              <a:rPr sz="1000" b="1">
                <a:solidFill>
                  <a:srgbClr val="126858"/>
                </a:solidFill>
                <a:latin typeface="Noto Sans CJK KR"/>
                <a:ea typeface="Noto Sans CJK KR"/>
                <a:latin typeface="Noto Sans CJK KR"/>
              </a:rPr>
              <a:t>60분 경로</a:t>
            </a:r>
          </a:p>
        </p:txBody>
      </p:sp>
      <p:sp>
        <p:nvSpPr>
          <p:cNvPr id="5" name="TEXT Incident Copilot 설계 검토"/>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Incident Copilot 설계 검토</a:t>
            </a:r>
          </a:p>
        </p:txBody>
      </p:sp>
      <p:sp>
        <p:nvSpPr>
          <p:cNvPr id="6" name="TEXT 확인한 보장과 추가로 필요한 통제를 분리한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확인한 보장과 추가로 필요한 통제를 분리한다.</a:t>
            </a:r>
          </a:p>
        </p:txBody>
      </p:sp>
      <p:cxnSp>
        <p:nvCxnSpPr>
          <p:cNvPr id="7" name="Connector 6"/>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9" name="TEXT AI AGENT FIELDNOTES  /  C11"/>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C11</a:t>
            </a:r>
          </a:p>
        </p:txBody>
      </p:sp>
      <p:sp>
        <p:nvSpPr>
          <p:cNvPr id="10" name="TEXT 56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56 / 72</a:t>
            </a:r>
          </a:p>
        </p:txBody>
      </p:sp>
      <p:sp>
        <p:nvSpPr>
          <p:cNvPr id="11" name="TEXT 심화 A12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A12 →</a:t>
            </a:r>
          </a:p>
        </p:txBody>
      </p:sp>
      <p:graphicFrame>
        <p:nvGraphicFramePr>
          <p:cNvPr id="12" name="Table 11"/>
          <p:cNvGraphicFramePr>
            <a:graphicFrameLocks noGrp="1"/>
          </p:cNvGraphicFramePr>
          <p:nvPr/>
        </p:nvGraphicFramePr>
        <p:xfrm>
          <a:off x="594360" y="2587752"/>
          <a:ext cx="11000231" cy="3557016"/>
        </p:xfrm>
        <a:graphic>
          <a:graphicData uri="http://schemas.openxmlformats.org/drawingml/2006/table">
            <a:tbl>
              <a:tblPr firstRow="1" bandRow="1">
                <a:tableStyleId>{5C22544A-7EE6-4342-B048-85BDC9FD1C3A}</a:tableStyleId>
              </a:tblPr>
              <a:tblGrid>
                <a:gridCol w="2750058"/>
                <a:gridCol w="4290090"/>
                <a:gridCol w="3960083"/>
              </a:tblGrid>
              <a:tr h="484632">
                <a:tc>
                  <a:txBody>
                    <a:bodyPr/>
                    <a:lstStyle/>
                    <a:p>
                      <a:pPr>
                        <a:lnSpc>
                          <a:spcPct val="113000"/>
                        </a:lnSpc>
                        <a:spcAft>
                          <a:spcPts val="0"/>
                        </a:spcAft>
                      </a:pPr>
                      <a:r>
                        <a:rPr sz="1800" b="1">
                          <a:solidFill>
                            <a:srgbClr val="126858"/>
                          </a:solidFill>
                          <a:latin typeface="Noto Sans CJK KR"/>
                        </a:rPr>
                        <a:t>항목</a:t>
                      </a:r>
                    </a:p>
                  </a:txBody>
                  <a:tcPr marL="137160" marR="91440" marT="91440" marB="54864" anchor="ctr">
                    <a:solidFill>
                      <a:srgbClr val="E3EFE7"/>
                    </a:solidFill>
                  </a:tcPr>
                </a:tc>
                <a:tc>
                  <a:txBody>
                    <a:bodyPr/>
                    <a:lstStyle/>
                    <a:p>
                      <a:pPr>
                        <a:lnSpc>
                          <a:spcPct val="113000"/>
                        </a:lnSpc>
                        <a:spcAft>
                          <a:spcPts val="0"/>
                        </a:spcAft>
                      </a:pPr>
                      <a:r>
                        <a:rPr sz="1800" b="1">
                          <a:solidFill>
                            <a:srgbClr val="126858"/>
                          </a:solidFill>
                          <a:latin typeface="Noto Sans CJK KR"/>
                        </a:rPr>
                        <a:t>교육용 코드의 보장</a:t>
                      </a:r>
                    </a:p>
                  </a:txBody>
                  <a:tcPr marL="137160" marR="91440" marT="91440" marB="54864" anchor="ctr">
                    <a:solidFill>
                      <a:srgbClr val="E3EFE7"/>
                    </a:solidFill>
                  </a:tcPr>
                </a:tc>
                <a:tc>
                  <a:txBody>
                    <a:bodyPr/>
                    <a:lstStyle/>
                    <a:p>
                      <a:pPr>
                        <a:lnSpc>
                          <a:spcPct val="113000"/>
                        </a:lnSpc>
                        <a:spcAft>
                          <a:spcPts val="0"/>
                        </a:spcAft>
                      </a:pPr>
                      <a:r>
                        <a:rPr sz="1800" b="1">
                          <a:solidFill>
                            <a:srgbClr val="126858"/>
                          </a:solidFill>
                          <a:latin typeface="Noto Sans CJK KR"/>
                        </a:rPr>
                        <a:t>추가 작업</a:t>
                      </a:r>
                    </a:p>
                  </a:txBody>
                  <a:tcPr marL="137160" marR="91440" marT="91440" marB="54864" anchor="ctr">
                    <a:solidFill>
                      <a:srgbClr val="E3EFE7"/>
                    </a:solidFill>
                  </a:tcPr>
                </a:tc>
              </a:tr>
              <a:tr h="768096">
                <a:tc>
                  <a:txBody>
                    <a:bodyPr/>
                    <a:lstStyle/>
                    <a:p>
                      <a:pPr>
                        <a:lnSpc>
                          <a:spcPct val="113000"/>
                        </a:lnSpc>
                        <a:spcAft>
                          <a:spcPts val="0"/>
                        </a:spcAft>
                      </a:pPr>
                      <a:r>
                        <a:rPr sz="2000" b="1">
                          <a:solidFill>
                            <a:srgbClr val="172B2A"/>
                          </a:solidFill>
                          <a:latin typeface="Noto Sans CJK KR"/>
                        </a:rPr>
                        <a:t>증거</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실제·인용 ID 대조</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의미·최신성·권한</a:t>
                      </a:r>
                    </a:p>
                  </a:txBody>
                  <a:tcPr marL="137160" marR="91440" marT="91440" marB="54864" anchor="ctr">
                    <a:solidFill>
                      <a:srgbClr val="FFFEF9"/>
                    </a:solidFill>
                  </a:tcPr>
                </a:tc>
              </a:tr>
              <a:tr h="768096">
                <a:tc>
                  <a:txBody>
                    <a:bodyPr/>
                    <a:lstStyle/>
                    <a:p>
                      <a:pPr>
                        <a:lnSpc>
                          <a:spcPct val="113000"/>
                        </a:lnSpc>
                        <a:spcAft>
                          <a:spcPts val="0"/>
                        </a:spcAft>
                      </a:pPr>
                      <a:r>
                        <a:rPr sz="2000" b="1">
                          <a:solidFill>
                            <a:srgbClr val="172B2A"/>
                          </a:solidFill>
                          <a:latin typeface="Noto Sans CJK KR"/>
                        </a:rPr>
                        <a:t>승인</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대상 4필드 검사</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승인자 인증·만료·인자</a:t>
                      </a:r>
                    </a:p>
                  </a:txBody>
                  <a:tcPr marL="137160" marR="91440" marT="91440" marB="54864" anchor="ctr">
                    <a:solidFill>
                      <a:srgbClr val="EDF0E9"/>
                    </a:solidFill>
                  </a:tcPr>
                </a:tc>
              </a:tr>
              <a:tr h="768096">
                <a:tc>
                  <a:txBody>
                    <a:bodyPr/>
                    <a:lstStyle/>
                    <a:p>
                      <a:pPr>
                        <a:lnSpc>
                          <a:spcPct val="113000"/>
                        </a:lnSpc>
                        <a:spcAft>
                          <a:spcPts val="0"/>
                        </a:spcAft>
                      </a:pPr>
                      <a:r>
                        <a:rPr sz="2000" b="1">
                          <a:solidFill>
                            <a:srgbClr val="172B2A"/>
                          </a:solidFill>
                          <a:latin typeface="Noto Sans CJK KR"/>
                        </a:rPr>
                        <a:t>실행</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Simulator 호출 통제</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외부 멱등성·결과 원장</a:t>
                      </a:r>
                    </a:p>
                  </a:txBody>
                  <a:tcPr marL="137160" marR="91440" marT="91440" marB="54864" anchor="ctr">
                    <a:solidFill>
                      <a:srgbClr val="FFFEF9"/>
                    </a:solidFill>
                  </a:tcPr>
                </a:tc>
              </a:tr>
              <a:tr h="768096">
                <a:tc>
                  <a:txBody>
                    <a:bodyPr/>
                    <a:lstStyle/>
                    <a:p>
                      <a:pPr>
                        <a:lnSpc>
                          <a:spcPct val="113000"/>
                        </a:lnSpc>
                        <a:spcAft>
                          <a:spcPts val="0"/>
                        </a:spcAft>
                      </a:pPr>
                      <a:r>
                        <a:rPr sz="2000" b="1">
                          <a:solidFill>
                            <a:srgbClr val="172B2A"/>
                          </a:solidFill>
                          <a:latin typeface="Noto Sans CJK KR"/>
                        </a:rPr>
                        <a:t>복구</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SQLite thread 재개</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동시 Worker·운영 복구</a:t>
                      </a:r>
                    </a:p>
                  </a:txBody>
                  <a:tcPr marL="137160" marR="91440" marT="91440" marB="54864" anchor="ctr">
                    <a:solidFill>
                      <a:srgbClr val="EDF0E9"/>
                    </a:solidFill>
                  </a:tcPr>
                </a:tc>
              </a:tr>
            </a:tbl>
          </a:graphicData>
        </a:graphic>
      </p:graphicFrame>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3  /  실무·검증·운영"/>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3  /  실무·검증·운영</a:t>
            </a:r>
          </a:p>
        </p:txBody>
      </p:sp>
      <p:sp>
        <p:nvSpPr>
          <p:cNvPr id="3" name="TEXT 운영 전환 항목"/>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운영 전환 항목</a:t>
            </a:r>
          </a:p>
        </p:txBody>
      </p:sp>
      <p:sp>
        <p:nvSpPr>
          <p:cNvPr id="4" name="TEXT 데모의 성공을 사용자·권한·복구를 갖춘 서비스로 확장한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데모의 성공을 사용자·권한·복구를 갖춘 서비스로 확장한다.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12"/>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C12</a:t>
            </a:r>
          </a:p>
        </p:txBody>
      </p:sp>
      <p:sp>
        <p:nvSpPr>
          <p:cNvPr id="8" name="TEXT 57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57 / 72</a:t>
            </a:r>
          </a:p>
        </p:txBody>
      </p:sp>
      <p:sp>
        <p:nvSpPr>
          <p:cNvPr id="9" name="TEXT 심화 A11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A11 →</a:t>
            </a:r>
          </a:p>
        </p:txBody>
      </p:sp>
      <p:sp>
        <p:nvSpPr>
          <p:cNvPr id="10" name="Rounded Rectangle 9"/>
          <p:cNvSpPr/>
          <p:nvPr/>
        </p:nvSpPr>
        <p:spPr>
          <a:xfrm>
            <a:off x="594360" y="2660904"/>
            <a:ext cx="3547872" cy="3154680"/>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2660904"/>
            <a:ext cx="54864" cy="3154680"/>
          </a:xfrm>
          <a:prstGeom prst="rect">
            <a:avLst/>
          </a:prstGeom>
          <a:solidFill>
            <a:srgbClr val="126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이번에 확인"/>
          <p:cNvSpPr txBox="1"/>
          <p:nvPr/>
        </p:nvSpPr>
        <p:spPr>
          <a:xfrm>
            <a:off x="795528" y="2843784"/>
            <a:ext cx="314553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이번에 확인</a:t>
            </a:r>
          </a:p>
        </p:txBody>
      </p:sp>
      <p:sp>
        <p:nvSpPr>
          <p:cNvPr id="13" name="TEXT Fake 정책 테스트&#10;대상 검사·SQLite 재개"/>
          <p:cNvSpPr txBox="1"/>
          <p:nvPr/>
        </p:nvSpPr>
        <p:spPr>
          <a:xfrm>
            <a:off x="795528" y="3529584"/>
            <a:ext cx="3145536" cy="2148840"/>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Fake 정책 테스트</a:t>
            </a:r>
          </a:p>
          <a:p>
            <a:pPr algn="l">
              <a:lnSpc>
                <a:spcPct val="116000"/>
              </a:lnSpc>
              <a:spcBef>
                <a:spcPts val="0"/>
              </a:spcBef>
              <a:spcAft>
                <a:spcPts val="0"/>
              </a:spcAft>
            </a:pPr>
            <a:r>
              <a:rPr sz="2200" b="0">
                <a:solidFill>
                  <a:srgbClr val="172B2A"/>
                </a:solidFill>
                <a:latin typeface="Noto Sans CJK KR"/>
                <a:ea typeface="Noto Sans CJK KR"/>
                <a:latin typeface="Noto Sans CJK KR"/>
              </a:rPr>
              <a:t>대상 검사·SQLite 재개</a:t>
            </a:r>
          </a:p>
        </p:txBody>
      </p:sp>
      <p:sp>
        <p:nvSpPr>
          <p:cNvPr id="14" name="Rounded Rectangle 13"/>
          <p:cNvSpPr/>
          <p:nvPr/>
        </p:nvSpPr>
        <p:spPr>
          <a:xfrm>
            <a:off x="4315968" y="2660904"/>
            <a:ext cx="3547872" cy="3154680"/>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15968" y="2660904"/>
            <a:ext cx="54864" cy="3154680"/>
          </a:xfrm>
          <a:prstGeom prst="rect">
            <a:avLst/>
          </a:prstGeom>
          <a:solidFill>
            <a:srgbClr val="345C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제품별 추가"/>
          <p:cNvSpPr txBox="1"/>
          <p:nvPr/>
        </p:nvSpPr>
        <p:spPr>
          <a:xfrm>
            <a:off x="4517136" y="2843784"/>
            <a:ext cx="314553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345CB5"/>
                </a:solidFill>
                <a:latin typeface="Noto Sans CJK KR"/>
                <a:ea typeface="Noto Sans CJK KR"/>
                <a:latin typeface="Noto Sans CJK KR"/>
              </a:rPr>
              <a:t>제품별 추가</a:t>
            </a:r>
          </a:p>
        </p:txBody>
      </p:sp>
      <p:sp>
        <p:nvSpPr>
          <p:cNvPr id="17" name="TEXT 인증·인가·동시성&#10;실행 원장·보관·관측"/>
          <p:cNvSpPr txBox="1"/>
          <p:nvPr/>
        </p:nvSpPr>
        <p:spPr>
          <a:xfrm>
            <a:off x="4517136" y="3529584"/>
            <a:ext cx="3145536" cy="2148840"/>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인증·인가·동시성</a:t>
            </a:r>
          </a:p>
          <a:p>
            <a:pPr algn="l">
              <a:lnSpc>
                <a:spcPct val="116000"/>
              </a:lnSpc>
              <a:spcBef>
                <a:spcPts val="0"/>
              </a:spcBef>
              <a:spcAft>
                <a:spcPts val="0"/>
              </a:spcAft>
            </a:pPr>
            <a:r>
              <a:rPr sz="2200" b="0">
                <a:solidFill>
                  <a:srgbClr val="172B2A"/>
                </a:solidFill>
                <a:latin typeface="Noto Sans CJK KR"/>
                <a:ea typeface="Noto Sans CJK KR"/>
                <a:latin typeface="Noto Sans CJK KR"/>
              </a:rPr>
              <a:t>실행 원장·보관·관측</a:t>
            </a:r>
          </a:p>
        </p:txBody>
      </p:sp>
      <p:sp>
        <p:nvSpPr>
          <p:cNvPr id="18" name="Rounded Rectangle 17"/>
          <p:cNvSpPr/>
          <p:nvPr/>
        </p:nvSpPr>
        <p:spPr>
          <a:xfrm>
            <a:off x="8037576" y="2660904"/>
            <a:ext cx="3547872" cy="3154680"/>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37576" y="2660904"/>
            <a:ext cx="54864" cy="3154680"/>
          </a:xfrm>
          <a:prstGeom prst="rect">
            <a:avLst/>
          </a:prstGeom>
          <a:solidFill>
            <a:srgbClr val="AD5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 별도 통합 검증"/>
          <p:cNvSpPr txBox="1"/>
          <p:nvPr/>
        </p:nvSpPr>
        <p:spPr>
          <a:xfrm>
            <a:off x="8238744" y="2843784"/>
            <a:ext cx="314553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AD572B"/>
                </a:solidFill>
                <a:latin typeface="Noto Sans CJK KR"/>
                <a:ea typeface="Noto Sans CJK KR"/>
                <a:latin typeface="Noto Sans CJK KR"/>
              </a:rPr>
              <a:t>별도 통합 검증</a:t>
            </a:r>
          </a:p>
        </p:txBody>
      </p:sp>
      <p:sp>
        <p:nvSpPr>
          <p:cNvPr id="21" name="TEXT 실제 모델·MCP·검색&#10;운영 Adapter·배포·복구"/>
          <p:cNvSpPr txBox="1"/>
          <p:nvPr/>
        </p:nvSpPr>
        <p:spPr>
          <a:xfrm>
            <a:off x="8238744" y="3529584"/>
            <a:ext cx="3145536" cy="2148840"/>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실제 모델·MCP·검색</a:t>
            </a:r>
          </a:p>
          <a:p>
            <a:pPr algn="l">
              <a:lnSpc>
                <a:spcPct val="116000"/>
              </a:lnSpc>
              <a:spcBef>
                <a:spcPts val="0"/>
              </a:spcBef>
              <a:spcAft>
                <a:spcPts val="0"/>
              </a:spcAft>
            </a:pPr>
            <a:r>
              <a:rPr sz="2200" b="0">
                <a:solidFill>
                  <a:srgbClr val="172B2A"/>
                </a:solidFill>
                <a:latin typeface="Noto Sans CJK KR"/>
                <a:ea typeface="Noto Sans CJK KR"/>
                <a:latin typeface="Noto Sans CJK KR"/>
              </a:rPr>
              <a:t>운영 Adapter·배포·복구</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3  /  실무·검증·운영"/>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3  /  실무·검증·운영</a:t>
            </a:r>
          </a:p>
        </p:txBody>
      </p:sp>
      <p:sp>
        <p:nvSpPr>
          <p:cNvPr id="3" name="TEXT Agent Application Server"/>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Agent Application Server</a:t>
            </a:r>
          </a:p>
        </p:txBody>
      </p:sp>
      <p:sp>
        <p:nvSpPr>
          <p:cNvPr id="4" name="TEXT 예정 · API·실행·상태·스트리밍·HITL Resume을 연결한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예정 · API·실행·상태·스트리밍·HITL Resume을 연결한다.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12"/>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C12</a:t>
            </a:r>
          </a:p>
        </p:txBody>
      </p:sp>
      <p:sp>
        <p:nvSpPr>
          <p:cNvPr id="8" name="TEXT 58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58 / 72</a:t>
            </a:r>
          </a:p>
        </p:txBody>
      </p:sp>
      <p:sp>
        <p:nvSpPr>
          <p:cNvPr id="9" name="TEXT 심화 A12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A12 →</a:t>
            </a:r>
          </a:p>
        </p:txBody>
      </p:sp>
      <p:sp>
        <p:nvSpPr>
          <p:cNvPr id="10" name="Rounded Rectangle 9"/>
          <p:cNvSpPr/>
          <p:nvPr/>
        </p:nvSpPr>
        <p:spPr>
          <a:xfrm>
            <a:off x="594360" y="2880360"/>
            <a:ext cx="1995220" cy="1874519"/>
          </a:xfrm>
          <a:prstGeom prst="roundRect">
            <a:avLst>
              <a:gd name="adj" fmla="val 8000"/>
            </a:avLst>
          </a:prstGeom>
          <a:solidFill>
            <a:srgbClr val="E3EFE7"/>
          </a:solidFill>
          <a:ln w="10160">
            <a:solidFill>
              <a:srgbClr val="1268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01"/>
          <p:cNvSpPr txBox="1"/>
          <p:nvPr/>
        </p:nvSpPr>
        <p:spPr>
          <a:xfrm>
            <a:off x="749808" y="3044952"/>
            <a:ext cx="1684324" cy="246888"/>
          </a:xfrm>
          <a:prstGeom prst="rect">
            <a:avLst/>
          </a:prstGeom>
          <a:noFill/>
        </p:spPr>
        <p:txBody>
          <a:bodyPr wrap="square" lIns="0" rIns="0" tIns="0" bIns="0">
            <a:noAutofit/>
          </a:bodyPr>
          <a:lstStyle/>
          <a:p>
            <a:pPr algn="l">
              <a:lnSpc>
                <a:spcPct val="116000"/>
              </a:lnSpc>
              <a:spcBef>
                <a:spcPts val="0"/>
              </a:spcBef>
              <a:spcAft>
                <a:spcPts val="0"/>
              </a:spcAft>
            </a:pPr>
            <a:r>
              <a:rPr sz="1200" b="1">
                <a:solidFill>
                  <a:srgbClr val="126858"/>
                </a:solidFill>
                <a:latin typeface="Noto Sans CJK KR"/>
                <a:ea typeface="Noto Sans CJK KR"/>
                <a:latin typeface="Noto Sans CJK KR"/>
              </a:rPr>
              <a:t>01</a:t>
            </a:r>
          </a:p>
        </p:txBody>
      </p:sp>
      <p:sp>
        <p:nvSpPr>
          <p:cNvPr id="12" name="TEXT 인증된 API"/>
          <p:cNvSpPr txBox="1"/>
          <p:nvPr/>
        </p:nvSpPr>
        <p:spPr>
          <a:xfrm>
            <a:off x="749808" y="3511296"/>
            <a:ext cx="1684324" cy="713232"/>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인증된 API</a:t>
            </a:r>
          </a:p>
        </p:txBody>
      </p:sp>
      <p:sp>
        <p:nvSpPr>
          <p:cNvPr id="13" name="TEXT 요청 권한"/>
          <p:cNvSpPr txBox="1"/>
          <p:nvPr/>
        </p:nvSpPr>
        <p:spPr>
          <a:xfrm>
            <a:off x="749808" y="4261104"/>
            <a:ext cx="1684324" cy="365760"/>
          </a:xfrm>
          <a:prstGeom prst="rect">
            <a:avLst/>
          </a:prstGeom>
          <a:noFill/>
        </p:spPr>
        <p:txBody>
          <a:bodyPr wrap="square" lIns="0" rIns="0" tIns="0" bIns="0">
            <a:noAutofit/>
          </a:bodyPr>
          <a:lstStyle/>
          <a:p>
            <a:pPr algn="l">
              <a:lnSpc>
                <a:spcPct val="116000"/>
              </a:lnSpc>
              <a:spcBef>
                <a:spcPts val="0"/>
              </a:spcBef>
              <a:spcAft>
                <a:spcPts val="0"/>
              </a:spcAft>
            </a:pPr>
            <a:r>
              <a:rPr sz="1600" b="0">
                <a:solidFill>
                  <a:srgbClr val="126858"/>
                </a:solidFill>
                <a:latin typeface="Noto Sans CJK KR"/>
                <a:ea typeface="Noto Sans CJK KR"/>
                <a:latin typeface="Noto Sans CJK KR"/>
              </a:rPr>
              <a:t>요청 권한</a:t>
            </a:r>
          </a:p>
        </p:txBody>
      </p:sp>
      <p:cxnSp>
        <p:nvCxnSpPr>
          <p:cNvPr id="14" name="Connector 13"/>
          <p:cNvCxnSpPr/>
          <p:nvPr/>
        </p:nvCxnSpPr>
        <p:spPr>
          <a:xfrm>
            <a:off x="2607868" y="3803904"/>
            <a:ext cx="219456" cy="0"/>
          </a:xfrm>
          <a:prstGeom prst="line">
            <a:avLst/>
          </a:prstGeom>
          <a:ln w="22860">
            <a:solidFill>
              <a:srgbClr val="5E6E66"/>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845612" y="2880360"/>
            <a:ext cx="1995220" cy="1874519"/>
          </a:xfrm>
          <a:prstGeom prst="roundRect">
            <a:avLst>
              <a:gd name="adj" fmla="val 8000"/>
            </a:avLst>
          </a:prstGeom>
          <a:solidFill>
            <a:srgbClr val="E3EFE7"/>
          </a:solidFill>
          <a:ln w="10160">
            <a:solidFill>
              <a:srgbClr val="1268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02"/>
          <p:cNvSpPr txBox="1"/>
          <p:nvPr/>
        </p:nvSpPr>
        <p:spPr>
          <a:xfrm>
            <a:off x="3001060" y="3044952"/>
            <a:ext cx="1684324" cy="246888"/>
          </a:xfrm>
          <a:prstGeom prst="rect">
            <a:avLst/>
          </a:prstGeom>
          <a:noFill/>
        </p:spPr>
        <p:txBody>
          <a:bodyPr wrap="square" lIns="0" rIns="0" tIns="0" bIns="0">
            <a:noAutofit/>
          </a:bodyPr>
          <a:lstStyle/>
          <a:p>
            <a:pPr algn="l">
              <a:lnSpc>
                <a:spcPct val="116000"/>
              </a:lnSpc>
              <a:spcBef>
                <a:spcPts val="0"/>
              </a:spcBef>
              <a:spcAft>
                <a:spcPts val="0"/>
              </a:spcAft>
            </a:pPr>
            <a:r>
              <a:rPr sz="1200" b="1">
                <a:solidFill>
                  <a:srgbClr val="126858"/>
                </a:solidFill>
                <a:latin typeface="Noto Sans CJK KR"/>
                <a:ea typeface="Noto Sans CJK KR"/>
                <a:latin typeface="Noto Sans CJK KR"/>
              </a:rPr>
              <a:t>02</a:t>
            </a:r>
          </a:p>
        </p:txBody>
      </p:sp>
      <p:sp>
        <p:nvSpPr>
          <p:cNvPr id="17" name="TEXT Run / Thread"/>
          <p:cNvSpPr txBox="1"/>
          <p:nvPr/>
        </p:nvSpPr>
        <p:spPr>
          <a:xfrm>
            <a:off x="3001060" y="3511296"/>
            <a:ext cx="1684324" cy="713232"/>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Run / Thread</a:t>
            </a:r>
          </a:p>
        </p:txBody>
      </p:sp>
      <p:sp>
        <p:nvSpPr>
          <p:cNvPr id="18" name="TEXT 소유권"/>
          <p:cNvSpPr txBox="1"/>
          <p:nvPr/>
        </p:nvSpPr>
        <p:spPr>
          <a:xfrm>
            <a:off x="3001060" y="4261104"/>
            <a:ext cx="1684324" cy="365760"/>
          </a:xfrm>
          <a:prstGeom prst="rect">
            <a:avLst/>
          </a:prstGeom>
          <a:noFill/>
        </p:spPr>
        <p:txBody>
          <a:bodyPr wrap="square" lIns="0" rIns="0" tIns="0" bIns="0">
            <a:noAutofit/>
          </a:bodyPr>
          <a:lstStyle/>
          <a:p>
            <a:pPr algn="l">
              <a:lnSpc>
                <a:spcPct val="116000"/>
              </a:lnSpc>
              <a:spcBef>
                <a:spcPts val="0"/>
              </a:spcBef>
              <a:spcAft>
                <a:spcPts val="0"/>
              </a:spcAft>
            </a:pPr>
            <a:r>
              <a:rPr sz="1600" b="0">
                <a:solidFill>
                  <a:srgbClr val="126858"/>
                </a:solidFill>
                <a:latin typeface="Noto Sans CJK KR"/>
                <a:ea typeface="Noto Sans CJK KR"/>
                <a:latin typeface="Noto Sans CJK KR"/>
              </a:rPr>
              <a:t>소유권</a:t>
            </a:r>
          </a:p>
        </p:txBody>
      </p:sp>
      <p:cxnSp>
        <p:nvCxnSpPr>
          <p:cNvPr id="19" name="Connector 18"/>
          <p:cNvCxnSpPr/>
          <p:nvPr/>
        </p:nvCxnSpPr>
        <p:spPr>
          <a:xfrm>
            <a:off x="4859121" y="3803904"/>
            <a:ext cx="219456" cy="0"/>
          </a:xfrm>
          <a:prstGeom prst="line">
            <a:avLst/>
          </a:prstGeom>
          <a:ln w="22860">
            <a:solidFill>
              <a:srgbClr val="5E6E66"/>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096865" y="2880360"/>
            <a:ext cx="1995220" cy="1874519"/>
          </a:xfrm>
          <a:prstGeom prst="roundRect">
            <a:avLst>
              <a:gd name="adj" fmla="val 8000"/>
            </a:avLst>
          </a:prstGeom>
          <a:solidFill>
            <a:srgbClr val="E3EFE7"/>
          </a:solidFill>
          <a:ln w="10160">
            <a:solidFill>
              <a:srgbClr val="1268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 03"/>
          <p:cNvSpPr txBox="1"/>
          <p:nvPr/>
        </p:nvSpPr>
        <p:spPr>
          <a:xfrm>
            <a:off x="5252313" y="3044952"/>
            <a:ext cx="1684324" cy="246888"/>
          </a:xfrm>
          <a:prstGeom prst="rect">
            <a:avLst/>
          </a:prstGeom>
          <a:noFill/>
        </p:spPr>
        <p:txBody>
          <a:bodyPr wrap="square" lIns="0" rIns="0" tIns="0" bIns="0">
            <a:noAutofit/>
          </a:bodyPr>
          <a:lstStyle/>
          <a:p>
            <a:pPr algn="l">
              <a:lnSpc>
                <a:spcPct val="116000"/>
              </a:lnSpc>
              <a:spcBef>
                <a:spcPts val="0"/>
              </a:spcBef>
              <a:spcAft>
                <a:spcPts val="0"/>
              </a:spcAft>
            </a:pPr>
            <a:r>
              <a:rPr sz="1200" b="1">
                <a:solidFill>
                  <a:srgbClr val="126858"/>
                </a:solidFill>
                <a:latin typeface="Noto Sans CJK KR"/>
                <a:ea typeface="Noto Sans CJK KR"/>
                <a:latin typeface="Noto Sans CJK KR"/>
              </a:rPr>
              <a:t>03</a:t>
            </a:r>
          </a:p>
        </p:txBody>
      </p:sp>
      <p:sp>
        <p:nvSpPr>
          <p:cNvPr id="22" name="TEXT 실행 Engine"/>
          <p:cNvSpPr txBox="1"/>
          <p:nvPr/>
        </p:nvSpPr>
        <p:spPr>
          <a:xfrm>
            <a:off x="5252313" y="3511296"/>
            <a:ext cx="1684324" cy="713232"/>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실행 Engine</a:t>
            </a:r>
          </a:p>
        </p:txBody>
      </p:sp>
      <p:sp>
        <p:nvSpPr>
          <p:cNvPr id="23" name="TEXT 긴 작업 관리"/>
          <p:cNvSpPr txBox="1"/>
          <p:nvPr/>
        </p:nvSpPr>
        <p:spPr>
          <a:xfrm>
            <a:off x="5252313" y="4261104"/>
            <a:ext cx="1684324" cy="365760"/>
          </a:xfrm>
          <a:prstGeom prst="rect">
            <a:avLst/>
          </a:prstGeom>
          <a:noFill/>
        </p:spPr>
        <p:txBody>
          <a:bodyPr wrap="square" lIns="0" rIns="0" tIns="0" bIns="0">
            <a:noAutofit/>
          </a:bodyPr>
          <a:lstStyle/>
          <a:p>
            <a:pPr algn="l">
              <a:lnSpc>
                <a:spcPct val="116000"/>
              </a:lnSpc>
              <a:spcBef>
                <a:spcPts val="0"/>
              </a:spcBef>
              <a:spcAft>
                <a:spcPts val="0"/>
              </a:spcAft>
            </a:pPr>
            <a:r>
              <a:rPr sz="1600" b="0">
                <a:solidFill>
                  <a:srgbClr val="126858"/>
                </a:solidFill>
                <a:latin typeface="Noto Sans CJK KR"/>
                <a:ea typeface="Noto Sans CJK KR"/>
                <a:latin typeface="Noto Sans CJK KR"/>
              </a:rPr>
              <a:t>긴 작업 관리</a:t>
            </a:r>
          </a:p>
        </p:txBody>
      </p:sp>
      <p:cxnSp>
        <p:nvCxnSpPr>
          <p:cNvPr id="24" name="Connector 23"/>
          <p:cNvCxnSpPr/>
          <p:nvPr/>
        </p:nvCxnSpPr>
        <p:spPr>
          <a:xfrm>
            <a:off x="7110374" y="3803904"/>
            <a:ext cx="219456" cy="0"/>
          </a:xfrm>
          <a:prstGeom prst="line">
            <a:avLst/>
          </a:prstGeom>
          <a:ln w="22860">
            <a:solidFill>
              <a:srgbClr val="5E6E66"/>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48118" y="2880360"/>
            <a:ext cx="1995220" cy="1874519"/>
          </a:xfrm>
          <a:prstGeom prst="roundRect">
            <a:avLst>
              <a:gd name="adj" fmla="val 8000"/>
            </a:avLst>
          </a:prstGeom>
          <a:solidFill>
            <a:srgbClr val="E3EFE7"/>
          </a:solidFill>
          <a:ln w="10160">
            <a:solidFill>
              <a:srgbClr val="1268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04"/>
          <p:cNvSpPr txBox="1"/>
          <p:nvPr/>
        </p:nvSpPr>
        <p:spPr>
          <a:xfrm>
            <a:off x="7503566" y="3044952"/>
            <a:ext cx="1684324" cy="246888"/>
          </a:xfrm>
          <a:prstGeom prst="rect">
            <a:avLst/>
          </a:prstGeom>
          <a:noFill/>
        </p:spPr>
        <p:txBody>
          <a:bodyPr wrap="square" lIns="0" rIns="0" tIns="0" bIns="0">
            <a:noAutofit/>
          </a:bodyPr>
          <a:lstStyle/>
          <a:p>
            <a:pPr algn="l">
              <a:lnSpc>
                <a:spcPct val="116000"/>
              </a:lnSpc>
              <a:spcBef>
                <a:spcPts val="0"/>
              </a:spcBef>
              <a:spcAft>
                <a:spcPts val="0"/>
              </a:spcAft>
            </a:pPr>
            <a:r>
              <a:rPr sz="1200" b="1">
                <a:solidFill>
                  <a:srgbClr val="126858"/>
                </a:solidFill>
                <a:latin typeface="Noto Sans CJK KR"/>
                <a:ea typeface="Noto Sans CJK KR"/>
                <a:latin typeface="Noto Sans CJK KR"/>
              </a:rPr>
              <a:t>04</a:t>
            </a:r>
          </a:p>
        </p:txBody>
      </p:sp>
      <p:sp>
        <p:nvSpPr>
          <p:cNvPr id="27" name="TEXT Checkpoint"/>
          <p:cNvSpPr txBox="1"/>
          <p:nvPr/>
        </p:nvSpPr>
        <p:spPr>
          <a:xfrm>
            <a:off x="7503566" y="3511296"/>
            <a:ext cx="1684324" cy="713232"/>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Checkpoint</a:t>
            </a:r>
          </a:p>
        </p:txBody>
      </p:sp>
      <p:sp>
        <p:nvSpPr>
          <p:cNvPr id="28" name="TEXT 중단·복구"/>
          <p:cNvSpPr txBox="1"/>
          <p:nvPr/>
        </p:nvSpPr>
        <p:spPr>
          <a:xfrm>
            <a:off x="7503566" y="4261104"/>
            <a:ext cx="1684324" cy="365760"/>
          </a:xfrm>
          <a:prstGeom prst="rect">
            <a:avLst/>
          </a:prstGeom>
          <a:noFill/>
        </p:spPr>
        <p:txBody>
          <a:bodyPr wrap="square" lIns="0" rIns="0" tIns="0" bIns="0">
            <a:noAutofit/>
          </a:bodyPr>
          <a:lstStyle/>
          <a:p>
            <a:pPr algn="l">
              <a:lnSpc>
                <a:spcPct val="116000"/>
              </a:lnSpc>
              <a:spcBef>
                <a:spcPts val="0"/>
              </a:spcBef>
              <a:spcAft>
                <a:spcPts val="0"/>
              </a:spcAft>
            </a:pPr>
            <a:r>
              <a:rPr sz="1600" b="0">
                <a:solidFill>
                  <a:srgbClr val="126858"/>
                </a:solidFill>
                <a:latin typeface="Noto Sans CJK KR"/>
                <a:ea typeface="Noto Sans CJK KR"/>
                <a:latin typeface="Noto Sans CJK KR"/>
              </a:rPr>
              <a:t>중단·복구</a:t>
            </a:r>
          </a:p>
        </p:txBody>
      </p:sp>
      <p:cxnSp>
        <p:nvCxnSpPr>
          <p:cNvPr id="29" name="Connector 28"/>
          <p:cNvCxnSpPr/>
          <p:nvPr/>
        </p:nvCxnSpPr>
        <p:spPr>
          <a:xfrm>
            <a:off x="9361627" y="3803904"/>
            <a:ext cx="219456" cy="0"/>
          </a:xfrm>
          <a:prstGeom prst="line">
            <a:avLst/>
          </a:prstGeom>
          <a:ln w="22860">
            <a:solidFill>
              <a:srgbClr val="5E6E66"/>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9599371" y="2880360"/>
            <a:ext cx="1995220" cy="1874519"/>
          </a:xfrm>
          <a:prstGeom prst="roundRect">
            <a:avLst>
              <a:gd name="adj" fmla="val 8000"/>
            </a:avLst>
          </a:prstGeom>
          <a:solidFill>
            <a:srgbClr val="E3EFE7"/>
          </a:solidFill>
          <a:ln w="10160">
            <a:solidFill>
              <a:srgbClr val="1268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 05"/>
          <p:cNvSpPr txBox="1"/>
          <p:nvPr/>
        </p:nvSpPr>
        <p:spPr>
          <a:xfrm>
            <a:off x="9754819" y="3044952"/>
            <a:ext cx="1684324" cy="246888"/>
          </a:xfrm>
          <a:prstGeom prst="rect">
            <a:avLst/>
          </a:prstGeom>
          <a:noFill/>
        </p:spPr>
        <p:txBody>
          <a:bodyPr wrap="square" lIns="0" rIns="0" tIns="0" bIns="0">
            <a:noAutofit/>
          </a:bodyPr>
          <a:lstStyle/>
          <a:p>
            <a:pPr algn="l">
              <a:lnSpc>
                <a:spcPct val="116000"/>
              </a:lnSpc>
              <a:spcBef>
                <a:spcPts val="0"/>
              </a:spcBef>
              <a:spcAft>
                <a:spcPts val="0"/>
              </a:spcAft>
            </a:pPr>
            <a:r>
              <a:rPr sz="1200" b="1">
                <a:solidFill>
                  <a:srgbClr val="126858"/>
                </a:solidFill>
                <a:latin typeface="Noto Sans CJK KR"/>
                <a:ea typeface="Noto Sans CJK KR"/>
                <a:latin typeface="Noto Sans CJK KR"/>
              </a:rPr>
              <a:t>05</a:t>
            </a:r>
          </a:p>
        </p:txBody>
      </p:sp>
      <p:sp>
        <p:nvSpPr>
          <p:cNvPr id="32" name="TEXT 이벤트·결과"/>
          <p:cNvSpPr txBox="1"/>
          <p:nvPr/>
        </p:nvSpPr>
        <p:spPr>
          <a:xfrm>
            <a:off x="9754819" y="3511296"/>
            <a:ext cx="1684324" cy="713232"/>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이벤트·결과</a:t>
            </a:r>
          </a:p>
        </p:txBody>
      </p:sp>
      <p:sp>
        <p:nvSpPr>
          <p:cNvPr id="33" name="TEXT Streaming·조회"/>
          <p:cNvSpPr txBox="1"/>
          <p:nvPr/>
        </p:nvSpPr>
        <p:spPr>
          <a:xfrm>
            <a:off x="9754819" y="4261104"/>
            <a:ext cx="1684324" cy="365760"/>
          </a:xfrm>
          <a:prstGeom prst="rect">
            <a:avLst/>
          </a:prstGeom>
          <a:noFill/>
        </p:spPr>
        <p:txBody>
          <a:bodyPr wrap="square" lIns="0" rIns="0" tIns="0" bIns="0">
            <a:noAutofit/>
          </a:bodyPr>
          <a:lstStyle/>
          <a:p>
            <a:pPr algn="l">
              <a:lnSpc>
                <a:spcPct val="116000"/>
              </a:lnSpc>
              <a:spcBef>
                <a:spcPts val="0"/>
              </a:spcBef>
              <a:spcAft>
                <a:spcPts val="0"/>
              </a:spcAft>
            </a:pPr>
            <a:r>
              <a:rPr sz="1600" b="0">
                <a:solidFill>
                  <a:srgbClr val="126858"/>
                </a:solidFill>
                <a:latin typeface="Noto Sans CJK KR"/>
                <a:ea typeface="Noto Sans CJK KR"/>
                <a:latin typeface="Noto Sans CJK KR"/>
              </a:rPr>
              <a:t>Streaming·조회</a:t>
            </a:r>
          </a:p>
        </p:txBody>
      </p:sp>
      <p:sp>
        <p:nvSpPr>
          <p:cNvPr id="34" name="TEXT Day 26 예정 목표: 재연결·같은 thread 재개·승인 대상 검증"/>
          <p:cNvSpPr txBox="1"/>
          <p:nvPr/>
        </p:nvSpPr>
        <p:spPr>
          <a:xfrm>
            <a:off x="731520" y="5266944"/>
            <a:ext cx="10789920" cy="685800"/>
          </a:xfrm>
          <a:prstGeom prst="rect">
            <a:avLst/>
          </a:prstGeom>
          <a:noFill/>
        </p:spPr>
        <p:txBody>
          <a:bodyPr wrap="square" lIns="0" rIns="0" tIns="0" bIns="0">
            <a:noAutofit/>
          </a:bodyPr>
          <a:lstStyle/>
          <a:p>
            <a:pPr algn="l">
              <a:lnSpc>
                <a:spcPct val="116000"/>
              </a:lnSpc>
              <a:spcBef>
                <a:spcPts val="0"/>
              </a:spcBef>
              <a:spcAft>
                <a:spcPts val="0"/>
              </a:spcAft>
            </a:pPr>
            <a:r>
              <a:rPr sz="2100" b="1">
                <a:solidFill>
                  <a:srgbClr val="126858"/>
                </a:solidFill>
                <a:latin typeface="Noto Sans CJK KR"/>
                <a:ea typeface="Noto Sans CJK KR"/>
                <a:latin typeface="Noto Sans CJK KR"/>
              </a:rPr>
              <a:t>Day 26 예정 목표: 재연결·같은 thread 재개·승인 대상 검증</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SESSION 3  /  실무·검증·운영"/>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SESSION 3  /  실무·검증·운영</a:t>
            </a:r>
          </a:p>
        </p:txBody>
      </p:sp>
      <p:sp>
        <p:nvSpPr>
          <p:cNvPr id="3" name="TEXT Mini Agent Application Server"/>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Mini Agent Application Server</a:t>
            </a:r>
          </a:p>
        </p:txBody>
      </p:sp>
      <p:sp>
        <p:nvSpPr>
          <p:cNvPr id="4" name="TEXT 예정 · Registry와 Execution Engine의 경계를 직접 설계한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예정 · Registry와 Execution Engine의 경계를 직접 설계한다.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12"/>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C12</a:t>
            </a:r>
          </a:p>
        </p:txBody>
      </p:sp>
      <p:sp>
        <p:nvSpPr>
          <p:cNvPr id="8" name="TEXT 59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59 / 72</a:t>
            </a:r>
          </a:p>
        </p:txBody>
      </p:sp>
      <p:sp>
        <p:nvSpPr>
          <p:cNvPr id="9" name="TEXT 심화 A12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심화 A12 →</a:t>
            </a:r>
          </a:p>
        </p:txBody>
      </p:sp>
      <p:graphicFrame>
        <p:nvGraphicFramePr>
          <p:cNvPr id="10" name="Table 9"/>
          <p:cNvGraphicFramePr>
            <a:graphicFrameLocks noGrp="1"/>
          </p:cNvGraphicFramePr>
          <p:nvPr/>
        </p:nvGraphicFramePr>
        <p:xfrm>
          <a:off x="594360" y="2587752"/>
          <a:ext cx="11000231" cy="3557016"/>
        </p:xfrm>
        <a:graphic>
          <a:graphicData uri="http://schemas.openxmlformats.org/drawingml/2006/table">
            <a:tbl>
              <a:tblPr firstRow="1" bandRow="1">
                <a:tableStyleId>{5C22544A-7EE6-4342-B048-85BDC9FD1C3A}</a:tableStyleId>
              </a:tblPr>
              <a:tblGrid>
                <a:gridCol w="2750058"/>
                <a:gridCol w="4290090"/>
                <a:gridCol w="3960083"/>
              </a:tblGrid>
              <a:tr h="484632">
                <a:tc>
                  <a:txBody>
                    <a:bodyPr/>
                    <a:lstStyle/>
                    <a:p>
                      <a:pPr>
                        <a:lnSpc>
                          <a:spcPct val="113000"/>
                        </a:lnSpc>
                        <a:spcAft>
                          <a:spcPts val="0"/>
                        </a:spcAft>
                      </a:pPr>
                      <a:r>
                        <a:rPr sz="1800" b="1">
                          <a:solidFill>
                            <a:srgbClr val="126858"/>
                          </a:solidFill>
                          <a:latin typeface="Noto Sans CJK KR"/>
                        </a:rPr>
                        <a:t>구성 요소</a:t>
                      </a:r>
                    </a:p>
                  </a:txBody>
                  <a:tcPr marL="137160" marR="91440" marT="91440" marB="54864" anchor="ctr">
                    <a:solidFill>
                      <a:srgbClr val="E3EFE7"/>
                    </a:solidFill>
                  </a:tcPr>
                </a:tc>
                <a:tc>
                  <a:txBody>
                    <a:bodyPr/>
                    <a:lstStyle/>
                    <a:p>
                      <a:pPr>
                        <a:lnSpc>
                          <a:spcPct val="113000"/>
                        </a:lnSpc>
                        <a:spcAft>
                          <a:spcPts val="0"/>
                        </a:spcAft>
                      </a:pPr>
                      <a:r>
                        <a:rPr sz="1800" b="1">
                          <a:solidFill>
                            <a:srgbClr val="126858"/>
                          </a:solidFill>
                          <a:latin typeface="Noto Sans CJK KR"/>
                        </a:rPr>
                        <a:t>책임</a:t>
                      </a:r>
                    </a:p>
                  </a:txBody>
                  <a:tcPr marL="137160" marR="91440" marT="91440" marB="54864" anchor="ctr">
                    <a:solidFill>
                      <a:srgbClr val="E3EFE7"/>
                    </a:solidFill>
                  </a:tcPr>
                </a:tc>
                <a:tc>
                  <a:txBody>
                    <a:bodyPr/>
                    <a:lstStyle/>
                    <a:p>
                      <a:pPr>
                        <a:lnSpc>
                          <a:spcPct val="113000"/>
                        </a:lnSpc>
                        <a:spcAft>
                          <a:spcPts val="0"/>
                        </a:spcAft>
                      </a:pPr>
                      <a:r>
                        <a:rPr sz="1800" b="1">
                          <a:solidFill>
                            <a:srgbClr val="126858"/>
                          </a:solidFill>
                          <a:latin typeface="Noto Sans CJK KR"/>
                        </a:rPr>
                        <a:t>WAS 비유의 한계</a:t>
                      </a:r>
                    </a:p>
                  </a:txBody>
                  <a:tcPr marL="137160" marR="91440" marT="91440" marB="54864" anchor="ctr">
                    <a:solidFill>
                      <a:srgbClr val="E3EFE7"/>
                    </a:solidFill>
                  </a:tcPr>
                </a:tc>
              </a:tr>
              <a:tr h="768096">
                <a:tc>
                  <a:txBody>
                    <a:bodyPr/>
                    <a:lstStyle/>
                    <a:p>
                      <a:pPr>
                        <a:lnSpc>
                          <a:spcPct val="113000"/>
                        </a:lnSpc>
                        <a:spcAft>
                          <a:spcPts val="0"/>
                        </a:spcAft>
                      </a:pPr>
                      <a:r>
                        <a:rPr sz="2000" b="1">
                          <a:solidFill>
                            <a:srgbClr val="172B2A"/>
                          </a:solidFill>
                          <a:latin typeface="Noto Sans CJK KR"/>
                        </a:rPr>
                        <a:t>Registry / Deployment</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Agent·Graph 버전 등록</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저장 실행과 버전 호환</a:t>
                      </a:r>
                    </a:p>
                  </a:txBody>
                  <a:tcPr marL="137160" marR="91440" marT="91440" marB="54864" anchor="ctr">
                    <a:solidFill>
                      <a:srgbClr val="FFFEF9"/>
                    </a:solidFill>
                  </a:tcPr>
                </a:tc>
              </a:tr>
              <a:tr h="768096">
                <a:tc>
                  <a:txBody>
                    <a:bodyPr/>
                    <a:lstStyle/>
                    <a:p>
                      <a:pPr>
                        <a:lnSpc>
                          <a:spcPct val="113000"/>
                        </a:lnSpc>
                        <a:spcAft>
                          <a:spcPts val="0"/>
                        </a:spcAft>
                      </a:pPr>
                      <a:r>
                        <a:rPr sz="2000" b="1">
                          <a:solidFill>
                            <a:srgbClr val="172B2A"/>
                          </a:solidFill>
                          <a:latin typeface="Noto Sans CJK KR"/>
                        </a:rPr>
                        <a:t>Session / Persistence</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소유권·thread·상태 저장</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중단·장기 재개</a:t>
                      </a:r>
                    </a:p>
                  </a:txBody>
                  <a:tcPr marL="137160" marR="91440" marT="91440" marB="54864" anchor="ctr">
                    <a:solidFill>
                      <a:srgbClr val="EDF0E9"/>
                    </a:solidFill>
                  </a:tcPr>
                </a:tc>
              </a:tr>
              <a:tr h="768096">
                <a:tc>
                  <a:txBody>
                    <a:bodyPr/>
                    <a:lstStyle/>
                    <a:p>
                      <a:pPr>
                        <a:lnSpc>
                          <a:spcPct val="113000"/>
                        </a:lnSpc>
                        <a:spcAft>
                          <a:spcPts val="0"/>
                        </a:spcAft>
                      </a:pPr>
                      <a:r>
                        <a:rPr sz="2000" b="1">
                          <a:solidFill>
                            <a:srgbClr val="172B2A"/>
                          </a:solidFill>
                          <a:latin typeface="Noto Sans CJK KR"/>
                        </a:rPr>
                        <a:t>Execution Engine</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Worker·스케줄·취소</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외부 부작용 조정</a:t>
                      </a:r>
                    </a:p>
                  </a:txBody>
                  <a:tcPr marL="137160" marR="91440" marT="91440" marB="54864" anchor="ctr">
                    <a:solidFill>
                      <a:srgbClr val="FFFEF9"/>
                    </a:solidFill>
                  </a:tcPr>
                </a:tc>
              </a:tr>
              <a:tr h="768096">
                <a:tc>
                  <a:txBody>
                    <a:bodyPr/>
                    <a:lstStyle/>
                    <a:p>
                      <a:pPr>
                        <a:lnSpc>
                          <a:spcPct val="113000"/>
                        </a:lnSpc>
                        <a:spcAft>
                          <a:spcPts val="0"/>
                        </a:spcAft>
                      </a:pPr>
                      <a:r>
                        <a:rPr sz="2000" b="1">
                          <a:solidFill>
                            <a:srgbClr val="172B2A"/>
                          </a:solidFill>
                          <a:latin typeface="Noto Sans CJK KR"/>
                        </a:rPr>
                        <a:t>API</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시작·조회·Stream·Resume</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권한·중복 요청 통제</a:t>
                      </a:r>
                    </a:p>
                  </a:txBody>
                  <a:tcPr marL="137160" marR="91440" marT="91440" marB="54864" anchor="ctr">
                    <a:solidFill>
                      <a:srgbClr val="EDF0E9"/>
                    </a:solidFill>
                  </a:tcPr>
                </a:tc>
              </a:tr>
            </a:tbl>
          </a:graphicData>
        </a:graphic>
      </p:graphicFrame>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16362F"/>
        </a:solidFill>
        <a:effectLst/>
      </p:bgPr>
    </p:bg>
    <p:spTree>
      <p:nvGrpSpPr>
        <p:cNvPr id="1" name=""/>
        <p:cNvGrpSpPr/>
        <p:nvPr/>
      </p:nvGrpSpPr>
      <p:grpSpPr/>
      <p:sp>
        <p:nvSpPr>
          <p:cNvPr id="2" name="TEXT SESSION 3  /  실무·검증·운영"/>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E3EFE7"/>
                </a:solidFill>
                <a:latin typeface="Noto Sans CJK KR"/>
                <a:ea typeface="Noto Sans CJK KR"/>
                <a:latin typeface="Noto Sans CJK KR"/>
              </a:rPr>
              <a:t>SESSION 3  /  실무·검증·운영</a:t>
            </a:r>
          </a:p>
        </p:txBody>
      </p:sp>
      <p:sp>
        <p:nvSpPr>
          <p:cNvPr id="3" name="Rounded Rectangle 2"/>
          <p:cNvSpPr/>
          <p:nvPr/>
        </p:nvSpPr>
        <p:spPr>
          <a:xfrm>
            <a:off x="10195560" y="173736"/>
            <a:ext cx="1399032" cy="329184"/>
          </a:xfrm>
          <a:prstGeom prst="roundRect">
            <a:avLst>
              <a:gd name="adj" fmla="val 8000"/>
            </a:avLst>
          </a:prstGeom>
          <a:solidFill>
            <a:srgbClr val="E3EF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 60분 경로"/>
          <p:cNvSpPr txBox="1"/>
          <p:nvPr/>
        </p:nvSpPr>
        <p:spPr>
          <a:xfrm>
            <a:off x="10241280" y="214884"/>
            <a:ext cx="1307592" cy="182880"/>
          </a:xfrm>
          <a:prstGeom prst="rect">
            <a:avLst/>
          </a:prstGeom>
          <a:noFill/>
        </p:spPr>
        <p:txBody>
          <a:bodyPr wrap="square" lIns="0" rIns="0" tIns="0" bIns="0">
            <a:noAutofit/>
          </a:bodyPr>
          <a:lstStyle/>
          <a:p>
            <a:pPr algn="ctr">
              <a:lnSpc>
                <a:spcPct val="116000"/>
              </a:lnSpc>
              <a:spcBef>
                <a:spcPts val="0"/>
              </a:spcBef>
              <a:spcAft>
                <a:spcPts val="0"/>
              </a:spcAft>
            </a:pPr>
            <a:r>
              <a:rPr sz="1000" b="1">
                <a:solidFill>
                  <a:srgbClr val="126858"/>
                </a:solidFill>
                <a:latin typeface="Noto Sans CJK KR"/>
                <a:ea typeface="Noto Sans CJK KR"/>
                <a:latin typeface="Noto Sans CJK KR"/>
              </a:rPr>
              <a:t>60분 경로</a:t>
            </a:r>
          </a:p>
        </p:txBody>
      </p:sp>
      <p:sp>
        <p:nvSpPr>
          <p:cNvPr id="5" name="TEXT 교육 정리와 후속 작업"/>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FFFFFF"/>
                </a:solidFill>
                <a:latin typeface="Noto Sans CJK KR"/>
                <a:ea typeface="Noto Sans CJK KR"/>
                <a:latin typeface="Noto Sans CJK KR"/>
              </a:rPr>
              <a:t>교육 정리와 후속 작업</a:t>
            </a:r>
          </a:p>
        </p:txBody>
      </p:sp>
      <p:sp>
        <p:nvSpPr>
          <p:cNvPr id="6" name="TEXT 자기 업무 하나를 골라 책임 경계가 보이는 1페이지 설계를 만든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E3EFE7"/>
                </a:solidFill>
                <a:latin typeface="Noto Sans CJK KR"/>
                <a:ea typeface="Noto Sans CJK KR"/>
                <a:latin typeface="Noto Sans CJK KR"/>
              </a:rPr>
              <a:t>자기 업무 하나를 골라 책임 경계가 보이는 1페이지 설계를 만든다.</a:t>
            </a:r>
          </a:p>
        </p:txBody>
      </p:sp>
      <p:cxnSp>
        <p:nvCxnSpPr>
          <p:cNvPr id="7" name="Connector 6"/>
          <p:cNvCxnSpPr/>
          <p:nvPr/>
        </p:nvCxnSpPr>
        <p:spPr>
          <a:xfrm>
            <a:off x="594360" y="2267712"/>
            <a:ext cx="11000232" cy="0"/>
          </a:xfrm>
          <a:prstGeom prst="line">
            <a:avLst/>
          </a:prstGeom>
          <a:ln w="10160">
            <a:solidFill>
              <a:srgbClr val="5F7D6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594360" y="6391656"/>
            <a:ext cx="11000232" cy="0"/>
          </a:xfrm>
          <a:prstGeom prst="line">
            <a:avLst/>
          </a:prstGeom>
          <a:ln w="7620">
            <a:solidFill>
              <a:srgbClr val="5F7D6F"/>
            </a:solidFill>
          </a:ln>
        </p:spPr>
        <p:style>
          <a:lnRef idx="2">
            <a:schemeClr val="accent1"/>
          </a:lnRef>
          <a:fillRef idx="0">
            <a:schemeClr val="accent1"/>
          </a:fillRef>
          <a:effectRef idx="1">
            <a:schemeClr val="accent1"/>
          </a:effectRef>
          <a:fontRef idx="minor">
            <a:schemeClr val="tx1"/>
          </a:fontRef>
        </p:style>
      </p:cxnSp>
      <p:sp>
        <p:nvSpPr>
          <p:cNvPr id="9" name="TEXT AI AGENT FIELDNOTES  /  C01–C12"/>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E3EFE7"/>
                </a:solidFill>
                <a:latin typeface="Noto Sans CJK KR"/>
                <a:ea typeface="Noto Sans CJK KR"/>
                <a:latin typeface="Noto Sans CJK KR"/>
              </a:rPr>
              <a:t>AI AGENT FIELDNOTES  /  C01–C12</a:t>
            </a:r>
          </a:p>
        </p:txBody>
      </p:sp>
      <p:sp>
        <p:nvSpPr>
          <p:cNvPr id="10" name="TEXT 60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E3EFE7"/>
                </a:solidFill>
                <a:latin typeface="Noto Sans CJK KR"/>
                <a:ea typeface="Noto Sans CJK KR"/>
                <a:latin typeface="Noto Sans CJK KR"/>
              </a:rPr>
              <a:t>60 / 72</a:t>
            </a:r>
          </a:p>
        </p:txBody>
      </p:sp>
      <p:sp>
        <p:nvSpPr>
          <p:cNvPr id="11" name="TEXT 심화 A12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E3EFE7"/>
                </a:solidFill>
                <a:latin typeface="Noto Sans CJK KR"/>
                <a:ea typeface="Noto Sans CJK KR"/>
                <a:latin typeface="Noto Sans CJK KR"/>
              </a:rPr>
              <a:t>심화 A12 →</a:t>
            </a:r>
          </a:p>
        </p:txBody>
      </p:sp>
      <p:sp>
        <p:nvSpPr>
          <p:cNvPr id="12" name="TEXT 01"/>
          <p:cNvSpPr txBox="1"/>
          <p:nvPr/>
        </p:nvSpPr>
        <p:spPr>
          <a:xfrm>
            <a:off x="731520" y="2651760"/>
            <a:ext cx="502920" cy="365760"/>
          </a:xfrm>
          <a:prstGeom prst="rect">
            <a:avLst/>
          </a:prstGeom>
          <a:noFill/>
        </p:spPr>
        <p:txBody>
          <a:bodyPr wrap="square" lIns="0" rIns="0" tIns="0" bIns="0">
            <a:noAutofit/>
          </a:bodyPr>
          <a:lstStyle/>
          <a:p>
            <a:pPr algn="l">
              <a:lnSpc>
                <a:spcPct val="116000"/>
              </a:lnSpc>
              <a:spcBef>
                <a:spcPts val="0"/>
              </a:spcBef>
              <a:spcAft>
                <a:spcPts val="0"/>
              </a:spcAft>
            </a:pPr>
            <a:r>
              <a:rPr sz="1600" b="1">
                <a:solidFill>
                  <a:srgbClr val="E3EFE7"/>
                </a:solidFill>
                <a:latin typeface="Noto Sans CJK KR"/>
                <a:ea typeface="Noto Sans CJK KR"/>
                <a:latin typeface="Noto Sans CJK KR"/>
              </a:rPr>
              <a:t>01</a:t>
            </a:r>
          </a:p>
        </p:txBody>
      </p:sp>
      <p:sp>
        <p:nvSpPr>
          <p:cNvPr id="13" name="TEXT 입력 · State · Node의 책임"/>
          <p:cNvSpPr txBox="1"/>
          <p:nvPr/>
        </p:nvSpPr>
        <p:spPr>
          <a:xfrm>
            <a:off x="1417320" y="2578608"/>
            <a:ext cx="9601200" cy="530352"/>
          </a:xfrm>
          <a:prstGeom prst="rect">
            <a:avLst/>
          </a:prstGeom>
          <a:noFill/>
        </p:spPr>
        <p:txBody>
          <a:bodyPr wrap="square" lIns="0" rIns="0" tIns="0" bIns="0">
            <a:noAutofit/>
          </a:bodyPr>
          <a:lstStyle/>
          <a:p>
            <a:pPr algn="l">
              <a:lnSpc>
                <a:spcPct val="116000"/>
              </a:lnSpc>
              <a:spcBef>
                <a:spcPts val="0"/>
              </a:spcBef>
              <a:spcAft>
                <a:spcPts val="0"/>
              </a:spcAft>
            </a:pPr>
            <a:r>
              <a:rPr sz="2900" b="1">
                <a:solidFill>
                  <a:srgbClr val="FFFFFF"/>
                </a:solidFill>
                <a:latin typeface="Noto Sans CJK KR"/>
                <a:ea typeface="Noto Sans CJK KR"/>
                <a:latin typeface="Noto Sans CJK KR"/>
              </a:rPr>
              <a:t>입력 · State · Node의 책임</a:t>
            </a:r>
          </a:p>
        </p:txBody>
      </p:sp>
      <p:sp>
        <p:nvSpPr>
          <p:cNvPr id="14" name="TEXT 02"/>
          <p:cNvSpPr txBox="1"/>
          <p:nvPr/>
        </p:nvSpPr>
        <p:spPr>
          <a:xfrm>
            <a:off x="731520" y="3392424"/>
            <a:ext cx="502920" cy="365760"/>
          </a:xfrm>
          <a:prstGeom prst="rect">
            <a:avLst/>
          </a:prstGeom>
          <a:noFill/>
        </p:spPr>
        <p:txBody>
          <a:bodyPr wrap="square" lIns="0" rIns="0" tIns="0" bIns="0">
            <a:noAutofit/>
          </a:bodyPr>
          <a:lstStyle/>
          <a:p>
            <a:pPr algn="l">
              <a:lnSpc>
                <a:spcPct val="116000"/>
              </a:lnSpc>
              <a:spcBef>
                <a:spcPts val="0"/>
              </a:spcBef>
              <a:spcAft>
                <a:spcPts val="0"/>
              </a:spcAft>
            </a:pPr>
            <a:r>
              <a:rPr sz="1600" b="1">
                <a:solidFill>
                  <a:srgbClr val="E3EFE7"/>
                </a:solidFill>
                <a:latin typeface="Noto Sans CJK KR"/>
                <a:ea typeface="Noto Sans CJK KR"/>
                <a:latin typeface="Noto Sans CJK KR"/>
              </a:rPr>
              <a:t>02</a:t>
            </a:r>
          </a:p>
        </p:txBody>
      </p:sp>
      <p:sp>
        <p:nvSpPr>
          <p:cNvPr id="15" name="TEXT Tool · 근거 · 승인 대상"/>
          <p:cNvSpPr txBox="1"/>
          <p:nvPr/>
        </p:nvSpPr>
        <p:spPr>
          <a:xfrm>
            <a:off x="1417320" y="3319272"/>
            <a:ext cx="9601200" cy="530352"/>
          </a:xfrm>
          <a:prstGeom prst="rect">
            <a:avLst/>
          </a:prstGeom>
          <a:noFill/>
        </p:spPr>
        <p:txBody>
          <a:bodyPr wrap="square" lIns="0" rIns="0" tIns="0" bIns="0">
            <a:noAutofit/>
          </a:bodyPr>
          <a:lstStyle/>
          <a:p>
            <a:pPr algn="l">
              <a:lnSpc>
                <a:spcPct val="116000"/>
              </a:lnSpc>
              <a:spcBef>
                <a:spcPts val="0"/>
              </a:spcBef>
              <a:spcAft>
                <a:spcPts val="0"/>
              </a:spcAft>
            </a:pPr>
            <a:r>
              <a:rPr sz="2900" b="1">
                <a:solidFill>
                  <a:srgbClr val="FFFFFF"/>
                </a:solidFill>
                <a:latin typeface="Noto Sans CJK KR"/>
                <a:ea typeface="Noto Sans CJK KR"/>
                <a:latin typeface="Noto Sans CJK KR"/>
              </a:rPr>
              <a:t>Tool · 근거 · 승인 대상</a:t>
            </a:r>
          </a:p>
        </p:txBody>
      </p:sp>
      <p:sp>
        <p:nvSpPr>
          <p:cNvPr id="16" name="TEXT 03"/>
          <p:cNvSpPr txBox="1"/>
          <p:nvPr/>
        </p:nvSpPr>
        <p:spPr>
          <a:xfrm>
            <a:off x="731520" y="4133087"/>
            <a:ext cx="502920" cy="365760"/>
          </a:xfrm>
          <a:prstGeom prst="rect">
            <a:avLst/>
          </a:prstGeom>
          <a:noFill/>
        </p:spPr>
        <p:txBody>
          <a:bodyPr wrap="square" lIns="0" rIns="0" tIns="0" bIns="0">
            <a:noAutofit/>
          </a:bodyPr>
          <a:lstStyle/>
          <a:p>
            <a:pPr algn="l">
              <a:lnSpc>
                <a:spcPct val="116000"/>
              </a:lnSpc>
              <a:spcBef>
                <a:spcPts val="0"/>
              </a:spcBef>
              <a:spcAft>
                <a:spcPts val="0"/>
              </a:spcAft>
            </a:pPr>
            <a:r>
              <a:rPr sz="1600" b="1">
                <a:solidFill>
                  <a:srgbClr val="E3EFE7"/>
                </a:solidFill>
                <a:latin typeface="Noto Sans CJK KR"/>
                <a:ea typeface="Noto Sans CJK KR"/>
                <a:latin typeface="Noto Sans CJK KR"/>
              </a:rPr>
              <a:t>03</a:t>
            </a:r>
          </a:p>
        </p:txBody>
      </p:sp>
      <p:sp>
        <p:nvSpPr>
          <p:cNvPr id="17" name="TEXT 실패 · 재개 · 검증 기준"/>
          <p:cNvSpPr txBox="1"/>
          <p:nvPr/>
        </p:nvSpPr>
        <p:spPr>
          <a:xfrm>
            <a:off x="1417320" y="4059935"/>
            <a:ext cx="9601200" cy="530352"/>
          </a:xfrm>
          <a:prstGeom prst="rect">
            <a:avLst/>
          </a:prstGeom>
          <a:noFill/>
        </p:spPr>
        <p:txBody>
          <a:bodyPr wrap="square" lIns="0" rIns="0" tIns="0" bIns="0">
            <a:noAutofit/>
          </a:bodyPr>
          <a:lstStyle/>
          <a:p>
            <a:pPr algn="l">
              <a:lnSpc>
                <a:spcPct val="116000"/>
              </a:lnSpc>
              <a:spcBef>
                <a:spcPts val="0"/>
              </a:spcBef>
              <a:spcAft>
                <a:spcPts val="0"/>
              </a:spcAft>
            </a:pPr>
            <a:r>
              <a:rPr sz="2900" b="1">
                <a:solidFill>
                  <a:srgbClr val="FFFFFF"/>
                </a:solidFill>
                <a:latin typeface="Noto Sans CJK KR"/>
                <a:ea typeface="Noto Sans CJK KR"/>
                <a:latin typeface="Noto Sans CJK KR"/>
              </a:rPr>
              <a:t>실패 · 재개 · 검증 기준</a:t>
            </a:r>
          </a:p>
        </p:txBody>
      </p:sp>
      <p:sp>
        <p:nvSpPr>
          <p:cNvPr id="18" name="TEXT State 30% · Graph/승인 30% · 실패/테스트 30% · 설명 10"/>
          <p:cNvSpPr txBox="1"/>
          <p:nvPr/>
        </p:nvSpPr>
        <p:spPr>
          <a:xfrm>
            <a:off x="731520" y="5166360"/>
            <a:ext cx="10789920" cy="438912"/>
          </a:xfrm>
          <a:prstGeom prst="rect">
            <a:avLst/>
          </a:prstGeom>
          <a:noFill/>
        </p:spPr>
        <p:txBody>
          <a:bodyPr wrap="square" lIns="0" rIns="0" tIns="0" bIns="0">
            <a:noAutofit/>
          </a:bodyPr>
          <a:lstStyle/>
          <a:p>
            <a:pPr algn="l">
              <a:lnSpc>
                <a:spcPct val="116000"/>
              </a:lnSpc>
              <a:spcBef>
                <a:spcPts val="0"/>
              </a:spcBef>
              <a:spcAft>
                <a:spcPts val="0"/>
              </a:spcAft>
            </a:pPr>
            <a:r>
              <a:rPr sz="1900" b="0">
                <a:solidFill>
                  <a:srgbClr val="E3EFE7"/>
                </a:solidFill>
                <a:latin typeface="Noto Sans CJK KR"/>
                <a:ea typeface="Noto Sans CJK KR"/>
                <a:latin typeface="Noto Sans CJK KR"/>
              </a:rPr>
              <a:t>State 30% · Graph/승인 30% · 실패/테스트 30% · 설명 10%</a:t>
            </a:r>
          </a:p>
        </p:txBody>
      </p:sp>
      <p:sp>
        <p:nvSpPr>
          <p:cNvPr id="19" name="TEXT 권장 70점 이상 + 승인 없는 실행은 수정 후 재검토"/>
          <p:cNvSpPr txBox="1"/>
          <p:nvPr/>
        </p:nvSpPr>
        <p:spPr>
          <a:xfrm>
            <a:off x="731520" y="5742432"/>
            <a:ext cx="10789920" cy="320040"/>
          </a:xfrm>
          <a:prstGeom prst="rect">
            <a:avLst/>
          </a:prstGeom>
          <a:noFill/>
        </p:spPr>
        <p:txBody>
          <a:bodyPr wrap="square" lIns="0" rIns="0" tIns="0" bIns="0">
            <a:noAutofit/>
          </a:bodyPr>
          <a:lstStyle/>
          <a:p>
            <a:pPr algn="l">
              <a:lnSpc>
                <a:spcPct val="116000"/>
              </a:lnSpc>
              <a:spcBef>
                <a:spcPts val="0"/>
              </a:spcBef>
              <a:spcAft>
                <a:spcPts val="0"/>
              </a:spcAft>
            </a:pPr>
            <a:r>
              <a:rPr sz="1700" b="0">
                <a:solidFill>
                  <a:srgbClr val="E3EFE7"/>
                </a:solidFill>
                <a:latin typeface="Noto Sans CJK KR"/>
                <a:ea typeface="Noto Sans CJK KR"/>
                <a:latin typeface="Noto Sans CJK KR"/>
              </a:rPr>
              <a:t>권장 70점 이상 + 승인 없는 실행은 수정 후 재검토</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APPENDIX  /  선택 심화"/>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APPENDIX  /  선택 심화</a:t>
            </a:r>
          </a:p>
        </p:txBody>
      </p:sp>
      <p:sp>
        <p:nvSpPr>
          <p:cNvPr id="3" name="TEXT 용어 대응표"/>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용어 대응표</a:t>
            </a:r>
          </a:p>
        </p:txBody>
      </p:sp>
      <p:sp>
        <p:nvSpPr>
          <p:cNvPr id="4" name="TEXT 이름보다 책임·수명·소유자를 먼저 구분한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이름보다 책임·수명·소유자를 먼저 구분한다.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01·C04·C09"/>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C01·C04·C09</a:t>
            </a:r>
          </a:p>
        </p:txBody>
      </p:sp>
      <p:sp>
        <p:nvSpPr>
          <p:cNvPr id="8" name="TEXT A01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A01 / 72</a:t>
            </a:r>
          </a:p>
        </p:txBody>
      </p:sp>
      <p:sp>
        <p:nvSpPr>
          <p:cNvPr id="9" name="TEXT 본문 35로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본문 35로 →</a:t>
            </a:r>
          </a:p>
        </p:txBody>
      </p:sp>
      <p:graphicFrame>
        <p:nvGraphicFramePr>
          <p:cNvPr id="10" name="Table 9"/>
          <p:cNvGraphicFramePr>
            <a:graphicFrameLocks noGrp="1"/>
          </p:cNvGraphicFramePr>
          <p:nvPr/>
        </p:nvGraphicFramePr>
        <p:xfrm>
          <a:off x="594360" y="2587752"/>
          <a:ext cx="11000231" cy="3557016"/>
        </p:xfrm>
        <a:graphic>
          <a:graphicData uri="http://schemas.openxmlformats.org/drawingml/2006/table">
            <a:tbl>
              <a:tblPr firstRow="1" bandRow="1">
                <a:tableStyleId>{5C22544A-7EE6-4342-B048-85BDC9FD1C3A}</a:tableStyleId>
              </a:tblPr>
              <a:tblGrid>
                <a:gridCol w="2750058"/>
                <a:gridCol w="4290090"/>
                <a:gridCol w="3960083"/>
              </a:tblGrid>
              <a:tr h="484632">
                <a:tc>
                  <a:txBody>
                    <a:bodyPr/>
                    <a:lstStyle/>
                    <a:p>
                      <a:pPr>
                        <a:lnSpc>
                          <a:spcPct val="113000"/>
                        </a:lnSpc>
                        <a:spcAft>
                          <a:spcPts val="0"/>
                        </a:spcAft>
                      </a:pPr>
                      <a:r>
                        <a:rPr sz="1800" b="1">
                          <a:solidFill>
                            <a:srgbClr val="126858"/>
                          </a:solidFill>
                          <a:latin typeface="Noto Sans CJK KR"/>
                        </a:rPr>
                        <a:t>개념</a:t>
                      </a:r>
                    </a:p>
                  </a:txBody>
                  <a:tcPr marL="137160" marR="91440" marT="91440" marB="54864" anchor="ctr">
                    <a:solidFill>
                      <a:srgbClr val="E3EFE7"/>
                    </a:solidFill>
                  </a:tcPr>
                </a:tc>
                <a:tc>
                  <a:txBody>
                    <a:bodyPr/>
                    <a:lstStyle/>
                    <a:p>
                      <a:pPr>
                        <a:lnSpc>
                          <a:spcPct val="113000"/>
                        </a:lnSpc>
                        <a:spcAft>
                          <a:spcPts val="0"/>
                        </a:spcAft>
                      </a:pPr>
                      <a:r>
                        <a:rPr sz="1800" b="1">
                          <a:solidFill>
                            <a:srgbClr val="126858"/>
                          </a:solidFill>
                          <a:latin typeface="Noto Sans CJK KR"/>
                        </a:rPr>
                        <a:t>의미</a:t>
                      </a:r>
                    </a:p>
                  </a:txBody>
                  <a:tcPr marL="137160" marR="91440" marT="91440" marB="54864" anchor="ctr">
                    <a:solidFill>
                      <a:srgbClr val="E3EFE7"/>
                    </a:solidFill>
                  </a:tcPr>
                </a:tc>
                <a:tc>
                  <a:txBody>
                    <a:bodyPr/>
                    <a:lstStyle/>
                    <a:p>
                      <a:pPr>
                        <a:lnSpc>
                          <a:spcPct val="113000"/>
                        </a:lnSpc>
                        <a:spcAft>
                          <a:spcPts val="0"/>
                        </a:spcAft>
                      </a:pPr>
                      <a:r>
                        <a:rPr sz="1800" b="1">
                          <a:solidFill>
                            <a:srgbClr val="126858"/>
                          </a:solidFill>
                          <a:latin typeface="Noto Sans CJK KR"/>
                        </a:rPr>
                        <a:t>대표 소유자</a:t>
                      </a:r>
                    </a:p>
                  </a:txBody>
                  <a:tcPr marL="137160" marR="91440" marT="91440" marB="54864" anchor="ctr">
                    <a:solidFill>
                      <a:srgbClr val="E3EFE7"/>
                    </a:solidFill>
                  </a:tcPr>
                </a:tc>
              </a:tr>
              <a:tr h="768096">
                <a:tc>
                  <a:txBody>
                    <a:bodyPr/>
                    <a:lstStyle/>
                    <a:p>
                      <a:pPr>
                        <a:lnSpc>
                          <a:spcPct val="113000"/>
                        </a:lnSpc>
                        <a:spcAft>
                          <a:spcPts val="0"/>
                        </a:spcAft>
                      </a:pPr>
                      <a:r>
                        <a:rPr sz="2000" b="1">
                          <a:solidFill>
                            <a:srgbClr val="172B2A"/>
                          </a:solidFill>
                          <a:latin typeface="Noto Sans CJK KR"/>
                        </a:rPr>
                        <a:t>Agent / Graph</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판단 루프 / 명시적 실행 흐름</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Agent 실행기 / Workflow</a:t>
                      </a:r>
                    </a:p>
                  </a:txBody>
                  <a:tcPr marL="137160" marR="91440" marT="91440" marB="54864" anchor="ctr">
                    <a:solidFill>
                      <a:srgbClr val="FFFEF9"/>
                    </a:solidFill>
                  </a:tcPr>
                </a:tc>
              </a:tr>
              <a:tr h="768096">
                <a:tc>
                  <a:txBody>
                    <a:bodyPr/>
                    <a:lstStyle/>
                    <a:p>
                      <a:pPr>
                        <a:lnSpc>
                          <a:spcPct val="113000"/>
                        </a:lnSpc>
                        <a:spcAft>
                          <a:spcPts val="0"/>
                        </a:spcAft>
                      </a:pPr>
                      <a:r>
                        <a:rPr sz="2000" b="1">
                          <a:solidFill>
                            <a:srgbClr val="172B2A"/>
                          </a:solidFill>
                          <a:latin typeface="Noto Sans CJK KR"/>
                        </a:rPr>
                        <a:t>Thread / Checkpoint</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실행 식별 / 상태 snapshot</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실행·저장 계층</a:t>
                      </a:r>
                    </a:p>
                  </a:txBody>
                  <a:tcPr marL="137160" marR="91440" marT="91440" marB="54864" anchor="ctr">
                    <a:solidFill>
                      <a:srgbClr val="EDF0E9"/>
                    </a:solidFill>
                  </a:tcPr>
                </a:tc>
              </a:tr>
              <a:tr h="768096">
                <a:tc>
                  <a:txBody>
                    <a:bodyPr/>
                    <a:lstStyle/>
                    <a:p>
                      <a:pPr>
                        <a:lnSpc>
                          <a:spcPct val="113000"/>
                        </a:lnSpc>
                        <a:spcAft>
                          <a:spcPts val="0"/>
                        </a:spcAft>
                      </a:pPr>
                      <a:r>
                        <a:rPr sz="2000" b="1">
                          <a:solidFill>
                            <a:srgbClr val="172B2A"/>
                          </a:solidFill>
                          <a:latin typeface="Noto Sans CJK KR"/>
                        </a:rPr>
                        <a:t>State / 업무 DB</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판단·재개 데이터 / 확정 사실</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Graph / 도메인</a:t>
                      </a:r>
                    </a:p>
                  </a:txBody>
                  <a:tcPr marL="137160" marR="91440" marT="91440" marB="54864" anchor="ctr">
                    <a:solidFill>
                      <a:srgbClr val="FFFEF9"/>
                    </a:solidFill>
                  </a:tcPr>
                </a:tc>
              </a:tr>
              <a:tr h="768096">
                <a:tc>
                  <a:txBody>
                    <a:bodyPr/>
                    <a:lstStyle/>
                    <a:p>
                      <a:pPr>
                        <a:lnSpc>
                          <a:spcPct val="113000"/>
                        </a:lnSpc>
                        <a:spcAft>
                          <a:spcPts val="0"/>
                        </a:spcAft>
                      </a:pPr>
                      <a:r>
                        <a:rPr sz="2000" b="1">
                          <a:solidFill>
                            <a:srgbClr val="172B2A"/>
                          </a:solidFill>
                          <a:latin typeface="Noto Sans CJK KR"/>
                        </a:rPr>
                        <a:t>Retry / Resume</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재시도 / 저장 실행 이어가기</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Adapter / Graph</a:t>
                      </a:r>
                    </a:p>
                  </a:txBody>
                  <a:tcPr marL="137160" marR="91440" marT="91440" marB="54864" anchor="ctr">
                    <a:solidFill>
                      <a:srgbClr val="EDF0E9"/>
                    </a:solidFill>
                  </a:tcPr>
                </a:tc>
              </a:tr>
            </a:tbl>
          </a:graphicData>
        </a:graphic>
      </p:graphicFrame>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APPENDIX  /  선택 심화"/>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APPENDIX  /  선택 심화</a:t>
            </a:r>
          </a:p>
        </p:txBody>
      </p:sp>
      <p:sp>
        <p:nvSpPr>
          <p:cNvPr id="3" name="TEXT Agent와 일반 Backend의 경계"/>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Agent와 일반 Backend의 경계</a:t>
            </a:r>
          </a:p>
        </p:txBody>
      </p:sp>
      <p:sp>
        <p:nvSpPr>
          <p:cNvPr id="4" name="TEXT 모델 판단은 기존 Backend의 권한·트랜잭션 경계 안에 둔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모델 판단은 기존 Backend의 권한·트랜잭션 경계 안에 둔다.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01·C07"/>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C01·C07</a:t>
            </a:r>
          </a:p>
        </p:txBody>
      </p:sp>
      <p:sp>
        <p:nvSpPr>
          <p:cNvPr id="8" name="TEXT A02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A02 / 72</a:t>
            </a:r>
          </a:p>
        </p:txBody>
      </p:sp>
      <p:sp>
        <p:nvSpPr>
          <p:cNvPr id="9" name="TEXT 본문 06로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본문 06로 →</a:t>
            </a:r>
          </a:p>
        </p:txBody>
      </p:sp>
      <p:sp>
        <p:nvSpPr>
          <p:cNvPr id="10" name="Rounded Rectangle 9"/>
          <p:cNvSpPr/>
          <p:nvPr/>
        </p:nvSpPr>
        <p:spPr>
          <a:xfrm>
            <a:off x="594360" y="2606040"/>
            <a:ext cx="5376672" cy="3364992"/>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2606040"/>
            <a:ext cx="54864" cy="3364992"/>
          </a:xfrm>
          <a:prstGeom prst="rect">
            <a:avLst/>
          </a:prstGeom>
          <a:solidFill>
            <a:srgbClr val="126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Agent가 잘 맡는 일"/>
          <p:cNvSpPr txBox="1"/>
          <p:nvPr/>
        </p:nvSpPr>
        <p:spPr>
          <a:xfrm>
            <a:off x="795528" y="2788920"/>
            <a:ext cx="497433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Agent가 잘 맡는 일</a:t>
            </a:r>
          </a:p>
        </p:txBody>
      </p:sp>
      <p:sp>
        <p:nvSpPr>
          <p:cNvPr id="13" name="TEXT "/>
          <p:cNvSpPr txBox="1"/>
          <p:nvPr/>
        </p:nvSpPr>
        <p:spPr>
          <a:xfrm>
            <a:off x="795528" y="3474720"/>
            <a:ext cx="4974336" cy="2359152"/>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a:r>
          </a:p>
        </p:txBody>
      </p:sp>
      <p:sp>
        <p:nvSpPr>
          <p:cNvPr id="14" name="TEXT • 비정형 요청 해석"/>
          <p:cNvSpPr txBox="1"/>
          <p:nvPr/>
        </p:nvSpPr>
        <p:spPr>
          <a:xfrm>
            <a:off x="822960" y="3511296"/>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비정형 요청 해석</a:t>
            </a:r>
          </a:p>
        </p:txBody>
      </p:sp>
      <p:sp>
        <p:nvSpPr>
          <p:cNvPr id="15" name="TEXT • 정보 탐색 방향 제안"/>
          <p:cNvSpPr txBox="1"/>
          <p:nvPr/>
        </p:nvSpPr>
        <p:spPr>
          <a:xfrm>
            <a:off x="822960" y="4206240"/>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정보 탐색 방향 제안</a:t>
            </a:r>
          </a:p>
        </p:txBody>
      </p:sp>
      <p:sp>
        <p:nvSpPr>
          <p:cNvPr id="16" name="TEXT • 근거를 정리한 응답 생성"/>
          <p:cNvSpPr txBox="1"/>
          <p:nvPr/>
        </p:nvSpPr>
        <p:spPr>
          <a:xfrm>
            <a:off x="822960" y="4901183"/>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근거를 정리한 응답 생성</a:t>
            </a:r>
          </a:p>
        </p:txBody>
      </p:sp>
      <p:sp>
        <p:nvSpPr>
          <p:cNvPr id="17" name="Rounded Rectangle 16"/>
          <p:cNvSpPr/>
          <p:nvPr/>
        </p:nvSpPr>
        <p:spPr>
          <a:xfrm>
            <a:off x="6217920" y="2606040"/>
            <a:ext cx="5376672" cy="3364992"/>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2606040"/>
            <a:ext cx="54864" cy="3364992"/>
          </a:xfrm>
          <a:prstGeom prst="rect">
            <a:avLst/>
          </a:prstGeom>
          <a:solidFill>
            <a:srgbClr val="AD5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 Backend가 강제할 일"/>
          <p:cNvSpPr txBox="1"/>
          <p:nvPr/>
        </p:nvSpPr>
        <p:spPr>
          <a:xfrm>
            <a:off x="6419088" y="2788920"/>
            <a:ext cx="497433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AD572B"/>
                </a:solidFill>
                <a:latin typeface="Noto Sans CJK KR"/>
                <a:ea typeface="Noto Sans CJK KR"/>
                <a:latin typeface="Noto Sans CJK KR"/>
              </a:rPr>
              <a:t>Backend가 강제할 일</a:t>
            </a:r>
          </a:p>
        </p:txBody>
      </p:sp>
      <p:sp>
        <p:nvSpPr>
          <p:cNvPr id="20" name="TEXT "/>
          <p:cNvSpPr txBox="1"/>
          <p:nvPr/>
        </p:nvSpPr>
        <p:spPr>
          <a:xfrm>
            <a:off x="6419088" y="3474720"/>
            <a:ext cx="4974336" cy="2359152"/>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a:r>
          </a:p>
        </p:txBody>
      </p:sp>
      <p:sp>
        <p:nvSpPr>
          <p:cNvPr id="21" name="TEXT • 인증·권한·대상 검증"/>
          <p:cNvSpPr txBox="1"/>
          <p:nvPr/>
        </p:nvSpPr>
        <p:spPr>
          <a:xfrm>
            <a:off x="6446520" y="3511296"/>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인증·권한·대상 검증</a:t>
            </a:r>
          </a:p>
        </p:txBody>
      </p:sp>
      <p:sp>
        <p:nvSpPr>
          <p:cNvPr id="22" name="TEXT • 트랜잭션·실행 정책"/>
          <p:cNvSpPr txBox="1"/>
          <p:nvPr/>
        </p:nvSpPr>
        <p:spPr>
          <a:xfrm>
            <a:off x="6446520" y="4206240"/>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트랜잭션·실행 정책</a:t>
            </a:r>
          </a:p>
        </p:txBody>
      </p:sp>
      <p:sp>
        <p:nvSpPr>
          <p:cNvPr id="23" name="TEXT • 멱등성·감사·결과 조회"/>
          <p:cNvSpPr txBox="1"/>
          <p:nvPr/>
        </p:nvSpPr>
        <p:spPr>
          <a:xfrm>
            <a:off x="6446520" y="4901183"/>
            <a:ext cx="4892040" cy="585216"/>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 멱등성·감사·결과 조회</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APPENDIX  /  선택 심화"/>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APPENDIX  /  선택 심화</a:t>
            </a:r>
          </a:p>
        </p:txBody>
      </p:sp>
      <p:sp>
        <p:nvSpPr>
          <p:cNvPr id="3" name="TEXT Structured Output 전략"/>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Structured Output 전략</a:t>
            </a:r>
          </a:p>
        </p:txBody>
      </p:sp>
      <p:sp>
        <p:nvSpPr>
          <p:cNvPr id="4" name="TEXT Provider 지원과 Tool Calling 기반 방식을 구분한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Provider 지원과 Tool Calling 기반 방식을 구분한다.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03"/>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C03</a:t>
            </a:r>
          </a:p>
        </p:txBody>
      </p:sp>
      <p:sp>
        <p:nvSpPr>
          <p:cNvPr id="8" name="TEXT A03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A03 / 72</a:t>
            </a:r>
          </a:p>
        </p:txBody>
      </p:sp>
      <p:sp>
        <p:nvSpPr>
          <p:cNvPr id="9" name="TEXT 본문 10로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본문 10로 →</a:t>
            </a:r>
          </a:p>
        </p:txBody>
      </p:sp>
      <p:graphicFrame>
        <p:nvGraphicFramePr>
          <p:cNvPr id="10" name="Table 9"/>
          <p:cNvGraphicFramePr>
            <a:graphicFrameLocks noGrp="1"/>
          </p:cNvGraphicFramePr>
          <p:nvPr/>
        </p:nvGraphicFramePr>
        <p:xfrm>
          <a:off x="594360" y="2587752"/>
          <a:ext cx="11000231" cy="3557016"/>
        </p:xfrm>
        <a:graphic>
          <a:graphicData uri="http://schemas.openxmlformats.org/drawingml/2006/table">
            <a:tbl>
              <a:tblPr firstRow="1" bandRow="1">
                <a:tableStyleId>{5C22544A-7EE6-4342-B048-85BDC9FD1C3A}</a:tableStyleId>
              </a:tblPr>
              <a:tblGrid>
                <a:gridCol w="2750058"/>
                <a:gridCol w="4290090"/>
                <a:gridCol w="3960083"/>
              </a:tblGrid>
              <a:tr h="484632">
                <a:tc>
                  <a:txBody>
                    <a:bodyPr/>
                    <a:lstStyle/>
                    <a:p>
                      <a:pPr>
                        <a:lnSpc>
                          <a:spcPct val="113000"/>
                        </a:lnSpc>
                        <a:spcAft>
                          <a:spcPts val="0"/>
                        </a:spcAft>
                      </a:pPr>
                      <a:r>
                        <a:rPr sz="1800" b="1">
                          <a:solidFill>
                            <a:srgbClr val="126858"/>
                          </a:solidFill>
                          <a:latin typeface="Noto Sans CJK KR"/>
                        </a:rPr>
                        <a:t>전략</a:t>
                      </a:r>
                    </a:p>
                  </a:txBody>
                  <a:tcPr marL="137160" marR="91440" marT="91440" marB="54864" anchor="ctr">
                    <a:solidFill>
                      <a:srgbClr val="E3EFE7"/>
                    </a:solidFill>
                  </a:tcPr>
                </a:tc>
                <a:tc>
                  <a:txBody>
                    <a:bodyPr/>
                    <a:lstStyle/>
                    <a:p>
                      <a:pPr>
                        <a:lnSpc>
                          <a:spcPct val="113000"/>
                        </a:lnSpc>
                        <a:spcAft>
                          <a:spcPts val="0"/>
                        </a:spcAft>
                      </a:pPr>
                      <a:r>
                        <a:rPr sz="1800" b="1">
                          <a:solidFill>
                            <a:srgbClr val="126858"/>
                          </a:solidFill>
                          <a:latin typeface="Noto Sans CJK KR"/>
                        </a:rPr>
                        <a:t>작동 방식</a:t>
                      </a:r>
                    </a:p>
                  </a:txBody>
                  <a:tcPr marL="137160" marR="91440" marT="91440" marB="54864" anchor="ctr">
                    <a:solidFill>
                      <a:srgbClr val="E3EFE7"/>
                    </a:solidFill>
                  </a:tcPr>
                </a:tc>
                <a:tc>
                  <a:txBody>
                    <a:bodyPr/>
                    <a:lstStyle/>
                    <a:p>
                      <a:pPr>
                        <a:lnSpc>
                          <a:spcPct val="113000"/>
                        </a:lnSpc>
                        <a:spcAft>
                          <a:spcPts val="0"/>
                        </a:spcAft>
                      </a:pPr>
                      <a:r>
                        <a:rPr sz="1800" b="1">
                          <a:solidFill>
                            <a:srgbClr val="126858"/>
                          </a:solidFill>
                          <a:latin typeface="Noto Sans CJK KR"/>
                        </a:rPr>
                        <a:t>확인할 것</a:t>
                      </a:r>
                    </a:p>
                  </a:txBody>
                  <a:tcPr marL="137160" marR="91440" marT="91440" marB="54864" anchor="ctr">
                    <a:solidFill>
                      <a:srgbClr val="E3EFE7"/>
                    </a:solidFill>
                  </a:tcPr>
                </a:tc>
              </a:tr>
              <a:tr h="768096">
                <a:tc>
                  <a:txBody>
                    <a:bodyPr/>
                    <a:lstStyle/>
                    <a:p>
                      <a:pPr>
                        <a:lnSpc>
                          <a:spcPct val="113000"/>
                        </a:lnSpc>
                        <a:spcAft>
                          <a:spcPts val="0"/>
                        </a:spcAft>
                      </a:pPr>
                      <a:r>
                        <a:rPr sz="2000" b="1">
                          <a:solidFill>
                            <a:srgbClr val="172B2A"/>
                          </a:solidFill>
                          <a:latin typeface="Noto Sans CJK KR"/>
                        </a:rPr>
                        <a:t>ProviderStrategy</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Provider 네이티브 제약</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지원 모델·Schema 범위</a:t>
                      </a:r>
                    </a:p>
                  </a:txBody>
                  <a:tcPr marL="137160" marR="91440" marT="91440" marB="54864" anchor="ctr">
                    <a:solidFill>
                      <a:srgbClr val="FFFEF9"/>
                    </a:solidFill>
                  </a:tcPr>
                </a:tc>
              </a:tr>
              <a:tr h="768096">
                <a:tc>
                  <a:txBody>
                    <a:bodyPr/>
                    <a:lstStyle/>
                    <a:p>
                      <a:pPr>
                        <a:lnSpc>
                          <a:spcPct val="113000"/>
                        </a:lnSpc>
                        <a:spcAft>
                          <a:spcPts val="0"/>
                        </a:spcAft>
                      </a:pPr>
                      <a:r>
                        <a:rPr sz="2000" b="1">
                          <a:solidFill>
                            <a:srgbClr val="172B2A"/>
                          </a:solidFill>
                          <a:latin typeface="Noto Sans CJK KR"/>
                        </a:rPr>
                        <a:t>ToolStrategy</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Tool Calling 기반 응답</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모델 Tool 기능·SDK 처리</a:t>
                      </a:r>
                    </a:p>
                  </a:txBody>
                  <a:tcPr marL="137160" marR="91440" marT="91440" marB="54864" anchor="ctr">
                    <a:solidFill>
                      <a:srgbClr val="EDF0E9"/>
                    </a:solidFill>
                  </a:tcPr>
                </a:tc>
              </a:tr>
              <a:tr h="768096">
                <a:tc>
                  <a:txBody>
                    <a:bodyPr/>
                    <a:lstStyle/>
                    <a:p>
                      <a:pPr>
                        <a:lnSpc>
                          <a:spcPct val="113000"/>
                        </a:lnSpc>
                        <a:spcAft>
                          <a:spcPts val="0"/>
                        </a:spcAft>
                      </a:pPr>
                      <a:r>
                        <a:rPr sz="2000" b="1">
                          <a:solidFill>
                            <a:srgbClr val="172B2A"/>
                          </a:solidFill>
                          <a:latin typeface="Noto Sans CJK KR"/>
                        </a:rPr>
                        <a:t>Schema 검증</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필드·타입·값 제약</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오류·보정 예산</a:t>
                      </a:r>
                    </a:p>
                  </a:txBody>
                  <a:tcPr marL="137160" marR="91440" marT="91440" marB="54864" anchor="ctr">
                    <a:solidFill>
                      <a:srgbClr val="FFFEF9"/>
                    </a:solidFill>
                  </a:tcPr>
                </a:tc>
              </a:tr>
              <a:tr h="768096">
                <a:tc>
                  <a:txBody>
                    <a:bodyPr/>
                    <a:lstStyle/>
                    <a:p>
                      <a:pPr>
                        <a:lnSpc>
                          <a:spcPct val="113000"/>
                        </a:lnSpc>
                        <a:spcAft>
                          <a:spcPts val="0"/>
                        </a:spcAft>
                      </a:pPr>
                      <a:r>
                        <a:rPr sz="2000" b="1">
                          <a:solidFill>
                            <a:srgbClr val="172B2A"/>
                          </a:solidFill>
                          <a:latin typeface="Noto Sans CJK KR"/>
                        </a:rPr>
                        <a:t>Evidence 검증</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관측 근거·주장 대조</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의미·시점·대상·권한</a:t>
                      </a:r>
                    </a:p>
                  </a:txBody>
                  <a:tcPr marL="137160" marR="91440" marT="91440" marB="54864" anchor="ctr">
                    <a:solidFill>
                      <a:srgbClr val="EDF0E9"/>
                    </a:solidFill>
                  </a:tcPr>
                </a:tc>
              </a:tr>
            </a:tbl>
          </a:graphicData>
        </a:graphic>
      </p:graphicFrame>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APPENDIX  /  선택 심화"/>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APPENDIX  /  선택 심화</a:t>
            </a:r>
          </a:p>
        </p:txBody>
      </p:sp>
      <p:sp>
        <p:nvSpPr>
          <p:cNvPr id="3" name="TEXT State Schema와 Reducer"/>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State Schema와 Reducer</a:t>
            </a:r>
          </a:p>
        </p:txBody>
      </p:sp>
      <p:sp>
        <p:nvSpPr>
          <p:cNvPr id="4" name="TEXT 병렬 갱신은 타입뿐 아니라 병합의 의미를 설계해야 한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병렬 갱신은 타입뿐 아니라 병합의 의미를 설계해야 한다.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04"/>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C04</a:t>
            </a:r>
          </a:p>
        </p:txBody>
      </p:sp>
      <p:sp>
        <p:nvSpPr>
          <p:cNvPr id="8" name="TEXT A04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A04 / 72</a:t>
            </a:r>
          </a:p>
        </p:txBody>
      </p:sp>
      <p:sp>
        <p:nvSpPr>
          <p:cNvPr id="9" name="TEXT 본문 14로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본문 14로 →</a:t>
            </a:r>
          </a:p>
        </p:txBody>
      </p:sp>
      <p:sp>
        <p:nvSpPr>
          <p:cNvPr id="10" name="Rounded Rectangle 9"/>
          <p:cNvSpPr/>
          <p:nvPr/>
        </p:nvSpPr>
        <p:spPr>
          <a:xfrm>
            <a:off x="594360" y="2660904"/>
            <a:ext cx="3547872" cy="3154680"/>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2660904"/>
            <a:ext cx="54864" cy="3154680"/>
          </a:xfrm>
          <a:prstGeom prst="rect">
            <a:avLst/>
          </a:prstGeom>
          <a:solidFill>
            <a:srgbClr val="126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기본 선택"/>
          <p:cNvSpPr txBox="1"/>
          <p:nvPr/>
        </p:nvSpPr>
        <p:spPr>
          <a:xfrm>
            <a:off x="795528" y="2843784"/>
            <a:ext cx="314553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기본 선택</a:t>
            </a:r>
          </a:p>
        </p:txBody>
      </p:sp>
      <p:sp>
        <p:nvSpPr>
          <p:cNvPr id="13" name="TEXT Node별 결과 키 분리&#10;합류 후 전체 상태 결정"/>
          <p:cNvSpPr txBox="1"/>
          <p:nvPr/>
        </p:nvSpPr>
        <p:spPr>
          <a:xfrm>
            <a:off x="795528" y="3529584"/>
            <a:ext cx="3145536" cy="2148840"/>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Node별 결과 키 분리</a:t>
            </a:r>
          </a:p>
          <a:p>
            <a:pPr algn="l">
              <a:lnSpc>
                <a:spcPct val="116000"/>
              </a:lnSpc>
              <a:spcBef>
                <a:spcPts val="0"/>
              </a:spcBef>
              <a:spcAft>
                <a:spcPts val="0"/>
              </a:spcAft>
            </a:pPr>
            <a:r>
              <a:rPr sz="2200" b="0">
                <a:solidFill>
                  <a:srgbClr val="172B2A"/>
                </a:solidFill>
                <a:latin typeface="Noto Sans CJK KR"/>
                <a:ea typeface="Noto Sans CJK KR"/>
                <a:latin typeface="Noto Sans CJK KR"/>
              </a:rPr>
              <a:t>합류 후 전체 상태 결정</a:t>
            </a:r>
          </a:p>
        </p:txBody>
      </p:sp>
      <p:sp>
        <p:nvSpPr>
          <p:cNvPr id="14" name="Rounded Rectangle 13"/>
          <p:cNvSpPr/>
          <p:nvPr/>
        </p:nvSpPr>
        <p:spPr>
          <a:xfrm>
            <a:off x="4315968" y="2660904"/>
            <a:ext cx="3547872" cy="3154680"/>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15968" y="2660904"/>
            <a:ext cx="54864" cy="3154680"/>
          </a:xfrm>
          <a:prstGeom prst="rect">
            <a:avLst/>
          </a:prstGeom>
          <a:solidFill>
            <a:srgbClr val="345C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공유 키가 필요하면"/>
          <p:cNvSpPr txBox="1"/>
          <p:nvPr/>
        </p:nvSpPr>
        <p:spPr>
          <a:xfrm>
            <a:off x="4517136" y="2843784"/>
            <a:ext cx="314553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345CB5"/>
                </a:solidFill>
                <a:latin typeface="Noto Sans CJK KR"/>
                <a:ea typeface="Noto Sans CJK KR"/>
                <a:latin typeface="Noto Sans CJK KR"/>
              </a:rPr>
              <a:t>공유 키가 필요하면</a:t>
            </a:r>
          </a:p>
        </p:txBody>
      </p:sp>
      <p:sp>
        <p:nvSpPr>
          <p:cNvPr id="17" name="TEXT reducer의 순서·중복·충돌 정의&#10;동시 갱신 테스트"/>
          <p:cNvSpPr txBox="1"/>
          <p:nvPr/>
        </p:nvSpPr>
        <p:spPr>
          <a:xfrm>
            <a:off x="4517136" y="3529584"/>
            <a:ext cx="3145536" cy="2148840"/>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reducer의 순서·중복·충돌 정의</a:t>
            </a:r>
          </a:p>
          <a:p>
            <a:pPr algn="l">
              <a:lnSpc>
                <a:spcPct val="116000"/>
              </a:lnSpc>
              <a:spcBef>
                <a:spcPts val="0"/>
              </a:spcBef>
              <a:spcAft>
                <a:spcPts val="0"/>
              </a:spcAft>
            </a:pPr>
            <a:r>
              <a:rPr sz="2200" b="0">
                <a:solidFill>
                  <a:srgbClr val="172B2A"/>
                </a:solidFill>
                <a:latin typeface="Noto Sans CJK KR"/>
                <a:ea typeface="Noto Sans CJK KR"/>
                <a:latin typeface="Noto Sans CJK KR"/>
              </a:rPr>
              <a:t>동시 갱신 테스트</a:t>
            </a:r>
          </a:p>
        </p:txBody>
      </p:sp>
      <p:sp>
        <p:nvSpPr>
          <p:cNvPr id="18" name="Rounded Rectangle 17"/>
          <p:cNvSpPr/>
          <p:nvPr/>
        </p:nvSpPr>
        <p:spPr>
          <a:xfrm>
            <a:off x="8037576" y="2660904"/>
            <a:ext cx="3547872" cy="3154680"/>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37576" y="2660904"/>
            <a:ext cx="54864" cy="3154680"/>
          </a:xfrm>
          <a:prstGeom prst="rect">
            <a:avLst/>
          </a:prstGeom>
          <a:solidFill>
            <a:srgbClr val="AD5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 경계 검증"/>
          <p:cNvSpPr txBox="1"/>
          <p:nvPr/>
        </p:nvSpPr>
        <p:spPr>
          <a:xfrm>
            <a:off x="8238744" y="2843784"/>
            <a:ext cx="314553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AD572B"/>
                </a:solidFill>
                <a:latin typeface="Noto Sans CJK KR"/>
                <a:ea typeface="Noto Sans CJK KR"/>
                <a:latin typeface="Noto Sans CJK KR"/>
              </a:rPr>
              <a:t>경계 검증</a:t>
            </a:r>
          </a:p>
        </p:txBody>
      </p:sp>
      <p:sp>
        <p:nvSpPr>
          <p:cNvPr id="21" name="TEXT TypedDict는 타입 계약&#10;Pydantic은 런타임 값 검사"/>
          <p:cNvSpPr txBox="1"/>
          <p:nvPr/>
        </p:nvSpPr>
        <p:spPr>
          <a:xfrm>
            <a:off x="8238744" y="3529584"/>
            <a:ext cx="3145536" cy="2148840"/>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TypedDict는 타입 계약</a:t>
            </a:r>
          </a:p>
          <a:p>
            <a:pPr algn="l">
              <a:lnSpc>
                <a:spcPct val="116000"/>
              </a:lnSpc>
              <a:spcBef>
                <a:spcPts val="0"/>
              </a:spcBef>
              <a:spcAft>
                <a:spcPts val="0"/>
              </a:spcAft>
            </a:pPr>
            <a:r>
              <a:rPr sz="2200" b="0">
                <a:solidFill>
                  <a:srgbClr val="172B2A"/>
                </a:solidFill>
                <a:latin typeface="Noto Sans CJK KR"/>
                <a:ea typeface="Noto Sans CJK KR"/>
                <a:latin typeface="Noto Sans CJK KR"/>
              </a:rPr>
              <a:t>Pydantic은 런타임 값 검사</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APPENDIX  /  선택 심화"/>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APPENDIX  /  선택 심화</a:t>
            </a:r>
          </a:p>
        </p:txBody>
      </p:sp>
      <p:sp>
        <p:nvSpPr>
          <p:cNvPr id="3" name="TEXT Graph 패턴 선택표"/>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Graph 패턴 선택표</a:t>
            </a:r>
          </a:p>
        </p:txBody>
      </p:sp>
      <p:sp>
        <p:nvSpPr>
          <p:cNvPr id="4" name="TEXT 데이터 의존성과 종료 조건이 패턴 선택의 기준이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데이터 의존성과 종료 조건이 패턴 선택의 기준이다.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05"/>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C05</a:t>
            </a:r>
          </a:p>
        </p:txBody>
      </p:sp>
      <p:sp>
        <p:nvSpPr>
          <p:cNvPr id="8" name="TEXT A05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A05 / 72</a:t>
            </a:r>
          </a:p>
        </p:txBody>
      </p:sp>
      <p:sp>
        <p:nvSpPr>
          <p:cNvPr id="9" name="TEXT 본문 17로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본문 17로 →</a:t>
            </a:r>
          </a:p>
        </p:txBody>
      </p:sp>
      <p:graphicFrame>
        <p:nvGraphicFramePr>
          <p:cNvPr id="10" name="Table 9"/>
          <p:cNvGraphicFramePr>
            <a:graphicFrameLocks noGrp="1"/>
          </p:cNvGraphicFramePr>
          <p:nvPr/>
        </p:nvGraphicFramePr>
        <p:xfrm>
          <a:off x="594360" y="2587752"/>
          <a:ext cx="11000231" cy="3557016"/>
        </p:xfrm>
        <a:graphic>
          <a:graphicData uri="http://schemas.openxmlformats.org/drawingml/2006/table">
            <a:tbl>
              <a:tblPr firstRow="1" bandRow="1">
                <a:tableStyleId>{5C22544A-7EE6-4342-B048-85BDC9FD1C3A}</a:tableStyleId>
              </a:tblPr>
              <a:tblGrid>
                <a:gridCol w="2750058"/>
                <a:gridCol w="4290090"/>
                <a:gridCol w="3960083"/>
              </a:tblGrid>
              <a:tr h="484632">
                <a:tc>
                  <a:txBody>
                    <a:bodyPr/>
                    <a:lstStyle/>
                    <a:p>
                      <a:pPr>
                        <a:lnSpc>
                          <a:spcPct val="113000"/>
                        </a:lnSpc>
                        <a:spcAft>
                          <a:spcPts val="0"/>
                        </a:spcAft>
                      </a:pPr>
                      <a:r>
                        <a:rPr sz="1800" b="1">
                          <a:solidFill>
                            <a:srgbClr val="126858"/>
                          </a:solidFill>
                          <a:latin typeface="Noto Sans CJK KR"/>
                        </a:rPr>
                        <a:t>패턴</a:t>
                      </a:r>
                    </a:p>
                  </a:txBody>
                  <a:tcPr marL="137160" marR="91440" marT="91440" marB="54864" anchor="ctr">
                    <a:solidFill>
                      <a:srgbClr val="E3EFE7"/>
                    </a:solidFill>
                  </a:tcPr>
                </a:tc>
                <a:tc>
                  <a:txBody>
                    <a:bodyPr/>
                    <a:lstStyle/>
                    <a:p>
                      <a:pPr>
                        <a:lnSpc>
                          <a:spcPct val="113000"/>
                        </a:lnSpc>
                        <a:spcAft>
                          <a:spcPts val="0"/>
                        </a:spcAft>
                      </a:pPr>
                      <a:r>
                        <a:rPr sz="1800" b="1">
                          <a:solidFill>
                            <a:srgbClr val="126858"/>
                          </a:solidFill>
                          <a:latin typeface="Noto Sans CJK KR"/>
                        </a:rPr>
                        <a:t>선택 기준</a:t>
                      </a:r>
                    </a:p>
                  </a:txBody>
                  <a:tcPr marL="137160" marR="91440" marT="91440" marB="54864" anchor="ctr">
                    <a:solidFill>
                      <a:srgbClr val="E3EFE7"/>
                    </a:solidFill>
                  </a:tcPr>
                </a:tc>
                <a:tc>
                  <a:txBody>
                    <a:bodyPr/>
                    <a:lstStyle/>
                    <a:p>
                      <a:pPr>
                        <a:lnSpc>
                          <a:spcPct val="113000"/>
                        </a:lnSpc>
                        <a:spcAft>
                          <a:spcPts val="0"/>
                        </a:spcAft>
                      </a:pPr>
                      <a:r>
                        <a:rPr sz="1800" b="1">
                          <a:solidFill>
                            <a:srgbClr val="126858"/>
                          </a:solidFill>
                          <a:latin typeface="Noto Sans CJK KR"/>
                        </a:rPr>
                        <a:t>필수 계약</a:t>
                      </a:r>
                    </a:p>
                  </a:txBody>
                  <a:tcPr marL="137160" marR="91440" marT="91440" marB="54864" anchor="ctr">
                    <a:solidFill>
                      <a:srgbClr val="E3EFE7"/>
                    </a:solidFill>
                  </a:tcPr>
                </a:tc>
              </a:tr>
              <a:tr h="768096">
                <a:tc>
                  <a:txBody>
                    <a:bodyPr/>
                    <a:lstStyle/>
                    <a:p>
                      <a:pPr>
                        <a:lnSpc>
                          <a:spcPct val="113000"/>
                        </a:lnSpc>
                        <a:spcAft>
                          <a:spcPts val="0"/>
                        </a:spcAft>
                      </a:pPr>
                      <a:r>
                        <a:rPr sz="2000" b="1">
                          <a:solidFill>
                            <a:srgbClr val="172B2A"/>
                          </a:solidFill>
                          <a:latin typeface="Noto Sans CJK KR"/>
                        </a:rPr>
                        <a:t>순차 / Router</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선행 결과 / 경로 선택</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입력·허용 라벨</a:t>
                      </a:r>
                    </a:p>
                  </a:txBody>
                  <a:tcPr marL="137160" marR="91440" marT="91440" marB="54864" anchor="ctr">
                    <a:solidFill>
                      <a:srgbClr val="FFFEF9"/>
                    </a:solidFill>
                  </a:tcPr>
                </a:tc>
              </a:tr>
              <a:tr h="768096">
                <a:tc>
                  <a:txBody>
                    <a:bodyPr/>
                    <a:lstStyle/>
                    <a:p>
                      <a:pPr>
                        <a:lnSpc>
                          <a:spcPct val="113000"/>
                        </a:lnSpc>
                        <a:spcAft>
                          <a:spcPts val="0"/>
                        </a:spcAft>
                      </a:pPr>
                      <a:r>
                        <a:rPr sz="2000" b="1">
                          <a:solidFill>
                            <a:srgbClr val="172B2A"/>
                          </a:solidFill>
                          <a:latin typeface="Noto Sans CJK KR"/>
                        </a:rPr>
                        <a:t>병렬·합류</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독립 입력</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필수 완료·결과 병합</a:t>
                      </a:r>
                    </a:p>
                  </a:txBody>
                  <a:tcPr marL="137160" marR="91440" marT="91440" marB="54864" anchor="ctr">
                    <a:solidFill>
                      <a:srgbClr val="EDF0E9"/>
                    </a:solidFill>
                  </a:tcPr>
                </a:tc>
              </a:tr>
              <a:tr h="768096">
                <a:tc>
                  <a:txBody>
                    <a:bodyPr/>
                    <a:lstStyle/>
                    <a:p>
                      <a:pPr>
                        <a:lnSpc>
                          <a:spcPct val="113000"/>
                        </a:lnSpc>
                        <a:spcAft>
                          <a:spcPts val="0"/>
                        </a:spcAft>
                      </a:pPr>
                      <a:r>
                        <a:rPr sz="2000" b="1">
                          <a:solidFill>
                            <a:srgbClr val="172B2A"/>
                          </a:solidFill>
                          <a:latin typeface="Noto Sans CJK KR"/>
                        </a:rPr>
                        <a:t>제한 반복</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일시 실패·근거 보강</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횟수·시간·비용 한도</a:t>
                      </a:r>
                    </a:p>
                  </a:txBody>
                  <a:tcPr marL="137160" marR="91440" marT="91440" marB="54864" anchor="ctr">
                    <a:solidFill>
                      <a:srgbClr val="FFFEF9"/>
                    </a:solidFill>
                  </a:tcPr>
                </a:tc>
              </a:tr>
              <a:tr h="768096">
                <a:tc>
                  <a:txBody>
                    <a:bodyPr/>
                    <a:lstStyle/>
                    <a:p>
                      <a:pPr>
                        <a:lnSpc>
                          <a:spcPct val="113000"/>
                        </a:lnSpc>
                        <a:spcAft>
                          <a:spcPts val="0"/>
                        </a:spcAft>
                      </a:pPr>
                      <a:r>
                        <a:rPr sz="2000" b="1">
                          <a:solidFill>
                            <a:srgbClr val="172B2A"/>
                          </a:solidFill>
                          <a:latin typeface="Noto Sans CJK KR"/>
                        </a:rPr>
                        <a:t>HITL</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사람 결정 필요</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대상·중단·동일 thread 재개</a:t>
                      </a:r>
                    </a:p>
                  </a:txBody>
                  <a:tcPr marL="137160" marR="91440" marT="91440" marB="54864" anchor="ctr">
                    <a:solidFill>
                      <a:srgbClr val="EDF0E9"/>
                    </a:solidFill>
                  </a:tcPr>
                </a:tc>
              </a:tr>
            </a:tbl>
          </a:graphicData>
        </a:graphic>
      </p:graphicFrame>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APPENDIX  /  선택 심화"/>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APPENDIX  /  선택 심화</a:t>
            </a:r>
          </a:p>
        </p:txBody>
      </p:sp>
      <p:sp>
        <p:nvSpPr>
          <p:cNvPr id="3" name="TEXT Runbook Metadata 설계"/>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Runbook Metadata 설계</a:t>
            </a:r>
          </a:p>
        </p:txBody>
      </p:sp>
      <p:sp>
        <p:nvSpPr>
          <p:cNvPr id="4" name="TEXT 검색 점수 외에 문서가 쓰일 수 있는 조건을 남긴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검색 점수 외에 문서가 쓰일 수 있는 조건을 남긴다.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06"/>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C06</a:t>
            </a:r>
          </a:p>
        </p:txBody>
      </p:sp>
      <p:sp>
        <p:nvSpPr>
          <p:cNvPr id="8" name="TEXT A06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A06 / 72</a:t>
            </a:r>
          </a:p>
        </p:txBody>
      </p:sp>
      <p:sp>
        <p:nvSpPr>
          <p:cNvPr id="9" name="TEXT 본문 24로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본문 24로 →</a:t>
            </a:r>
          </a:p>
        </p:txBody>
      </p:sp>
      <p:graphicFrame>
        <p:nvGraphicFramePr>
          <p:cNvPr id="10" name="Table 9"/>
          <p:cNvGraphicFramePr>
            <a:graphicFrameLocks noGrp="1"/>
          </p:cNvGraphicFramePr>
          <p:nvPr/>
        </p:nvGraphicFramePr>
        <p:xfrm>
          <a:off x="594360" y="2587752"/>
          <a:ext cx="11000231" cy="3557016"/>
        </p:xfrm>
        <a:graphic>
          <a:graphicData uri="http://schemas.openxmlformats.org/drawingml/2006/table">
            <a:tbl>
              <a:tblPr firstRow="1" bandRow="1">
                <a:tableStyleId>{5C22544A-7EE6-4342-B048-85BDC9FD1C3A}</a:tableStyleId>
              </a:tblPr>
              <a:tblGrid>
                <a:gridCol w="2750058"/>
                <a:gridCol w="4290090"/>
                <a:gridCol w="3960083"/>
              </a:tblGrid>
              <a:tr h="484632">
                <a:tc>
                  <a:txBody>
                    <a:bodyPr/>
                    <a:lstStyle/>
                    <a:p>
                      <a:pPr>
                        <a:lnSpc>
                          <a:spcPct val="113000"/>
                        </a:lnSpc>
                        <a:spcAft>
                          <a:spcPts val="0"/>
                        </a:spcAft>
                      </a:pPr>
                      <a:r>
                        <a:rPr sz="1800" b="1">
                          <a:solidFill>
                            <a:srgbClr val="126858"/>
                          </a:solidFill>
                          <a:latin typeface="Noto Sans CJK KR"/>
                        </a:rPr>
                        <a:t>범주</a:t>
                      </a:r>
                    </a:p>
                  </a:txBody>
                  <a:tcPr marL="137160" marR="91440" marT="91440" marB="54864" anchor="ctr">
                    <a:solidFill>
                      <a:srgbClr val="E3EFE7"/>
                    </a:solidFill>
                  </a:tcPr>
                </a:tc>
                <a:tc>
                  <a:txBody>
                    <a:bodyPr/>
                    <a:lstStyle/>
                    <a:p>
                      <a:pPr>
                        <a:lnSpc>
                          <a:spcPct val="113000"/>
                        </a:lnSpc>
                        <a:spcAft>
                          <a:spcPts val="0"/>
                        </a:spcAft>
                      </a:pPr>
                      <a:r>
                        <a:rPr sz="1800" b="1">
                          <a:solidFill>
                            <a:srgbClr val="126858"/>
                          </a:solidFill>
                          <a:latin typeface="Noto Sans CJK KR"/>
                        </a:rPr>
                        <a:t>필드</a:t>
                      </a:r>
                    </a:p>
                  </a:txBody>
                  <a:tcPr marL="137160" marR="91440" marT="91440" marB="54864" anchor="ctr">
                    <a:solidFill>
                      <a:srgbClr val="E3EFE7"/>
                    </a:solidFill>
                  </a:tcPr>
                </a:tc>
                <a:tc>
                  <a:txBody>
                    <a:bodyPr/>
                    <a:lstStyle/>
                    <a:p>
                      <a:pPr>
                        <a:lnSpc>
                          <a:spcPct val="113000"/>
                        </a:lnSpc>
                        <a:spcAft>
                          <a:spcPts val="0"/>
                        </a:spcAft>
                      </a:pPr>
                      <a:r>
                        <a:rPr sz="1800" b="1">
                          <a:solidFill>
                            <a:srgbClr val="126858"/>
                          </a:solidFill>
                          <a:latin typeface="Noto Sans CJK KR"/>
                        </a:rPr>
                        <a:t>검토 목적</a:t>
                      </a:r>
                    </a:p>
                  </a:txBody>
                  <a:tcPr marL="137160" marR="91440" marT="91440" marB="54864" anchor="ctr">
                    <a:solidFill>
                      <a:srgbClr val="E3EFE7"/>
                    </a:solidFill>
                  </a:tcPr>
                </a:tc>
              </a:tr>
              <a:tr h="768096">
                <a:tc>
                  <a:txBody>
                    <a:bodyPr/>
                    <a:lstStyle/>
                    <a:p>
                      <a:pPr>
                        <a:lnSpc>
                          <a:spcPct val="113000"/>
                        </a:lnSpc>
                        <a:spcAft>
                          <a:spcPts val="0"/>
                        </a:spcAft>
                      </a:pPr>
                      <a:r>
                        <a:rPr sz="2000" b="1">
                          <a:solidFill>
                            <a:srgbClr val="172B2A"/>
                          </a:solidFill>
                          <a:latin typeface="Noto Sans CJK KR"/>
                        </a:rPr>
                        <a:t>출처</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document_id · chunk_id</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원문 위치 추적</a:t>
                      </a:r>
                    </a:p>
                  </a:txBody>
                  <a:tcPr marL="137160" marR="91440" marT="91440" marB="54864" anchor="ctr">
                    <a:solidFill>
                      <a:srgbClr val="FFFEF9"/>
                    </a:solidFill>
                  </a:tcPr>
                </a:tc>
              </a:tr>
              <a:tr h="768096">
                <a:tc>
                  <a:txBody>
                    <a:bodyPr/>
                    <a:lstStyle/>
                    <a:p>
                      <a:pPr>
                        <a:lnSpc>
                          <a:spcPct val="113000"/>
                        </a:lnSpc>
                        <a:spcAft>
                          <a:spcPts val="0"/>
                        </a:spcAft>
                      </a:pPr>
                      <a:r>
                        <a:rPr sz="2000" b="1">
                          <a:solidFill>
                            <a:srgbClr val="172B2A"/>
                          </a:solidFill>
                          <a:latin typeface="Noto Sans CJK KR"/>
                        </a:rPr>
                        <a:t>버전</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version · updated_at</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최신·변경 여부</a:t>
                      </a:r>
                    </a:p>
                  </a:txBody>
                  <a:tcPr marL="137160" marR="91440" marT="91440" marB="54864" anchor="ctr">
                    <a:solidFill>
                      <a:srgbClr val="EDF0E9"/>
                    </a:solidFill>
                  </a:tcPr>
                </a:tc>
              </a:tr>
              <a:tr h="768096">
                <a:tc>
                  <a:txBody>
                    <a:bodyPr/>
                    <a:lstStyle/>
                    <a:p>
                      <a:pPr>
                        <a:lnSpc>
                          <a:spcPct val="113000"/>
                        </a:lnSpc>
                        <a:spcAft>
                          <a:spcPts val="0"/>
                        </a:spcAft>
                      </a:pPr>
                      <a:r>
                        <a:rPr sz="2000" b="1">
                          <a:solidFill>
                            <a:srgbClr val="172B2A"/>
                          </a:solidFill>
                          <a:latin typeface="Noto Sans CJK KR"/>
                        </a:rPr>
                        <a:t>범위</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service · environment</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대상 적용 가능성</a:t>
                      </a:r>
                    </a:p>
                  </a:txBody>
                  <a:tcPr marL="137160" marR="91440" marT="91440" marB="54864" anchor="ctr">
                    <a:solidFill>
                      <a:srgbClr val="FFFEF9"/>
                    </a:solidFill>
                  </a:tcPr>
                </a:tc>
              </a:tr>
              <a:tr h="768096">
                <a:tc>
                  <a:txBody>
                    <a:bodyPr/>
                    <a:lstStyle/>
                    <a:p>
                      <a:pPr>
                        <a:lnSpc>
                          <a:spcPct val="113000"/>
                        </a:lnSpc>
                        <a:spcAft>
                          <a:spcPts val="0"/>
                        </a:spcAft>
                      </a:pPr>
                      <a:r>
                        <a:rPr sz="2000" b="1">
                          <a:solidFill>
                            <a:srgbClr val="172B2A"/>
                          </a:solidFill>
                          <a:latin typeface="Noto Sans CJK KR"/>
                        </a:rPr>
                        <a:t>권한</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access_scope · owner</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허용된 사용자·관리 책임</a:t>
                      </a:r>
                    </a:p>
                  </a:txBody>
                  <a:tcPr marL="137160" marR="91440" marT="91440" marB="54864" anchor="ctr">
                    <a:solidFill>
                      <a:srgbClr val="EDF0E9"/>
                    </a:solidFill>
                  </a:tcPr>
                </a:tc>
              </a:tr>
            </a:tbl>
          </a:graphicData>
        </a:graphic>
      </p:graphicFrame>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APPENDIX  /  선택 심화"/>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APPENDIX  /  선택 심화</a:t>
            </a:r>
          </a:p>
        </p:txBody>
      </p:sp>
      <p:sp>
        <p:nvSpPr>
          <p:cNvPr id="3" name="TEXT MCP 연결과 수명 관리"/>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MCP 연결과 수명 관리</a:t>
            </a:r>
          </a:p>
        </p:txBody>
      </p:sp>
      <p:sp>
        <p:nvSpPr>
          <p:cNvPr id="4" name="TEXT 발견·호출·세션·업무 성공을 각각 검증한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발견·호출·세션·업무 성공을 각각 검증한다.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07"/>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C07</a:t>
            </a:r>
          </a:p>
        </p:txBody>
      </p:sp>
      <p:sp>
        <p:nvSpPr>
          <p:cNvPr id="8" name="TEXT A07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A07 / 72</a:t>
            </a:r>
          </a:p>
        </p:txBody>
      </p:sp>
      <p:sp>
        <p:nvSpPr>
          <p:cNvPr id="9" name="TEXT 본문 28로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본문 28로 →</a:t>
            </a:r>
          </a:p>
        </p:txBody>
      </p:sp>
      <p:graphicFrame>
        <p:nvGraphicFramePr>
          <p:cNvPr id="10" name="Table 9"/>
          <p:cNvGraphicFramePr>
            <a:graphicFrameLocks noGrp="1"/>
          </p:cNvGraphicFramePr>
          <p:nvPr/>
        </p:nvGraphicFramePr>
        <p:xfrm>
          <a:off x="594360" y="2587752"/>
          <a:ext cx="11000231" cy="3557016"/>
        </p:xfrm>
        <a:graphic>
          <a:graphicData uri="http://schemas.openxmlformats.org/drawingml/2006/table">
            <a:tbl>
              <a:tblPr firstRow="1" bandRow="1">
                <a:tableStyleId>{5C22544A-7EE6-4342-B048-85BDC9FD1C3A}</a:tableStyleId>
              </a:tblPr>
              <a:tblGrid>
                <a:gridCol w="2750058"/>
                <a:gridCol w="4290090"/>
                <a:gridCol w="3960083"/>
              </a:tblGrid>
              <a:tr h="484632">
                <a:tc>
                  <a:txBody>
                    <a:bodyPr/>
                    <a:lstStyle/>
                    <a:p>
                      <a:pPr>
                        <a:lnSpc>
                          <a:spcPct val="113000"/>
                        </a:lnSpc>
                        <a:spcAft>
                          <a:spcPts val="0"/>
                        </a:spcAft>
                      </a:pPr>
                      <a:r>
                        <a:rPr sz="1800" b="1">
                          <a:solidFill>
                            <a:srgbClr val="126858"/>
                          </a:solidFill>
                          <a:latin typeface="Noto Sans CJK KR"/>
                        </a:rPr>
                        <a:t>시점</a:t>
                      </a:r>
                    </a:p>
                  </a:txBody>
                  <a:tcPr marL="137160" marR="91440" marT="91440" marB="54864" anchor="ctr">
                    <a:solidFill>
                      <a:srgbClr val="E3EFE7"/>
                    </a:solidFill>
                  </a:tcPr>
                </a:tc>
                <a:tc>
                  <a:txBody>
                    <a:bodyPr/>
                    <a:lstStyle/>
                    <a:p>
                      <a:pPr>
                        <a:lnSpc>
                          <a:spcPct val="113000"/>
                        </a:lnSpc>
                        <a:spcAft>
                          <a:spcPts val="0"/>
                        </a:spcAft>
                      </a:pPr>
                      <a:r>
                        <a:rPr sz="1800" b="1">
                          <a:solidFill>
                            <a:srgbClr val="126858"/>
                          </a:solidFill>
                          <a:latin typeface="Noto Sans CJK KR"/>
                        </a:rPr>
                        <a:t>확인할 내용</a:t>
                      </a:r>
                    </a:p>
                  </a:txBody>
                  <a:tcPr marL="137160" marR="91440" marT="91440" marB="54864" anchor="ctr">
                    <a:solidFill>
                      <a:srgbClr val="E3EFE7"/>
                    </a:solidFill>
                  </a:tcPr>
                </a:tc>
                <a:tc>
                  <a:txBody>
                    <a:bodyPr/>
                    <a:lstStyle/>
                    <a:p>
                      <a:pPr>
                        <a:lnSpc>
                          <a:spcPct val="113000"/>
                        </a:lnSpc>
                        <a:spcAft>
                          <a:spcPts val="0"/>
                        </a:spcAft>
                      </a:pPr>
                      <a:r>
                        <a:rPr sz="1800" b="1">
                          <a:solidFill>
                            <a:srgbClr val="126858"/>
                          </a:solidFill>
                          <a:latin typeface="Noto Sans CJK KR"/>
                        </a:rPr>
                        <a:t>실패 시점 구분</a:t>
                      </a:r>
                    </a:p>
                  </a:txBody>
                  <a:tcPr marL="137160" marR="91440" marT="91440" marB="54864" anchor="ctr">
                    <a:solidFill>
                      <a:srgbClr val="E3EFE7"/>
                    </a:solidFill>
                  </a:tcPr>
                </a:tc>
              </a:tr>
              <a:tr h="768096">
                <a:tc>
                  <a:txBody>
                    <a:bodyPr/>
                    <a:lstStyle/>
                    <a:p>
                      <a:pPr>
                        <a:lnSpc>
                          <a:spcPct val="113000"/>
                        </a:lnSpc>
                        <a:spcAft>
                          <a:spcPts val="0"/>
                        </a:spcAft>
                      </a:pPr>
                      <a:r>
                        <a:rPr sz="2000" b="1">
                          <a:solidFill>
                            <a:srgbClr val="172B2A"/>
                          </a:solidFill>
                          <a:latin typeface="Noto Sans CJK KR"/>
                        </a:rPr>
                        <a:t>연결</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Server·transport·인증</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네트워크 / 설정</a:t>
                      </a:r>
                    </a:p>
                  </a:txBody>
                  <a:tcPr marL="137160" marR="91440" marT="91440" marB="54864" anchor="ctr">
                    <a:solidFill>
                      <a:srgbClr val="FFFEF9"/>
                    </a:solidFill>
                  </a:tcPr>
                </a:tc>
              </a:tr>
              <a:tr h="768096">
                <a:tc>
                  <a:txBody>
                    <a:bodyPr/>
                    <a:lstStyle/>
                    <a:p>
                      <a:pPr>
                        <a:lnSpc>
                          <a:spcPct val="113000"/>
                        </a:lnSpc>
                        <a:spcAft>
                          <a:spcPts val="0"/>
                        </a:spcAft>
                      </a:pPr>
                      <a:r>
                        <a:rPr sz="2000" b="1">
                          <a:solidFill>
                            <a:srgbClr val="172B2A"/>
                          </a:solidFill>
                          <a:latin typeface="Noto Sans CJK KR"/>
                        </a:rPr>
                        <a:t>발견</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Tool 이름·Schema·허용 목록</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기능 / 권한</a:t>
                      </a:r>
                    </a:p>
                  </a:txBody>
                  <a:tcPr marL="137160" marR="91440" marT="91440" marB="54864" anchor="ctr">
                    <a:solidFill>
                      <a:srgbClr val="EDF0E9"/>
                    </a:solidFill>
                  </a:tcPr>
                </a:tc>
              </a:tr>
              <a:tr h="768096">
                <a:tc>
                  <a:txBody>
                    <a:bodyPr/>
                    <a:lstStyle/>
                    <a:p>
                      <a:pPr>
                        <a:lnSpc>
                          <a:spcPct val="113000"/>
                        </a:lnSpc>
                        <a:spcAft>
                          <a:spcPts val="0"/>
                        </a:spcAft>
                      </a:pPr>
                      <a:r>
                        <a:rPr sz="2000" b="1">
                          <a:solidFill>
                            <a:srgbClr val="172B2A"/>
                          </a:solidFill>
                          <a:latin typeface="Noto Sans CJK KR"/>
                        </a:rPr>
                        <a:t>호출</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인자·timeout·반환 계약</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실행 / 파싱</a:t>
                      </a:r>
                    </a:p>
                  </a:txBody>
                  <a:tcPr marL="137160" marR="91440" marT="91440" marB="54864" anchor="ctr">
                    <a:solidFill>
                      <a:srgbClr val="FFFEF9"/>
                    </a:solidFill>
                  </a:tcPr>
                </a:tc>
              </a:tr>
              <a:tr h="768096">
                <a:tc>
                  <a:txBody>
                    <a:bodyPr/>
                    <a:lstStyle/>
                    <a:p>
                      <a:pPr>
                        <a:lnSpc>
                          <a:spcPct val="113000"/>
                        </a:lnSpc>
                        <a:spcAft>
                          <a:spcPts val="0"/>
                        </a:spcAft>
                      </a:pPr>
                      <a:r>
                        <a:rPr sz="2000" b="1">
                          <a:solidFill>
                            <a:srgbClr val="172B2A"/>
                          </a:solidFill>
                          <a:latin typeface="Noto Sans CJK KR"/>
                        </a:rPr>
                        <a:t>종료·재개</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세션·연결 정리·재생성</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리소스 수명</a:t>
                      </a:r>
                    </a:p>
                  </a:txBody>
                  <a:tcPr marL="137160" marR="91440" marT="91440" marB="54864" anchor="ctr">
                    <a:solidFill>
                      <a:srgbClr val="EDF0E9"/>
                    </a:solidFill>
                  </a:tcPr>
                </a:tc>
              </a:tr>
            </a:tbl>
          </a:graphicData>
        </a:graphic>
      </p:graphicFrame>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APPENDIX  /  선택 심화"/>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APPENDIX  /  선택 심화</a:t>
            </a:r>
          </a:p>
        </p:txBody>
      </p:sp>
      <p:sp>
        <p:nvSpPr>
          <p:cNvPr id="3" name="TEXT Email 발송 결과 확인"/>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Email 발송 결과 확인</a:t>
            </a:r>
          </a:p>
        </p:txBody>
      </p:sp>
      <p:sp>
        <p:nvSpPr>
          <p:cNvPr id="4" name="TEXT 발송 timeout에는 재전송보다 결과 대조가 먼저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발송 timeout에는 재전송보다 결과 대조가 먼저다.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07·C09"/>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C07·C09</a:t>
            </a:r>
          </a:p>
        </p:txBody>
      </p:sp>
      <p:sp>
        <p:nvSpPr>
          <p:cNvPr id="8" name="TEXT A08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A08 / 72</a:t>
            </a:r>
          </a:p>
        </p:txBody>
      </p:sp>
      <p:sp>
        <p:nvSpPr>
          <p:cNvPr id="9" name="TEXT 본문 37로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본문 37로 →</a:t>
            </a:r>
          </a:p>
        </p:txBody>
      </p:sp>
      <p:sp>
        <p:nvSpPr>
          <p:cNvPr id="10" name="Rounded Rectangle 9"/>
          <p:cNvSpPr/>
          <p:nvPr/>
        </p:nvSpPr>
        <p:spPr>
          <a:xfrm>
            <a:off x="594360" y="2880360"/>
            <a:ext cx="1995220" cy="1874519"/>
          </a:xfrm>
          <a:prstGeom prst="roundRect">
            <a:avLst>
              <a:gd name="adj" fmla="val 8000"/>
            </a:avLst>
          </a:prstGeom>
          <a:solidFill>
            <a:srgbClr val="E3EFE7"/>
          </a:solidFill>
          <a:ln w="10160">
            <a:solidFill>
              <a:srgbClr val="1268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01"/>
          <p:cNvSpPr txBox="1"/>
          <p:nvPr/>
        </p:nvSpPr>
        <p:spPr>
          <a:xfrm>
            <a:off x="749808" y="3044952"/>
            <a:ext cx="1684324" cy="246888"/>
          </a:xfrm>
          <a:prstGeom prst="rect">
            <a:avLst/>
          </a:prstGeom>
          <a:noFill/>
        </p:spPr>
        <p:txBody>
          <a:bodyPr wrap="square" lIns="0" rIns="0" tIns="0" bIns="0">
            <a:noAutofit/>
          </a:bodyPr>
          <a:lstStyle/>
          <a:p>
            <a:pPr algn="l">
              <a:lnSpc>
                <a:spcPct val="116000"/>
              </a:lnSpc>
              <a:spcBef>
                <a:spcPts val="0"/>
              </a:spcBef>
              <a:spcAft>
                <a:spcPts val="0"/>
              </a:spcAft>
            </a:pPr>
            <a:r>
              <a:rPr sz="1200" b="1">
                <a:solidFill>
                  <a:srgbClr val="126858"/>
                </a:solidFill>
                <a:latin typeface="Noto Sans CJK KR"/>
                <a:ea typeface="Noto Sans CJK KR"/>
                <a:latin typeface="Noto Sans CJK KR"/>
              </a:rPr>
              <a:t>01</a:t>
            </a:r>
          </a:p>
        </p:txBody>
      </p:sp>
      <p:sp>
        <p:nvSpPr>
          <p:cNvPr id="12" name="TEXT 발송 키·계획"/>
          <p:cNvSpPr txBox="1"/>
          <p:nvPr/>
        </p:nvSpPr>
        <p:spPr>
          <a:xfrm>
            <a:off x="749808" y="3511296"/>
            <a:ext cx="1684324" cy="713232"/>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발송 키·계획</a:t>
            </a:r>
          </a:p>
        </p:txBody>
      </p:sp>
      <p:sp>
        <p:nvSpPr>
          <p:cNvPr id="13" name="TEXT 대상·본문 버전"/>
          <p:cNvSpPr txBox="1"/>
          <p:nvPr/>
        </p:nvSpPr>
        <p:spPr>
          <a:xfrm>
            <a:off x="749808" y="4261104"/>
            <a:ext cx="1684324" cy="365760"/>
          </a:xfrm>
          <a:prstGeom prst="rect">
            <a:avLst/>
          </a:prstGeom>
          <a:noFill/>
        </p:spPr>
        <p:txBody>
          <a:bodyPr wrap="square" lIns="0" rIns="0" tIns="0" bIns="0">
            <a:noAutofit/>
          </a:bodyPr>
          <a:lstStyle/>
          <a:p>
            <a:pPr algn="l">
              <a:lnSpc>
                <a:spcPct val="116000"/>
              </a:lnSpc>
              <a:spcBef>
                <a:spcPts val="0"/>
              </a:spcBef>
              <a:spcAft>
                <a:spcPts val="0"/>
              </a:spcAft>
            </a:pPr>
            <a:r>
              <a:rPr sz="1600" b="0">
                <a:solidFill>
                  <a:srgbClr val="126858"/>
                </a:solidFill>
                <a:latin typeface="Noto Sans CJK KR"/>
                <a:ea typeface="Noto Sans CJK KR"/>
                <a:latin typeface="Noto Sans CJK KR"/>
              </a:rPr>
              <a:t>대상·본문 버전</a:t>
            </a:r>
          </a:p>
        </p:txBody>
      </p:sp>
      <p:cxnSp>
        <p:nvCxnSpPr>
          <p:cNvPr id="14" name="Connector 13"/>
          <p:cNvCxnSpPr/>
          <p:nvPr/>
        </p:nvCxnSpPr>
        <p:spPr>
          <a:xfrm>
            <a:off x="2607868" y="3803904"/>
            <a:ext cx="219456" cy="0"/>
          </a:xfrm>
          <a:prstGeom prst="line">
            <a:avLst/>
          </a:prstGeom>
          <a:ln w="22860">
            <a:solidFill>
              <a:srgbClr val="5E6E66"/>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845612" y="2880360"/>
            <a:ext cx="1995220" cy="1874519"/>
          </a:xfrm>
          <a:prstGeom prst="roundRect">
            <a:avLst>
              <a:gd name="adj" fmla="val 8000"/>
            </a:avLst>
          </a:prstGeom>
          <a:solidFill>
            <a:srgbClr val="F0E9F6"/>
          </a:solidFill>
          <a:ln w="10160">
            <a:solidFill>
              <a:srgbClr val="7155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02"/>
          <p:cNvSpPr txBox="1"/>
          <p:nvPr/>
        </p:nvSpPr>
        <p:spPr>
          <a:xfrm>
            <a:off x="3001060" y="3044952"/>
            <a:ext cx="1684324" cy="246888"/>
          </a:xfrm>
          <a:prstGeom prst="rect">
            <a:avLst/>
          </a:prstGeom>
          <a:noFill/>
        </p:spPr>
        <p:txBody>
          <a:bodyPr wrap="square" lIns="0" rIns="0" tIns="0" bIns="0">
            <a:noAutofit/>
          </a:bodyPr>
          <a:lstStyle/>
          <a:p>
            <a:pPr algn="l">
              <a:lnSpc>
                <a:spcPct val="116000"/>
              </a:lnSpc>
              <a:spcBef>
                <a:spcPts val="0"/>
              </a:spcBef>
              <a:spcAft>
                <a:spcPts val="0"/>
              </a:spcAft>
            </a:pPr>
            <a:r>
              <a:rPr sz="1200" b="1">
                <a:solidFill>
                  <a:srgbClr val="71559D"/>
                </a:solidFill>
                <a:latin typeface="Noto Sans CJK KR"/>
                <a:ea typeface="Noto Sans CJK KR"/>
                <a:latin typeface="Noto Sans CJK KR"/>
              </a:rPr>
              <a:t>02</a:t>
            </a:r>
          </a:p>
        </p:txBody>
      </p:sp>
      <p:sp>
        <p:nvSpPr>
          <p:cNvPr id="17" name="TEXT 요청 전송"/>
          <p:cNvSpPr txBox="1"/>
          <p:nvPr/>
        </p:nvSpPr>
        <p:spPr>
          <a:xfrm>
            <a:off x="3001060" y="3511296"/>
            <a:ext cx="1684324" cy="713232"/>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71559D"/>
                </a:solidFill>
                <a:latin typeface="Noto Sans CJK KR"/>
                <a:ea typeface="Noto Sans CJK KR"/>
                <a:latin typeface="Noto Sans CJK KR"/>
              </a:rPr>
              <a:t>요청 전송</a:t>
            </a:r>
          </a:p>
        </p:txBody>
      </p:sp>
      <p:sp>
        <p:nvSpPr>
          <p:cNvPr id="18" name="TEXT 승인된 변경"/>
          <p:cNvSpPr txBox="1"/>
          <p:nvPr/>
        </p:nvSpPr>
        <p:spPr>
          <a:xfrm>
            <a:off x="3001060" y="4261104"/>
            <a:ext cx="1684324" cy="365760"/>
          </a:xfrm>
          <a:prstGeom prst="rect">
            <a:avLst/>
          </a:prstGeom>
          <a:noFill/>
        </p:spPr>
        <p:txBody>
          <a:bodyPr wrap="square" lIns="0" rIns="0" tIns="0" bIns="0">
            <a:noAutofit/>
          </a:bodyPr>
          <a:lstStyle/>
          <a:p>
            <a:pPr algn="l">
              <a:lnSpc>
                <a:spcPct val="116000"/>
              </a:lnSpc>
              <a:spcBef>
                <a:spcPts val="0"/>
              </a:spcBef>
              <a:spcAft>
                <a:spcPts val="0"/>
              </a:spcAft>
            </a:pPr>
            <a:r>
              <a:rPr sz="1600" b="0">
                <a:solidFill>
                  <a:srgbClr val="71559D"/>
                </a:solidFill>
                <a:latin typeface="Noto Sans CJK KR"/>
                <a:ea typeface="Noto Sans CJK KR"/>
                <a:latin typeface="Noto Sans CJK KR"/>
              </a:rPr>
              <a:t>승인된 변경</a:t>
            </a:r>
          </a:p>
        </p:txBody>
      </p:sp>
      <p:cxnSp>
        <p:nvCxnSpPr>
          <p:cNvPr id="19" name="Connector 18"/>
          <p:cNvCxnSpPr/>
          <p:nvPr/>
        </p:nvCxnSpPr>
        <p:spPr>
          <a:xfrm>
            <a:off x="4859121" y="3803904"/>
            <a:ext cx="219456" cy="0"/>
          </a:xfrm>
          <a:prstGeom prst="line">
            <a:avLst/>
          </a:prstGeom>
          <a:ln w="22860">
            <a:solidFill>
              <a:srgbClr val="5E6E66"/>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096865" y="2880360"/>
            <a:ext cx="1995220" cy="1874519"/>
          </a:xfrm>
          <a:prstGeom prst="roundRect">
            <a:avLst>
              <a:gd name="adj" fmla="val 8000"/>
            </a:avLst>
          </a:prstGeom>
          <a:solidFill>
            <a:srgbClr val="E3EFE7"/>
          </a:solidFill>
          <a:ln w="10160">
            <a:solidFill>
              <a:srgbClr val="1268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 03"/>
          <p:cNvSpPr txBox="1"/>
          <p:nvPr/>
        </p:nvSpPr>
        <p:spPr>
          <a:xfrm>
            <a:off x="5252313" y="3044952"/>
            <a:ext cx="1684324" cy="246888"/>
          </a:xfrm>
          <a:prstGeom prst="rect">
            <a:avLst/>
          </a:prstGeom>
          <a:noFill/>
        </p:spPr>
        <p:txBody>
          <a:bodyPr wrap="square" lIns="0" rIns="0" tIns="0" bIns="0">
            <a:noAutofit/>
          </a:bodyPr>
          <a:lstStyle/>
          <a:p>
            <a:pPr algn="l">
              <a:lnSpc>
                <a:spcPct val="116000"/>
              </a:lnSpc>
              <a:spcBef>
                <a:spcPts val="0"/>
              </a:spcBef>
              <a:spcAft>
                <a:spcPts val="0"/>
              </a:spcAft>
            </a:pPr>
            <a:r>
              <a:rPr sz="1200" b="1">
                <a:solidFill>
                  <a:srgbClr val="126858"/>
                </a:solidFill>
                <a:latin typeface="Noto Sans CJK KR"/>
                <a:ea typeface="Noto Sans CJK KR"/>
                <a:latin typeface="Noto Sans CJK KR"/>
              </a:rPr>
              <a:t>03</a:t>
            </a:r>
          </a:p>
        </p:txBody>
      </p:sp>
      <p:sp>
        <p:nvSpPr>
          <p:cNvPr id="22" name="TEXT 결과 불명확"/>
          <p:cNvSpPr txBox="1"/>
          <p:nvPr/>
        </p:nvSpPr>
        <p:spPr>
          <a:xfrm>
            <a:off x="5252313" y="3511296"/>
            <a:ext cx="1684324" cy="713232"/>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결과 불명확</a:t>
            </a:r>
          </a:p>
        </p:txBody>
      </p:sp>
      <p:sp>
        <p:nvSpPr>
          <p:cNvPr id="23" name="TEXT 응답 손실"/>
          <p:cNvSpPr txBox="1"/>
          <p:nvPr/>
        </p:nvSpPr>
        <p:spPr>
          <a:xfrm>
            <a:off x="5252313" y="4261104"/>
            <a:ext cx="1684324" cy="365760"/>
          </a:xfrm>
          <a:prstGeom prst="rect">
            <a:avLst/>
          </a:prstGeom>
          <a:noFill/>
        </p:spPr>
        <p:txBody>
          <a:bodyPr wrap="square" lIns="0" rIns="0" tIns="0" bIns="0">
            <a:noAutofit/>
          </a:bodyPr>
          <a:lstStyle/>
          <a:p>
            <a:pPr algn="l">
              <a:lnSpc>
                <a:spcPct val="116000"/>
              </a:lnSpc>
              <a:spcBef>
                <a:spcPts val="0"/>
              </a:spcBef>
              <a:spcAft>
                <a:spcPts val="0"/>
              </a:spcAft>
            </a:pPr>
            <a:r>
              <a:rPr sz="1600" b="0">
                <a:solidFill>
                  <a:srgbClr val="126858"/>
                </a:solidFill>
                <a:latin typeface="Noto Sans CJK KR"/>
                <a:ea typeface="Noto Sans CJK KR"/>
                <a:latin typeface="Noto Sans CJK KR"/>
              </a:rPr>
              <a:t>응답 손실</a:t>
            </a:r>
          </a:p>
        </p:txBody>
      </p:sp>
      <p:cxnSp>
        <p:nvCxnSpPr>
          <p:cNvPr id="24" name="Connector 23"/>
          <p:cNvCxnSpPr/>
          <p:nvPr/>
        </p:nvCxnSpPr>
        <p:spPr>
          <a:xfrm>
            <a:off x="7110374" y="3803904"/>
            <a:ext cx="219456" cy="0"/>
          </a:xfrm>
          <a:prstGeom prst="line">
            <a:avLst/>
          </a:prstGeom>
          <a:ln w="22860">
            <a:solidFill>
              <a:srgbClr val="5E6E66"/>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48118" y="2880360"/>
            <a:ext cx="1995220" cy="1874519"/>
          </a:xfrm>
          <a:prstGeom prst="roundRect">
            <a:avLst>
              <a:gd name="adj" fmla="val 8000"/>
            </a:avLst>
          </a:prstGeom>
          <a:solidFill>
            <a:srgbClr val="F0E9F6"/>
          </a:solidFill>
          <a:ln w="10160">
            <a:solidFill>
              <a:srgbClr val="7155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04"/>
          <p:cNvSpPr txBox="1"/>
          <p:nvPr/>
        </p:nvSpPr>
        <p:spPr>
          <a:xfrm>
            <a:off x="7503566" y="3044952"/>
            <a:ext cx="1684324" cy="246888"/>
          </a:xfrm>
          <a:prstGeom prst="rect">
            <a:avLst/>
          </a:prstGeom>
          <a:noFill/>
        </p:spPr>
        <p:txBody>
          <a:bodyPr wrap="square" lIns="0" rIns="0" tIns="0" bIns="0">
            <a:noAutofit/>
          </a:bodyPr>
          <a:lstStyle/>
          <a:p>
            <a:pPr algn="l">
              <a:lnSpc>
                <a:spcPct val="116000"/>
              </a:lnSpc>
              <a:spcBef>
                <a:spcPts val="0"/>
              </a:spcBef>
              <a:spcAft>
                <a:spcPts val="0"/>
              </a:spcAft>
            </a:pPr>
            <a:r>
              <a:rPr sz="1200" b="1">
                <a:solidFill>
                  <a:srgbClr val="71559D"/>
                </a:solidFill>
                <a:latin typeface="Noto Sans CJK KR"/>
                <a:ea typeface="Noto Sans CJK KR"/>
                <a:latin typeface="Noto Sans CJK KR"/>
              </a:rPr>
              <a:t>04</a:t>
            </a:r>
          </a:p>
        </p:txBody>
      </p:sp>
      <p:sp>
        <p:nvSpPr>
          <p:cNvPr id="27" name="TEXT Provider 조회"/>
          <p:cNvSpPr txBox="1"/>
          <p:nvPr/>
        </p:nvSpPr>
        <p:spPr>
          <a:xfrm>
            <a:off x="7503566" y="3511296"/>
            <a:ext cx="1684324" cy="713232"/>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71559D"/>
                </a:solidFill>
                <a:latin typeface="Noto Sans CJK KR"/>
                <a:ea typeface="Noto Sans CJK KR"/>
                <a:latin typeface="Noto Sans CJK KR"/>
              </a:rPr>
              <a:t>Provider 조회</a:t>
            </a:r>
          </a:p>
        </p:txBody>
      </p:sp>
      <p:sp>
        <p:nvSpPr>
          <p:cNvPr id="28" name="TEXT 작업 ID"/>
          <p:cNvSpPr txBox="1"/>
          <p:nvPr/>
        </p:nvSpPr>
        <p:spPr>
          <a:xfrm>
            <a:off x="7503566" y="4261104"/>
            <a:ext cx="1684324" cy="365760"/>
          </a:xfrm>
          <a:prstGeom prst="rect">
            <a:avLst/>
          </a:prstGeom>
          <a:noFill/>
        </p:spPr>
        <p:txBody>
          <a:bodyPr wrap="square" lIns="0" rIns="0" tIns="0" bIns="0">
            <a:noAutofit/>
          </a:bodyPr>
          <a:lstStyle/>
          <a:p>
            <a:pPr algn="l">
              <a:lnSpc>
                <a:spcPct val="116000"/>
              </a:lnSpc>
              <a:spcBef>
                <a:spcPts val="0"/>
              </a:spcBef>
              <a:spcAft>
                <a:spcPts val="0"/>
              </a:spcAft>
            </a:pPr>
            <a:r>
              <a:rPr sz="1600" b="0">
                <a:solidFill>
                  <a:srgbClr val="71559D"/>
                </a:solidFill>
                <a:latin typeface="Noto Sans CJK KR"/>
                <a:ea typeface="Noto Sans CJK KR"/>
                <a:latin typeface="Noto Sans CJK KR"/>
              </a:rPr>
              <a:t>작업 ID</a:t>
            </a:r>
          </a:p>
        </p:txBody>
      </p:sp>
      <p:cxnSp>
        <p:nvCxnSpPr>
          <p:cNvPr id="29" name="Connector 28"/>
          <p:cNvCxnSpPr/>
          <p:nvPr/>
        </p:nvCxnSpPr>
        <p:spPr>
          <a:xfrm>
            <a:off x="9361627" y="3803904"/>
            <a:ext cx="219456" cy="0"/>
          </a:xfrm>
          <a:prstGeom prst="line">
            <a:avLst/>
          </a:prstGeom>
          <a:ln w="22860">
            <a:solidFill>
              <a:srgbClr val="5E6E66"/>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9599371" y="2880360"/>
            <a:ext cx="1995220" cy="1874519"/>
          </a:xfrm>
          <a:prstGeom prst="roundRect">
            <a:avLst>
              <a:gd name="adj" fmla="val 8000"/>
            </a:avLst>
          </a:prstGeom>
          <a:solidFill>
            <a:srgbClr val="E3EFE7"/>
          </a:solidFill>
          <a:ln w="10160">
            <a:solidFill>
              <a:srgbClr val="1268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 05"/>
          <p:cNvSpPr txBox="1"/>
          <p:nvPr/>
        </p:nvSpPr>
        <p:spPr>
          <a:xfrm>
            <a:off x="9754819" y="3044952"/>
            <a:ext cx="1684324" cy="246888"/>
          </a:xfrm>
          <a:prstGeom prst="rect">
            <a:avLst/>
          </a:prstGeom>
          <a:noFill/>
        </p:spPr>
        <p:txBody>
          <a:bodyPr wrap="square" lIns="0" rIns="0" tIns="0" bIns="0">
            <a:noAutofit/>
          </a:bodyPr>
          <a:lstStyle/>
          <a:p>
            <a:pPr algn="l">
              <a:lnSpc>
                <a:spcPct val="116000"/>
              </a:lnSpc>
              <a:spcBef>
                <a:spcPts val="0"/>
              </a:spcBef>
              <a:spcAft>
                <a:spcPts val="0"/>
              </a:spcAft>
            </a:pPr>
            <a:r>
              <a:rPr sz="1200" b="1">
                <a:solidFill>
                  <a:srgbClr val="126858"/>
                </a:solidFill>
                <a:latin typeface="Noto Sans CJK KR"/>
                <a:ea typeface="Noto Sans CJK KR"/>
                <a:latin typeface="Noto Sans CJK KR"/>
              </a:rPr>
              <a:t>05</a:t>
            </a:r>
          </a:p>
        </p:txBody>
      </p:sp>
      <p:sp>
        <p:nvSpPr>
          <p:cNvPr id="32" name="TEXT 복원 / 조정"/>
          <p:cNvSpPr txBox="1"/>
          <p:nvPr/>
        </p:nvSpPr>
        <p:spPr>
          <a:xfrm>
            <a:off x="9754819" y="3511296"/>
            <a:ext cx="1684324" cy="713232"/>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복원 / 조정</a:t>
            </a:r>
          </a:p>
        </p:txBody>
      </p:sp>
      <p:sp>
        <p:nvSpPr>
          <p:cNvPr id="33" name="TEXT 확인된 다음 행동"/>
          <p:cNvSpPr txBox="1"/>
          <p:nvPr/>
        </p:nvSpPr>
        <p:spPr>
          <a:xfrm>
            <a:off x="9754819" y="4261104"/>
            <a:ext cx="1684324" cy="365760"/>
          </a:xfrm>
          <a:prstGeom prst="rect">
            <a:avLst/>
          </a:prstGeom>
          <a:noFill/>
        </p:spPr>
        <p:txBody>
          <a:bodyPr wrap="square" lIns="0" rIns="0" tIns="0" bIns="0">
            <a:noAutofit/>
          </a:bodyPr>
          <a:lstStyle/>
          <a:p>
            <a:pPr algn="l">
              <a:lnSpc>
                <a:spcPct val="116000"/>
              </a:lnSpc>
              <a:spcBef>
                <a:spcPts val="0"/>
              </a:spcBef>
              <a:spcAft>
                <a:spcPts val="0"/>
              </a:spcAft>
            </a:pPr>
            <a:r>
              <a:rPr sz="1600" b="0">
                <a:solidFill>
                  <a:srgbClr val="126858"/>
                </a:solidFill>
                <a:latin typeface="Noto Sans CJK KR"/>
                <a:ea typeface="Noto Sans CJK KR"/>
                <a:latin typeface="Noto Sans CJK KR"/>
              </a:rPr>
              <a:t>확인된 다음 행동</a:t>
            </a:r>
          </a:p>
        </p:txBody>
      </p:sp>
      <p:sp>
        <p:nvSpPr>
          <p:cNvPr id="34" name="TEXT Provider의 멱등성·조회 지원은 실제 API 계약으로 확인한다."/>
          <p:cNvSpPr txBox="1"/>
          <p:nvPr/>
        </p:nvSpPr>
        <p:spPr>
          <a:xfrm>
            <a:off x="731520" y="5266944"/>
            <a:ext cx="10789920" cy="685800"/>
          </a:xfrm>
          <a:prstGeom prst="rect">
            <a:avLst/>
          </a:prstGeom>
          <a:noFill/>
        </p:spPr>
        <p:txBody>
          <a:bodyPr wrap="square" lIns="0" rIns="0" tIns="0" bIns="0">
            <a:noAutofit/>
          </a:bodyPr>
          <a:lstStyle/>
          <a:p>
            <a:pPr algn="l">
              <a:lnSpc>
                <a:spcPct val="116000"/>
              </a:lnSpc>
              <a:spcBef>
                <a:spcPts val="0"/>
              </a:spcBef>
              <a:spcAft>
                <a:spcPts val="0"/>
              </a:spcAft>
            </a:pPr>
            <a:r>
              <a:rPr sz="2100" b="1">
                <a:solidFill>
                  <a:srgbClr val="126858"/>
                </a:solidFill>
                <a:latin typeface="Noto Sans CJK KR"/>
                <a:ea typeface="Noto Sans CJK KR"/>
                <a:latin typeface="Noto Sans CJK KR"/>
              </a:rPr>
              <a:t>Provider의 멱등성·조회 지원은 실제 API 계약으로 확인한다.</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APPENDIX  /  선택 심화"/>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APPENDIX  /  선택 심화</a:t>
            </a:r>
          </a:p>
        </p:txBody>
      </p:sp>
      <p:sp>
        <p:nvSpPr>
          <p:cNvPr id="3" name="TEXT DB 변경과 Outbox"/>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DB 변경과 Outbox</a:t>
            </a:r>
          </a:p>
        </p:txBody>
      </p:sp>
      <p:sp>
        <p:nvSpPr>
          <p:cNvPr id="4" name="TEXT DB 트랜잭션과 외부 이벤트 전송 사이의 실패 창을 다룬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DB 트랜잭션과 외부 이벤트 전송 사이의 실패 창을 다룬다.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07·C09"/>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C07·C09</a:t>
            </a:r>
          </a:p>
        </p:txBody>
      </p:sp>
      <p:sp>
        <p:nvSpPr>
          <p:cNvPr id="8" name="TEXT A09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A09 / 72</a:t>
            </a:r>
          </a:p>
        </p:txBody>
      </p:sp>
      <p:sp>
        <p:nvSpPr>
          <p:cNvPr id="9" name="TEXT 본문 42로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본문 42로 →</a:t>
            </a:r>
          </a:p>
        </p:txBody>
      </p:sp>
      <p:sp>
        <p:nvSpPr>
          <p:cNvPr id="10" name="Rounded Rectangle 9"/>
          <p:cNvSpPr/>
          <p:nvPr/>
        </p:nvSpPr>
        <p:spPr>
          <a:xfrm>
            <a:off x="594360" y="2880360"/>
            <a:ext cx="1995220" cy="1874519"/>
          </a:xfrm>
          <a:prstGeom prst="roundRect">
            <a:avLst>
              <a:gd name="adj" fmla="val 8000"/>
            </a:avLst>
          </a:prstGeom>
          <a:solidFill>
            <a:srgbClr val="E3EFE7"/>
          </a:solidFill>
          <a:ln w="10160">
            <a:solidFill>
              <a:srgbClr val="1268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 01"/>
          <p:cNvSpPr txBox="1"/>
          <p:nvPr/>
        </p:nvSpPr>
        <p:spPr>
          <a:xfrm>
            <a:off x="749808" y="3044952"/>
            <a:ext cx="1684324" cy="246888"/>
          </a:xfrm>
          <a:prstGeom prst="rect">
            <a:avLst/>
          </a:prstGeom>
          <a:noFill/>
        </p:spPr>
        <p:txBody>
          <a:bodyPr wrap="square" lIns="0" rIns="0" tIns="0" bIns="0">
            <a:noAutofit/>
          </a:bodyPr>
          <a:lstStyle/>
          <a:p>
            <a:pPr algn="l">
              <a:lnSpc>
                <a:spcPct val="116000"/>
              </a:lnSpc>
              <a:spcBef>
                <a:spcPts val="0"/>
              </a:spcBef>
              <a:spcAft>
                <a:spcPts val="0"/>
              </a:spcAft>
            </a:pPr>
            <a:r>
              <a:rPr sz="1200" b="1">
                <a:solidFill>
                  <a:srgbClr val="126858"/>
                </a:solidFill>
                <a:latin typeface="Noto Sans CJK KR"/>
                <a:ea typeface="Noto Sans CJK KR"/>
                <a:latin typeface="Noto Sans CJK KR"/>
              </a:rPr>
              <a:t>01</a:t>
            </a:r>
          </a:p>
        </p:txBody>
      </p:sp>
      <p:sp>
        <p:nvSpPr>
          <p:cNvPr id="12" name="TEXT 업무 DB 변경"/>
          <p:cNvSpPr txBox="1"/>
          <p:nvPr/>
        </p:nvSpPr>
        <p:spPr>
          <a:xfrm>
            <a:off x="749808" y="3511296"/>
            <a:ext cx="1684324" cy="713232"/>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업무 DB 변경</a:t>
            </a:r>
          </a:p>
        </p:txBody>
      </p:sp>
      <p:sp>
        <p:nvSpPr>
          <p:cNvPr id="13" name="TEXT 확정 사실"/>
          <p:cNvSpPr txBox="1"/>
          <p:nvPr/>
        </p:nvSpPr>
        <p:spPr>
          <a:xfrm>
            <a:off x="749808" y="4261104"/>
            <a:ext cx="1684324" cy="365760"/>
          </a:xfrm>
          <a:prstGeom prst="rect">
            <a:avLst/>
          </a:prstGeom>
          <a:noFill/>
        </p:spPr>
        <p:txBody>
          <a:bodyPr wrap="square" lIns="0" rIns="0" tIns="0" bIns="0">
            <a:noAutofit/>
          </a:bodyPr>
          <a:lstStyle/>
          <a:p>
            <a:pPr algn="l">
              <a:lnSpc>
                <a:spcPct val="116000"/>
              </a:lnSpc>
              <a:spcBef>
                <a:spcPts val="0"/>
              </a:spcBef>
              <a:spcAft>
                <a:spcPts val="0"/>
              </a:spcAft>
            </a:pPr>
            <a:r>
              <a:rPr sz="1600" b="0">
                <a:solidFill>
                  <a:srgbClr val="126858"/>
                </a:solidFill>
                <a:latin typeface="Noto Sans CJK KR"/>
                <a:ea typeface="Noto Sans CJK KR"/>
                <a:latin typeface="Noto Sans CJK KR"/>
              </a:rPr>
              <a:t>확정 사실</a:t>
            </a:r>
          </a:p>
        </p:txBody>
      </p:sp>
      <p:cxnSp>
        <p:nvCxnSpPr>
          <p:cNvPr id="14" name="Connector 13"/>
          <p:cNvCxnSpPr/>
          <p:nvPr/>
        </p:nvCxnSpPr>
        <p:spPr>
          <a:xfrm>
            <a:off x="2607868" y="3803904"/>
            <a:ext cx="219456" cy="0"/>
          </a:xfrm>
          <a:prstGeom prst="line">
            <a:avLst/>
          </a:prstGeom>
          <a:ln w="22860">
            <a:solidFill>
              <a:srgbClr val="5E6E66"/>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845612" y="2880360"/>
            <a:ext cx="1995220" cy="1874519"/>
          </a:xfrm>
          <a:prstGeom prst="roundRect">
            <a:avLst>
              <a:gd name="adj" fmla="val 8000"/>
            </a:avLst>
          </a:prstGeom>
          <a:solidFill>
            <a:srgbClr val="E3EFE7"/>
          </a:solidFill>
          <a:ln w="10160">
            <a:solidFill>
              <a:srgbClr val="1268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02"/>
          <p:cNvSpPr txBox="1"/>
          <p:nvPr/>
        </p:nvSpPr>
        <p:spPr>
          <a:xfrm>
            <a:off x="3001060" y="3044952"/>
            <a:ext cx="1684324" cy="246888"/>
          </a:xfrm>
          <a:prstGeom prst="rect">
            <a:avLst/>
          </a:prstGeom>
          <a:noFill/>
        </p:spPr>
        <p:txBody>
          <a:bodyPr wrap="square" lIns="0" rIns="0" tIns="0" bIns="0">
            <a:noAutofit/>
          </a:bodyPr>
          <a:lstStyle/>
          <a:p>
            <a:pPr algn="l">
              <a:lnSpc>
                <a:spcPct val="116000"/>
              </a:lnSpc>
              <a:spcBef>
                <a:spcPts val="0"/>
              </a:spcBef>
              <a:spcAft>
                <a:spcPts val="0"/>
              </a:spcAft>
            </a:pPr>
            <a:r>
              <a:rPr sz="1200" b="1">
                <a:solidFill>
                  <a:srgbClr val="126858"/>
                </a:solidFill>
                <a:latin typeface="Noto Sans CJK KR"/>
                <a:ea typeface="Noto Sans CJK KR"/>
                <a:latin typeface="Noto Sans CJK KR"/>
              </a:rPr>
              <a:t>02</a:t>
            </a:r>
          </a:p>
        </p:txBody>
      </p:sp>
      <p:sp>
        <p:nvSpPr>
          <p:cNvPr id="17" name="TEXT Outbox 기록"/>
          <p:cNvSpPr txBox="1"/>
          <p:nvPr/>
        </p:nvSpPr>
        <p:spPr>
          <a:xfrm>
            <a:off x="3001060" y="3511296"/>
            <a:ext cx="1684324" cy="713232"/>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Outbox 기록</a:t>
            </a:r>
          </a:p>
        </p:txBody>
      </p:sp>
      <p:sp>
        <p:nvSpPr>
          <p:cNvPr id="18" name="TEXT 전송할 이벤트"/>
          <p:cNvSpPr txBox="1"/>
          <p:nvPr/>
        </p:nvSpPr>
        <p:spPr>
          <a:xfrm>
            <a:off x="3001060" y="4261104"/>
            <a:ext cx="1684324" cy="365760"/>
          </a:xfrm>
          <a:prstGeom prst="rect">
            <a:avLst/>
          </a:prstGeom>
          <a:noFill/>
        </p:spPr>
        <p:txBody>
          <a:bodyPr wrap="square" lIns="0" rIns="0" tIns="0" bIns="0">
            <a:noAutofit/>
          </a:bodyPr>
          <a:lstStyle/>
          <a:p>
            <a:pPr algn="l">
              <a:lnSpc>
                <a:spcPct val="116000"/>
              </a:lnSpc>
              <a:spcBef>
                <a:spcPts val="0"/>
              </a:spcBef>
              <a:spcAft>
                <a:spcPts val="0"/>
              </a:spcAft>
            </a:pPr>
            <a:r>
              <a:rPr sz="1600" b="0">
                <a:solidFill>
                  <a:srgbClr val="126858"/>
                </a:solidFill>
                <a:latin typeface="Noto Sans CJK KR"/>
                <a:ea typeface="Noto Sans CJK KR"/>
                <a:latin typeface="Noto Sans CJK KR"/>
              </a:rPr>
              <a:t>전송할 이벤트</a:t>
            </a:r>
          </a:p>
        </p:txBody>
      </p:sp>
      <p:cxnSp>
        <p:nvCxnSpPr>
          <p:cNvPr id="19" name="Connector 18"/>
          <p:cNvCxnSpPr/>
          <p:nvPr/>
        </p:nvCxnSpPr>
        <p:spPr>
          <a:xfrm>
            <a:off x="4859121" y="3803904"/>
            <a:ext cx="219456" cy="0"/>
          </a:xfrm>
          <a:prstGeom prst="line">
            <a:avLst/>
          </a:prstGeom>
          <a:ln w="22860">
            <a:solidFill>
              <a:srgbClr val="5E6E66"/>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096865" y="2880360"/>
            <a:ext cx="1995220" cy="1874519"/>
          </a:xfrm>
          <a:prstGeom prst="roundRect">
            <a:avLst>
              <a:gd name="adj" fmla="val 8000"/>
            </a:avLst>
          </a:prstGeom>
          <a:solidFill>
            <a:srgbClr val="E3EFE7"/>
          </a:solidFill>
          <a:ln w="10160">
            <a:solidFill>
              <a:srgbClr val="12685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 03"/>
          <p:cNvSpPr txBox="1"/>
          <p:nvPr/>
        </p:nvSpPr>
        <p:spPr>
          <a:xfrm>
            <a:off x="5252313" y="3044952"/>
            <a:ext cx="1684324" cy="246888"/>
          </a:xfrm>
          <a:prstGeom prst="rect">
            <a:avLst/>
          </a:prstGeom>
          <a:noFill/>
        </p:spPr>
        <p:txBody>
          <a:bodyPr wrap="square" lIns="0" rIns="0" tIns="0" bIns="0">
            <a:noAutofit/>
          </a:bodyPr>
          <a:lstStyle/>
          <a:p>
            <a:pPr algn="l">
              <a:lnSpc>
                <a:spcPct val="116000"/>
              </a:lnSpc>
              <a:spcBef>
                <a:spcPts val="0"/>
              </a:spcBef>
              <a:spcAft>
                <a:spcPts val="0"/>
              </a:spcAft>
            </a:pPr>
            <a:r>
              <a:rPr sz="1200" b="1">
                <a:solidFill>
                  <a:srgbClr val="126858"/>
                </a:solidFill>
                <a:latin typeface="Noto Sans CJK KR"/>
                <a:ea typeface="Noto Sans CJK KR"/>
                <a:latin typeface="Noto Sans CJK KR"/>
              </a:rPr>
              <a:t>03</a:t>
            </a:r>
          </a:p>
        </p:txBody>
      </p:sp>
      <p:sp>
        <p:nvSpPr>
          <p:cNvPr id="22" name="TEXT 같은 트랜잭션"/>
          <p:cNvSpPr txBox="1"/>
          <p:nvPr/>
        </p:nvSpPr>
        <p:spPr>
          <a:xfrm>
            <a:off x="5252313" y="3511296"/>
            <a:ext cx="1684324" cy="713232"/>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같은 트랜잭션</a:t>
            </a:r>
          </a:p>
        </p:txBody>
      </p:sp>
      <p:sp>
        <p:nvSpPr>
          <p:cNvPr id="23" name="TEXT 함께 commit"/>
          <p:cNvSpPr txBox="1"/>
          <p:nvPr/>
        </p:nvSpPr>
        <p:spPr>
          <a:xfrm>
            <a:off x="5252313" y="4261104"/>
            <a:ext cx="1684324" cy="365760"/>
          </a:xfrm>
          <a:prstGeom prst="rect">
            <a:avLst/>
          </a:prstGeom>
          <a:noFill/>
        </p:spPr>
        <p:txBody>
          <a:bodyPr wrap="square" lIns="0" rIns="0" tIns="0" bIns="0">
            <a:noAutofit/>
          </a:bodyPr>
          <a:lstStyle/>
          <a:p>
            <a:pPr algn="l">
              <a:lnSpc>
                <a:spcPct val="116000"/>
              </a:lnSpc>
              <a:spcBef>
                <a:spcPts val="0"/>
              </a:spcBef>
              <a:spcAft>
                <a:spcPts val="0"/>
              </a:spcAft>
            </a:pPr>
            <a:r>
              <a:rPr sz="1600" b="0">
                <a:solidFill>
                  <a:srgbClr val="126858"/>
                </a:solidFill>
                <a:latin typeface="Noto Sans CJK KR"/>
                <a:ea typeface="Noto Sans CJK KR"/>
                <a:latin typeface="Noto Sans CJK KR"/>
              </a:rPr>
              <a:t>함께 commit</a:t>
            </a:r>
          </a:p>
        </p:txBody>
      </p:sp>
      <p:cxnSp>
        <p:nvCxnSpPr>
          <p:cNvPr id="24" name="Connector 23"/>
          <p:cNvCxnSpPr/>
          <p:nvPr/>
        </p:nvCxnSpPr>
        <p:spPr>
          <a:xfrm>
            <a:off x="7110374" y="3803904"/>
            <a:ext cx="219456" cy="0"/>
          </a:xfrm>
          <a:prstGeom prst="line">
            <a:avLst/>
          </a:prstGeom>
          <a:ln w="22860">
            <a:solidFill>
              <a:srgbClr val="5E6E66"/>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348118" y="2880360"/>
            <a:ext cx="1995220" cy="1874519"/>
          </a:xfrm>
          <a:prstGeom prst="roundRect">
            <a:avLst>
              <a:gd name="adj" fmla="val 8000"/>
            </a:avLst>
          </a:prstGeom>
          <a:solidFill>
            <a:srgbClr val="F0E9F6"/>
          </a:solidFill>
          <a:ln w="10160">
            <a:solidFill>
              <a:srgbClr val="7155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 04"/>
          <p:cNvSpPr txBox="1"/>
          <p:nvPr/>
        </p:nvSpPr>
        <p:spPr>
          <a:xfrm>
            <a:off x="7503566" y="3044952"/>
            <a:ext cx="1684324" cy="246888"/>
          </a:xfrm>
          <a:prstGeom prst="rect">
            <a:avLst/>
          </a:prstGeom>
          <a:noFill/>
        </p:spPr>
        <p:txBody>
          <a:bodyPr wrap="square" lIns="0" rIns="0" tIns="0" bIns="0">
            <a:noAutofit/>
          </a:bodyPr>
          <a:lstStyle/>
          <a:p>
            <a:pPr algn="l">
              <a:lnSpc>
                <a:spcPct val="116000"/>
              </a:lnSpc>
              <a:spcBef>
                <a:spcPts val="0"/>
              </a:spcBef>
              <a:spcAft>
                <a:spcPts val="0"/>
              </a:spcAft>
            </a:pPr>
            <a:r>
              <a:rPr sz="1200" b="1">
                <a:solidFill>
                  <a:srgbClr val="71559D"/>
                </a:solidFill>
                <a:latin typeface="Noto Sans CJK KR"/>
                <a:ea typeface="Noto Sans CJK KR"/>
                <a:latin typeface="Noto Sans CJK KR"/>
              </a:rPr>
              <a:t>04</a:t>
            </a:r>
          </a:p>
        </p:txBody>
      </p:sp>
      <p:sp>
        <p:nvSpPr>
          <p:cNvPr id="27" name="TEXT Publisher 전송"/>
          <p:cNvSpPr txBox="1"/>
          <p:nvPr/>
        </p:nvSpPr>
        <p:spPr>
          <a:xfrm>
            <a:off x="7503566" y="3511296"/>
            <a:ext cx="1684324" cy="713232"/>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71559D"/>
                </a:solidFill>
                <a:latin typeface="Noto Sans CJK KR"/>
                <a:ea typeface="Noto Sans CJK KR"/>
                <a:latin typeface="Noto Sans CJK KR"/>
              </a:rPr>
              <a:t>Publisher 전송</a:t>
            </a:r>
          </a:p>
        </p:txBody>
      </p:sp>
      <p:sp>
        <p:nvSpPr>
          <p:cNvPr id="28" name="TEXT 재시도 가능"/>
          <p:cNvSpPr txBox="1"/>
          <p:nvPr/>
        </p:nvSpPr>
        <p:spPr>
          <a:xfrm>
            <a:off x="7503566" y="4261104"/>
            <a:ext cx="1684324" cy="365760"/>
          </a:xfrm>
          <a:prstGeom prst="rect">
            <a:avLst/>
          </a:prstGeom>
          <a:noFill/>
        </p:spPr>
        <p:txBody>
          <a:bodyPr wrap="square" lIns="0" rIns="0" tIns="0" bIns="0">
            <a:noAutofit/>
          </a:bodyPr>
          <a:lstStyle/>
          <a:p>
            <a:pPr algn="l">
              <a:lnSpc>
                <a:spcPct val="116000"/>
              </a:lnSpc>
              <a:spcBef>
                <a:spcPts val="0"/>
              </a:spcBef>
              <a:spcAft>
                <a:spcPts val="0"/>
              </a:spcAft>
            </a:pPr>
            <a:r>
              <a:rPr sz="1600" b="0">
                <a:solidFill>
                  <a:srgbClr val="71559D"/>
                </a:solidFill>
                <a:latin typeface="Noto Sans CJK KR"/>
                <a:ea typeface="Noto Sans CJK KR"/>
                <a:latin typeface="Noto Sans CJK KR"/>
              </a:rPr>
              <a:t>재시도 가능</a:t>
            </a:r>
          </a:p>
        </p:txBody>
      </p:sp>
      <p:cxnSp>
        <p:nvCxnSpPr>
          <p:cNvPr id="29" name="Connector 28"/>
          <p:cNvCxnSpPr/>
          <p:nvPr/>
        </p:nvCxnSpPr>
        <p:spPr>
          <a:xfrm>
            <a:off x="9361627" y="3803904"/>
            <a:ext cx="219456" cy="0"/>
          </a:xfrm>
          <a:prstGeom prst="line">
            <a:avLst/>
          </a:prstGeom>
          <a:ln w="22860">
            <a:solidFill>
              <a:srgbClr val="5E6E66"/>
            </a:solidFill>
            <a:tailEnd type="triangle"/>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9599371" y="2880360"/>
            <a:ext cx="1995220" cy="1874519"/>
          </a:xfrm>
          <a:prstGeom prst="roundRect">
            <a:avLst>
              <a:gd name="adj" fmla="val 8000"/>
            </a:avLst>
          </a:prstGeom>
          <a:solidFill>
            <a:srgbClr val="F0E9F6"/>
          </a:solidFill>
          <a:ln w="10160">
            <a:solidFill>
              <a:srgbClr val="71559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 05"/>
          <p:cNvSpPr txBox="1"/>
          <p:nvPr/>
        </p:nvSpPr>
        <p:spPr>
          <a:xfrm>
            <a:off x="9754819" y="3044952"/>
            <a:ext cx="1684324" cy="246888"/>
          </a:xfrm>
          <a:prstGeom prst="rect">
            <a:avLst/>
          </a:prstGeom>
          <a:noFill/>
        </p:spPr>
        <p:txBody>
          <a:bodyPr wrap="square" lIns="0" rIns="0" tIns="0" bIns="0">
            <a:noAutofit/>
          </a:bodyPr>
          <a:lstStyle/>
          <a:p>
            <a:pPr algn="l">
              <a:lnSpc>
                <a:spcPct val="116000"/>
              </a:lnSpc>
              <a:spcBef>
                <a:spcPts val="0"/>
              </a:spcBef>
              <a:spcAft>
                <a:spcPts val="0"/>
              </a:spcAft>
            </a:pPr>
            <a:r>
              <a:rPr sz="1200" b="1">
                <a:solidFill>
                  <a:srgbClr val="71559D"/>
                </a:solidFill>
                <a:latin typeface="Noto Sans CJK KR"/>
                <a:ea typeface="Noto Sans CJK KR"/>
                <a:latin typeface="Noto Sans CJK KR"/>
              </a:rPr>
              <a:t>05</a:t>
            </a:r>
          </a:p>
        </p:txBody>
      </p:sp>
      <p:sp>
        <p:nvSpPr>
          <p:cNvPr id="32" name="TEXT 수신자 중복 처리"/>
          <p:cNvSpPr txBox="1"/>
          <p:nvPr/>
        </p:nvSpPr>
        <p:spPr>
          <a:xfrm>
            <a:off x="9754819" y="3511296"/>
            <a:ext cx="1684324" cy="713232"/>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71559D"/>
                </a:solidFill>
                <a:latin typeface="Noto Sans CJK KR"/>
                <a:ea typeface="Noto Sans CJK KR"/>
                <a:latin typeface="Noto Sans CJK KR"/>
              </a:rPr>
              <a:t>수신자 중복 처리</a:t>
            </a:r>
          </a:p>
        </p:txBody>
      </p:sp>
      <p:sp>
        <p:nvSpPr>
          <p:cNvPr id="33" name="TEXT event_id 대조"/>
          <p:cNvSpPr txBox="1"/>
          <p:nvPr/>
        </p:nvSpPr>
        <p:spPr>
          <a:xfrm>
            <a:off x="9754819" y="4261104"/>
            <a:ext cx="1684324" cy="365760"/>
          </a:xfrm>
          <a:prstGeom prst="rect">
            <a:avLst/>
          </a:prstGeom>
          <a:noFill/>
        </p:spPr>
        <p:txBody>
          <a:bodyPr wrap="square" lIns="0" rIns="0" tIns="0" bIns="0">
            <a:noAutofit/>
          </a:bodyPr>
          <a:lstStyle/>
          <a:p>
            <a:pPr algn="l">
              <a:lnSpc>
                <a:spcPct val="116000"/>
              </a:lnSpc>
              <a:spcBef>
                <a:spcPts val="0"/>
              </a:spcBef>
              <a:spcAft>
                <a:spcPts val="0"/>
              </a:spcAft>
            </a:pPr>
            <a:r>
              <a:rPr sz="1600" b="0">
                <a:solidFill>
                  <a:srgbClr val="71559D"/>
                </a:solidFill>
                <a:latin typeface="Noto Sans CJK KR"/>
                <a:ea typeface="Noto Sans CJK KR"/>
                <a:latin typeface="Noto Sans CJK KR"/>
              </a:rPr>
              <a:t>event_id 대조</a:t>
            </a:r>
          </a:p>
        </p:txBody>
      </p:sp>
      <p:sp>
        <p:nvSpPr>
          <p:cNvPr id="34" name="TEXT Outbox도 외부 전달의 exactly-once를 자동 보장하지 않는다."/>
          <p:cNvSpPr txBox="1"/>
          <p:nvPr/>
        </p:nvSpPr>
        <p:spPr>
          <a:xfrm>
            <a:off x="731520" y="5266944"/>
            <a:ext cx="10789920" cy="685800"/>
          </a:xfrm>
          <a:prstGeom prst="rect">
            <a:avLst/>
          </a:prstGeom>
          <a:noFill/>
        </p:spPr>
        <p:txBody>
          <a:bodyPr wrap="square" lIns="0" rIns="0" tIns="0" bIns="0">
            <a:noAutofit/>
          </a:bodyPr>
          <a:lstStyle/>
          <a:p>
            <a:pPr algn="l">
              <a:lnSpc>
                <a:spcPct val="116000"/>
              </a:lnSpc>
              <a:spcBef>
                <a:spcPts val="0"/>
              </a:spcBef>
              <a:spcAft>
                <a:spcPts val="0"/>
              </a:spcAft>
            </a:pPr>
            <a:r>
              <a:rPr sz="2100" b="1">
                <a:solidFill>
                  <a:srgbClr val="126858"/>
                </a:solidFill>
                <a:latin typeface="Noto Sans CJK KR"/>
                <a:ea typeface="Noto Sans CJK KR"/>
                <a:latin typeface="Noto Sans CJK KR"/>
              </a:rPr>
              <a:t>Outbox도 외부 전달의 exactly-once를 자동 보장하지 않는다.</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APPENDIX  /  선택 심화"/>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APPENDIX  /  선택 심화</a:t>
            </a:r>
          </a:p>
        </p:txBody>
      </p:sp>
      <p:sp>
        <p:nvSpPr>
          <p:cNvPr id="3" name="TEXT 오류별 복구 표"/>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오류별 복구 표</a:t>
            </a:r>
          </a:p>
        </p:txBody>
      </p:sp>
      <p:sp>
        <p:nvSpPr>
          <p:cNvPr id="4" name="TEXT 오류 원인과 부작용 여부로 복구 경로를 정한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오류 원인과 부작용 여부로 복구 경로를 정한다.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09·C10"/>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C09·C10</a:t>
            </a:r>
          </a:p>
        </p:txBody>
      </p:sp>
      <p:sp>
        <p:nvSpPr>
          <p:cNvPr id="8" name="TEXT A10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A10 / 72</a:t>
            </a:r>
          </a:p>
        </p:txBody>
      </p:sp>
      <p:sp>
        <p:nvSpPr>
          <p:cNvPr id="9" name="TEXT 본문 44로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본문 44로 →</a:t>
            </a:r>
          </a:p>
        </p:txBody>
      </p:sp>
      <p:graphicFrame>
        <p:nvGraphicFramePr>
          <p:cNvPr id="10" name="Table 9"/>
          <p:cNvGraphicFramePr>
            <a:graphicFrameLocks noGrp="1"/>
          </p:cNvGraphicFramePr>
          <p:nvPr/>
        </p:nvGraphicFramePr>
        <p:xfrm>
          <a:off x="594360" y="2587752"/>
          <a:ext cx="11000231" cy="3557016"/>
        </p:xfrm>
        <a:graphic>
          <a:graphicData uri="http://schemas.openxmlformats.org/drawingml/2006/table">
            <a:tbl>
              <a:tblPr firstRow="1" bandRow="1">
                <a:tableStyleId>{5C22544A-7EE6-4342-B048-85BDC9FD1C3A}</a:tableStyleId>
              </a:tblPr>
              <a:tblGrid>
                <a:gridCol w="2750058"/>
                <a:gridCol w="4290090"/>
                <a:gridCol w="3960083"/>
              </a:tblGrid>
              <a:tr h="484632">
                <a:tc>
                  <a:txBody>
                    <a:bodyPr/>
                    <a:lstStyle/>
                    <a:p>
                      <a:pPr>
                        <a:lnSpc>
                          <a:spcPct val="113000"/>
                        </a:lnSpc>
                        <a:spcAft>
                          <a:spcPts val="0"/>
                        </a:spcAft>
                      </a:pPr>
                      <a:r>
                        <a:rPr sz="1800" b="1">
                          <a:solidFill>
                            <a:srgbClr val="126858"/>
                          </a:solidFill>
                          <a:latin typeface="Noto Sans CJK KR"/>
                        </a:rPr>
                        <a:t>실패</a:t>
                      </a:r>
                    </a:p>
                  </a:txBody>
                  <a:tcPr marL="137160" marR="91440" marT="91440" marB="54864" anchor="ctr">
                    <a:solidFill>
                      <a:srgbClr val="E3EFE7"/>
                    </a:solidFill>
                  </a:tcPr>
                </a:tc>
                <a:tc>
                  <a:txBody>
                    <a:bodyPr/>
                    <a:lstStyle/>
                    <a:p>
                      <a:pPr>
                        <a:lnSpc>
                          <a:spcPct val="113000"/>
                        </a:lnSpc>
                        <a:spcAft>
                          <a:spcPts val="0"/>
                        </a:spcAft>
                      </a:pPr>
                      <a:r>
                        <a:rPr sz="1800" b="1">
                          <a:solidFill>
                            <a:srgbClr val="126858"/>
                          </a:solidFill>
                          <a:latin typeface="Noto Sans CJK KR"/>
                        </a:rPr>
                        <a:t>다음 행동</a:t>
                      </a:r>
                    </a:p>
                  </a:txBody>
                  <a:tcPr marL="137160" marR="91440" marT="91440" marB="54864" anchor="ctr">
                    <a:solidFill>
                      <a:srgbClr val="E3EFE7"/>
                    </a:solidFill>
                  </a:tcPr>
                </a:tc>
                <a:tc>
                  <a:txBody>
                    <a:bodyPr/>
                    <a:lstStyle/>
                    <a:p>
                      <a:pPr>
                        <a:lnSpc>
                          <a:spcPct val="113000"/>
                        </a:lnSpc>
                        <a:spcAft>
                          <a:spcPts val="0"/>
                        </a:spcAft>
                      </a:pPr>
                      <a:r>
                        <a:rPr sz="1800" b="1">
                          <a:solidFill>
                            <a:srgbClr val="126858"/>
                          </a:solidFill>
                          <a:latin typeface="Noto Sans CJK KR"/>
                        </a:rPr>
                        <a:t>테스트 관측</a:t>
                      </a:r>
                    </a:p>
                  </a:txBody>
                  <a:tcPr marL="137160" marR="91440" marT="91440" marB="54864" anchor="ctr">
                    <a:solidFill>
                      <a:srgbClr val="E3EFE7"/>
                    </a:solidFill>
                  </a:tcPr>
                </a:tc>
              </a:tr>
              <a:tr h="768096">
                <a:tc>
                  <a:txBody>
                    <a:bodyPr/>
                    <a:lstStyle/>
                    <a:p>
                      <a:pPr>
                        <a:lnSpc>
                          <a:spcPct val="113000"/>
                        </a:lnSpc>
                        <a:spcAft>
                          <a:spcPts val="0"/>
                        </a:spcAft>
                      </a:pPr>
                      <a:r>
                        <a:rPr sz="2000" b="1">
                          <a:solidFill>
                            <a:srgbClr val="172B2A"/>
                          </a:solidFill>
                          <a:latin typeface="Noto Sans CJK KR"/>
                        </a:rPr>
                        <a:t>Tool Timeout</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제한 재시도·차단</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reason·호출 수</a:t>
                      </a:r>
                    </a:p>
                  </a:txBody>
                  <a:tcPr marL="137160" marR="91440" marT="91440" marB="54864" anchor="ctr">
                    <a:solidFill>
                      <a:srgbClr val="FFFEF9"/>
                    </a:solidFill>
                  </a:tcPr>
                </a:tc>
              </a:tr>
              <a:tr h="768096">
                <a:tc>
                  <a:txBody>
                    <a:bodyPr/>
                    <a:lstStyle/>
                    <a:p>
                      <a:pPr>
                        <a:lnSpc>
                          <a:spcPct val="113000"/>
                        </a:lnSpc>
                        <a:spcAft>
                          <a:spcPts val="0"/>
                        </a:spcAft>
                      </a:pPr>
                      <a:r>
                        <a:rPr sz="2000" b="1">
                          <a:solidFill>
                            <a:srgbClr val="172B2A"/>
                          </a:solidFill>
                          <a:latin typeface="Noto Sans CJK KR"/>
                        </a:rPr>
                        <a:t>Schema 오류</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계약 수정·제한 보정</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invalid_output</a:t>
                      </a:r>
                    </a:p>
                  </a:txBody>
                  <a:tcPr marL="137160" marR="91440" marT="91440" marB="54864" anchor="ctr">
                    <a:solidFill>
                      <a:srgbClr val="EDF0E9"/>
                    </a:solidFill>
                  </a:tcPr>
                </a:tc>
              </a:tr>
              <a:tr h="768096">
                <a:tc>
                  <a:txBody>
                    <a:bodyPr/>
                    <a:lstStyle/>
                    <a:p>
                      <a:pPr>
                        <a:lnSpc>
                          <a:spcPct val="113000"/>
                        </a:lnSpc>
                        <a:spcAft>
                          <a:spcPts val="0"/>
                        </a:spcAft>
                      </a:pPr>
                      <a:r>
                        <a:rPr sz="2000" b="1">
                          <a:solidFill>
                            <a:srgbClr val="172B2A"/>
                          </a:solidFill>
                          <a:latin typeface="Noto Sans CJK KR"/>
                        </a:rPr>
                        <a:t>승인 대상 불일치</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거절·재승인</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실행 0회</a:t>
                      </a:r>
                    </a:p>
                  </a:txBody>
                  <a:tcPr marL="137160" marR="91440" marT="91440" marB="54864" anchor="ctr">
                    <a:solidFill>
                      <a:srgbClr val="FFFEF9"/>
                    </a:solidFill>
                  </a:tcPr>
                </a:tc>
              </a:tr>
              <a:tr h="768096">
                <a:tc>
                  <a:txBody>
                    <a:bodyPr/>
                    <a:lstStyle/>
                    <a:p>
                      <a:pPr>
                        <a:lnSpc>
                          <a:spcPct val="113000"/>
                        </a:lnSpc>
                        <a:spcAft>
                          <a:spcPts val="0"/>
                        </a:spcAft>
                      </a:pPr>
                      <a:r>
                        <a:rPr sz="2000" b="1">
                          <a:solidFill>
                            <a:srgbClr val="172B2A"/>
                          </a:solidFill>
                          <a:latin typeface="Noto Sans CJK KR"/>
                        </a:rPr>
                        <a:t>변경 결과 불명확</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결과 조회·조정</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중복 변경 방지 설계</a:t>
                      </a:r>
                    </a:p>
                  </a:txBody>
                  <a:tcPr marL="137160" marR="91440" marT="91440" marB="54864" anchor="ctr">
                    <a:solidFill>
                      <a:srgbClr val="EDF0E9"/>
                    </a:solidFill>
                  </a:tcPr>
                </a:tc>
              </a:tr>
            </a:tbl>
          </a:graphicData>
        </a:graphic>
      </p:graphicFrame>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APPENDIX  /  선택 심화"/>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APPENDIX  /  선택 심화</a:t>
            </a:r>
          </a:p>
        </p:txBody>
      </p:sp>
      <p:sp>
        <p:nvSpPr>
          <p:cNvPr id="3" name="TEXT 실습 환경과 버전"/>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실습 환경과 버전</a:t>
            </a:r>
          </a:p>
        </p:txBody>
      </p:sp>
      <p:sp>
        <p:nvSpPr>
          <p:cNvPr id="4" name="TEXT 의존성 설치 후 기본 실습에는 네트워크·GPU·API key가 필요 없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의존성 설치 후 기본 실습에는 네트워크·GPU·API key가 필요 없다.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10"/>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C10</a:t>
            </a:r>
          </a:p>
        </p:txBody>
      </p:sp>
      <p:sp>
        <p:nvSpPr>
          <p:cNvPr id="8" name="TEXT A11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A11 / 72</a:t>
            </a:r>
          </a:p>
        </p:txBody>
      </p:sp>
      <p:sp>
        <p:nvSpPr>
          <p:cNvPr id="9" name="TEXT 본문 54로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본문 54로 →</a:t>
            </a:r>
          </a:p>
        </p:txBody>
      </p:sp>
      <p:graphicFrame>
        <p:nvGraphicFramePr>
          <p:cNvPr id="10" name="Table 9"/>
          <p:cNvGraphicFramePr>
            <a:graphicFrameLocks noGrp="1"/>
          </p:cNvGraphicFramePr>
          <p:nvPr/>
        </p:nvGraphicFramePr>
        <p:xfrm>
          <a:off x="594360" y="2587752"/>
          <a:ext cx="11000231" cy="3557016"/>
        </p:xfrm>
        <a:graphic>
          <a:graphicData uri="http://schemas.openxmlformats.org/drawingml/2006/table">
            <a:tbl>
              <a:tblPr firstRow="1" bandRow="1">
                <a:tableStyleId>{5C22544A-7EE6-4342-B048-85BDC9FD1C3A}</a:tableStyleId>
              </a:tblPr>
              <a:tblGrid>
                <a:gridCol w="2750058"/>
                <a:gridCol w="4290090"/>
                <a:gridCol w="3960083"/>
              </a:tblGrid>
              <a:tr h="484632">
                <a:tc>
                  <a:txBody>
                    <a:bodyPr/>
                    <a:lstStyle/>
                    <a:p>
                      <a:pPr>
                        <a:lnSpc>
                          <a:spcPct val="113000"/>
                        </a:lnSpc>
                        <a:spcAft>
                          <a:spcPts val="0"/>
                        </a:spcAft>
                      </a:pPr>
                      <a:r>
                        <a:rPr sz="1800" b="1">
                          <a:solidFill>
                            <a:srgbClr val="126858"/>
                          </a:solidFill>
                          <a:latin typeface="Noto Sans CJK KR"/>
                        </a:rPr>
                        <a:t>항목</a:t>
                      </a:r>
                    </a:p>
                  </a:txBody>
                  <a:tcPr marL="137160" marR="91440" marT="91440" marB="54864" anchor="ctr">
                    <a:solidFill>
                      <a:srgbClr val="E3EFE7"/>
                    </a:solidFill>
                  </a:tcPr>
                </a:tc>
                <a:tc>
                  <a:txBody>
                    <a:bodyPr/>
                    <a:lstStyle/>
                    <a:p>
                      <a:pPr>
                        <a:lnSpc>
                          <a:spcPct val="113000"/>
                        </a:lnSpc>
                        <a:spcAft>
                          <a:spcPts val="0"/>
                        </a:spcAft>
                      </a:pPr>
                      <a:r>
                        <a:rPr sz="1800" b="1">
                          <a:solidFill>
                            <a:srgbClr val="126858"/>
                          </a:solidFill>
                          <a:latin typeface="Noto Sans CJK KR"/>
                        </a:rPr>
                        <a:t>고정·검증 값</a:t>
                      </a:r>
                    </a:p>
                  </a:txBody>
                  <a:tcPr marL="137160" marR="91440" marT="91440" marB="54864" anchor="ctr">
                    <a:solidFill>
                      <a:srgbClr val="E3EFE7"/>
                    </a:solidFill>
                  </a:tcPr>
                </a:tc>
                <a:tc>
                  <a:txBody>
                    <a:bodyPr/>
                    <a:lstStyle/>
                    <a:p>
                      <a:pPr>
                        <a:lnSpc>
                          <a:spcPct val="113000"/>
                        </a:lnSpc>
                        <a:spcAft>
                          <a:spcPts val="0"/>
                        </a:spcAft>
                      </a:pPr>
                      <a:r>
                        <a:rPr sz="1800" b="1">
                          <a:solidFill>
                            <a:srgbClr val="126858"/>
                          </a:solidFill>
                          <a:latin typeface="Noto Sans CJK KR"/>
                        </a:rPr>
                        <a:t>범위</a:t>
                      </a:r>
                    </a:p>
                  </a:txBody>
                  <a:tcPr marL="137160" marR="91440" marT="91440" marB="54864" anchor="ctr">
                    <a:solidFill>
                      <a:srgbClr val="E3EFE7"/>
                    </a:solidFill>
                  </a:tcPr>
                </a:tc>
              </a:tr>
              <a:tr h="768096">
                <a:tc>
                  <a:txBody>
                    <a:bodyPr/>
                    <a:lstStyle/>
                    <a:p>
                      <a:pPr>
                        <a:lnSpc>
                          <a:spcPct val="113000"/>
                        </a:lnSpc>
                        <a:spcAft>
                          <a:spcPts val="0"/>
                        </a:spcAft>
                      </a:pPr>
                      <a:r>
                        <a:rPr sz="2000" b="1">
                          <a:solidFill>
                            <a:srgbClr val="172B2A"/>
                          </a:solidFill>
                          <a:latin typeface="Noto Sans CJK KR"/>
                        </a:rPr>
                        <a:t>실행 환경</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Python 3.12.14 / Linux</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별도 가상환경 검증</a:t>
                      </a:r>
                    </a:p>
                  </a:txBody>
                  <a:tcPr marL="137160" marR="91440" marT="91440" marB="54864" anchor="ctr">
                    <a:solidFill>
                      <a:srgbClr val="FFFEF9"/>
                    </a:solidFill>
                  </a:tcPr>
                </a:tc>
              </a:tr>
              <a:tr h="768096">
                <a:tc>
                  <a:txBody>
                    <a:bodyPr/>
                    <a:lstStyle/>
                    <a:p>
                      <a:pPr>
                        <a:lnSpc>
                          <a:spcPct val="113000"/>
                        </a:lnSpc>
                        <a:spcAft>
                          <a:spcPts val="0"/>
                        </a:spcAft>
                      </a:pPr>
                      <a:r>
                        <a:rPr sz="2000" b="1">
                          <a:solidFill>
                            <a:srgbClr val="172B2A"/>
                          </a:solidFill>
                          <a:latin typeface="Noto Sans CJK KR"/>
                        </a:rPr>
                        <a:t>핵심 라이브러리</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LangGraph 1.2.16</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SQLite saver 3.1.2</a:t>
                      </a:r>
                    </a:p>
                  </a:txBody>
                  <a:tcPr marL="137160" marR="91440" marT="91440" marB="54864" anchor="ctr">
                    <a:solidFill>
                      <a:srgbClr val="EDF0E9"/>
                    </a:solidFill>
                  </a:tcPr>
                </a:tc>
              </a:tr>
              <a:tr h="768096">
                <a:tc>
                  <a:txBody>
                    <a:bodyPr/>
                    <a:lstStyle/>
                    <a:p>
                      <a:pPr>
                        <a:lnSpc>
                          <a:spcPct val="113000"/>
                        </a:lnSpc>
                        <a:spcAft>
                          <a:spcPts val="0"/>
                        </a:spcAft>
                      </a:pPr>
                      <a:r>
                        <a:rPr sz="2000" b="1">
                          <a:solidFill>
                            <a:srgbClr val="172B2A"/>
                          </a:solidFill>
                          <a:latin typeface="Noto Sans CJK KR"/>
                        </a:rPr>
                        <a:t>검증·테스트</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Pydantic 2.14.1 / pytest 9.1.1</a:t>
                      </a:r>
                    </a:p>
                  </a:txBody>
                  <a:tcPr marL="137160" marR="91440" marT="91440" marB="54864" anchor="ctr">
                    <a:solidFill>
                      <a:srgbClr val="FFFEF9"/>
                    </a:solidFill>
                  </a:tcPr>
                </a:tc>
                <a:tc>
                  <a:txBody>
                    <a:bodyPr/>
                    <a:lstStyle/>
                    <a:p>
                      <a:pPr>
                        <a:lnSpc>
                          <a:spcPct val="113000"/>
                        </a:lnSpc>
                        <a:spcAft>
                          <a:spcPts val="0"/>
                        </a:spcAft>
                      </a:pPr>
                      <a:r>
                        <a:rPr sz="2000" b="0">
                          <a:solidFill>
                            <a:srgbClr val="172B2A"/>
                          </a:solidFill>
                          <a:latin typeface="Noto Sans CJK KR"/>
                        </a:rPr>
                        <a:t>13 tests passed</a:t>
                      </a:r>
                    </a:p>
                  </a:txBody>
                  <a:tcPr marL="137160" marR="91440" marT="91440" marB="54864" anchor="ctr">
                    <a:solidFill>
                      <a:srgbClr val="FFFEF9"/>
                    </a:solidFill>
                  </a:tcPr>
                </a:tc>
              </a:tr>
              <a:tr h="768096">
                <a:tc>
                  <a:txBody>
                    <a:bodyPr/>
                    <a:lstStyle/>
                    <a:p>
                      <a:pPr>
                        <a:lnSpc>
                          <a:spcPct val="113000"/>
                        </a:lnSpc>
                        <a:spcAft>
                          <a:spcPts val="0"/>
                        </a:spcAft>
                      </a:pPr>
                      <a:r>
                        <a:rPr sz="2000" b="1">
                          <a:solidFill>
                            <a:srgbClr val="172B2A"/>
                          </a:solidFill>
                          <a:latin typeface="Noto Sans CJK KR"/>
                        </a:rPr>
                        <a:t>실행 모드</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FakeAgent + Simulator</a:t>
                      </a:r>
                    </a:p>
                  </a:txBody>
                  <a:tcPr marL="137160" marR="91440" marT="91440" marB="54864" anchor="ctr">
                    <a:solidFill>
                      <a:srgbClr val="EDF0E9"/>
                    </a:solidFill>
                  </a:tcPr>
                </a:tc>
                <a:tc>
                  <a:txBody>
                    <a:bodyPr/>
                    <a:lstStyle/>
                    <a:p>
                      <a:pPr>
                        <a:lnSpc>
                          <a:spcPct val="113000"/>
                        </a:lnSpc>
                        <a:spcAft>
                          <a:spcPts val="0"/>
                        </a:spcAft>
                      </a:pPr>
                      <a:r>
                        <a:rPr sz="2000" b="0">
                          <a:solidFill>
                            <a:srgbClr val="172B2A"/>
                          </a:solidFill>
                          <a:latin typeface="Noto Sans CJK KR"/>
                        </a:rPr>
                        <a:t>실제 서버 통합 미실행</a:t>
                      </a:r>
                    </a:p>
                  </a:txBody>
                  <a:tcPr marL="137160" marR="91440" marT="91440" marB="54864" anchor="ctr">
                    <a:solidFill>
                      <a:srgbClr val="EDF0E9"/>
                    </a:solidFill>
                  </a:tcPr>
                </a:tc>
              </a:tr>
            </a:tbl>
          </a:graphicData>
        </a:graphic>
      </p:graphicFrame>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5F3EC"/>
        </a:solidFill>
        <a:effectLst/>
      </p:bgPr>
    </p:bg>
    <p:spTree>
      <p:nvGrpSpPr>
        <p:cNvPr id="1" name=""/>
        <p:cNvGrpSpPr/>
        <p:nvPr/>
      </p:nvGrpSpPr>
      <p:grpSpPr/>
      <p:sp>
        <p:nvSpPr>
          <p:cNvPr id="2" name="TEXT APPENDIX  /  선택 심화"/>
          <p:cNvSpPr txBox="1"/>
          <p:nvPr/>
        </p:nvSpPr>
        <p:spPr>
          <a:xfrm>
            <a:off x="594360" y="228600"/>
            <a:ext cx="7315200" cy="228600"/>
          </a:xfrm>
          <a:prstGeom prst="rect">
            <a:avLst/>
          </a:prstGeom>
          <a:noFill/>
        </p:spPr>
        <p:txBody>
          <a:bodyPr wrap="square" lIns="0" rIns="0" tIns="0" bIns="0">
            <a:noAutofit/>
          </a:bodyPr>
          <a:lstStyle/>
          <a:p>
            <a:pPr algn="l">
              <a:lnSpc>
                <a:spcPct val="116000"/>
              </a:lnSpc>
              <a:spcBef>
                <a:spcPts val="0"/>
              </a:spcBef>
              <a:spcAft>
                <a:spcPts val="0"/>
              </a:spcAft>
            </a:pPr>
            <a:r>
              <a:rPr sz="1100" b="1">
                <a:solidFill>
                  <a:srgbClr val="126858"/>
                </a:solidFill>
                <a:latin typeface="Noto Sans CJK KR"/>
                <a:ea typeface="Noto Sans CJK KR"/>
                <a:latin typeface="Noto Sans CJK KR"/>
              </a:rPr>
              <a:t>APPENDIX  /  선택 심화</a:t>
            </a:r>
          </a:p>
        </p:txBody>
      </p:sp>
      <p:sp>
        <p:nvSpPr>
          <p:cNvPr id="3" name="TEXT 공식 문서와 다음 학습"/>
          <p:cNvSpPr txBox="1"/>
          <p:nvPr/>
        </p:nvSpPr>
        <p:spPr>
          <a:xfrm>
            <a:off x="594360" y="676656"/>
            <a:ext cx="11018520" cy="658368"/>
          </a:xfrm>
          <a:prstGeom prst="rect">
            <a:avLst/>
          </a:prstGeom>
          <a:noFill/>
        </p:spPr>
        <p:txBody>
          <a:bodyPr wrap="square" lIns="0" rIns="0" tIns="0" bIns="0">
            <a:noAutofit/>
          </a:bodyPr>
          <a:lstStyle/>
          <a:p>
            <a:pPr algn="l">
              <a:lnSpc>
                <a:spcPct val="116000"/>
              </a:lnSpc>
              <a:spcBef>
                <a:spcPts val="0"/>
              </a:spcBef>
              <a:spcAft>
                <a:spcPts val="0"/>
              </a:spcAft>
            </a:pPr>
            <a:r>
              <a:rPr sz="3400" b="1">
                <a:solidFill>
                  <a:srgbClr val="172B2A"/>
                </a:solidFill>
                <a:latin typeface="Noto Sans CJK KR"/>
                <a:ea typeface="Noto Sans CJK KR"/>
                <a:latin typeface="Noto Sans CJK KR"/>
              </a:rPr>
              <a:t>공식 문서와 다음 학습</a:t>
            </a:r>
          </a:p>
        </p:txBody>
      </p:sp>
      <p:sp>
        <p:nvSpPr>
          <p:cNvPr id="4" name="TEXT 복습·구현 검토·운영 확장을 구분해 이어간다."/>
          <p:cNvSpPr txBox="1"/>
          <p:nvPr/>
        </p:nvSpPr>
        <p:spPr>
          <a:xfrm>
            <a:off x="612648" y="1499616"/>
            <a:ext cx="10927080" cy="658368"/>
          </a:xfrm>
          <a:prstGeom prst="rect">
            <a:avLst/>
          </a:prstGeom>
          <a:noFill/>
        </p:spPr>
        <p:txBody>
          <a:bodyPr wrap="square" lIns="0" rIns="0" tIns="0" bIns="0">
            <a:noAutofit/>
          </a:bodyPr>
          <a:lstStyle/>
          <a:p>
            <a:pPr algn="l">
              <a:lnSpc>
                <a:spcPct val="116000"/>
              </a:lnSpc>
              <a:spcBef>
                <a:spcPts val="0"/>
              </a:spcBef>
              <a:spcAft>
                <a:spcPts val="0"/>
              </a:spcAft>
            </a:pPr>
            <a:r>
              <a:rPr sz="2100" b="0">
                <a:solidFill>
                  <a:srgbClr val="126858"/>
                </a:solidFill>
                <a:latin typeface="Noto Sans CJK KR"/>
                <a:ea typeface="Noto Sans CJK KR"/>
                <a:latin typeface="Noto Sans CJK KR"/>
              </a:rPr>
              <a:t>복습·구현 검토·운영 확장을 구분해 이어간다.</a:t>
            </a:r>
          </a:p>
        </p:txBody>
      </p:sp>
      <p:cxnSp>
        <p:nvCxnSpPr>
          <p:cNvPr id="5" name="Connector 4"/>
          <p:cNvCxnSpPr/>
          <p:nvPr/>
        </p:nvCxnSpPr>
        <p:spPr>
          <a:xfrm>
            <a:off x="594360" y="2267712"/>
            <a:ext cx="11000232" cy="0"/>
          </a:xfrm>
          <a:prstGeom prst="line">
            <a:avLst/>
          </a:prstGeom>
          <a:ln w="10160">
            <a:solidFill>
              <a:srgbClr val="D4DCD3"/>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594360" y="6391656"/>
            <a:ext cx="11000232" cy="0"/>
          </a:xfrm>
          <a:prstGeom prst="line">
            <a:avLst/>
          </a:prstGeom>
          <a:ln w="7620">
            <a:solidFill>
              <a:srgbClr val="D4DCD3"/>
            </a:solidFill>
          </a:ln>
        </p:spPr>
        <p:style>
          <a:lnRef idx="2">
            <a:schemeClr val="accent1"/>
          </a:lnRef>
          <a:fillRef idx="0">
            <a:schemeClr val="accent1"/>
          </a:fillRef>
          <a:effectRef idx="1">
            <a:schemeClr val="accent1"/>
          </a:effectRef>
          <a:fontRef idx="minor">
            <a:schemeClr val="tx1"/>
          </a:fontRef>
        </p:style>
      </p:cxnSp>
      <p:sp>
        <p:nvSpPr>
          <p:cNvPr id="7" name="TEXT AI AGENT FIELDNOTES  /  C01–C12"/>
          <p:cNvSpPr txBox="1"/>
          <p:nvPr/>
        </p:nvSpPr>
        <p:spPr>
          <a:xfrm>
            <a:off x="594360" y="6473952"/>
            <a:ext cx="5212080" cy="182880"/>
          </a:xfrm>
          <a:prstGeom prst="rect">
            <a:avLst/>
          </a:prstGeom>
          <a:noFill/>
        </p:spPr>
        <p:txBody>
          <a:bodyPr wrap="square" lIns="0" rIns="0" tIns="0" bIns="0">
            <a:noAutofit/>
          </a:bodyPr>
          <a:lstStyle/>
          <a:p>
            <a:pPr algn="l">
              <a:lnSpc>
                <a:spcPct val="116000"/>
              </a:lnSpc>
              <a:spcBef>
                <a:spcPts val="0"/>
              </a:spcBef>
              <a:spcAft>
                <a:spcPts val="0"/>
              </a:spcAft>
            </a:pPr>
            <a:r>
              <a:rPr sz="1000" b="0">
                <a:solidFill>
                  <a:srgbClr val="5E6E66"/>
                </a:solidFill>
                <a:latin typeface="Noto Sans CJK KR"/>
                <a:ea typeface="Noto Sans CJK KR"/>
                <a:latin typeface="Noto Sans CJK KR"/>
              </a:rPr>
              <a:t>AI AGENT FIELDNOTES  /  C01–C12</a:t>
            </a:r>
          </a:p>
        </p:txBody>
      </p:sp>
      <p:sp>
        <p:nvSpPr>
          <p:cNvPr id="8" name="TEXT A12 / 72"/>
          <p:cNvSpPr txBox="1"/>
          <p:nvPr/>
        </p:nvSpPr>
        <p:spPr>
          <a:xfrm>
            <a:off x="10698480" y="6464808"/>
            <a:ext cx="914400" cy="210312"/>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A12 / 72</a:t>
            </a:r>
          </a:p>
        </p:txBody>
      </p:sp>
      <p:sp>
        <p:nvSpPr>
          <p:cNvPr id="9" name="TEXT 본문 60로 →">
            <a:hlinkClick action="ppaction://hlinksldjump" r:id="rId2"/>
          </p:cNvPr>
          <p:cNvSpPr txBox="1"/>
          <p:nvPr/>
        </p:nvSpPr>
        <p:spPr>
          <a:xfrm>
            <a:off x="8823960" y="6455664"/>
            <a:ext cx="1554480" cy="228600"/>
          </a:xfrm>
          <a:prstGeom prst="rect">
            <a:avLst/>
          </a:prstGeom>
          <a:noFill/>
        </p:spPr>
        <p:txBody>
          <a:bodyPr wrap="square" lIns="0" rIns="0" tIns="0" bIns="0">
            <a:noAutofit/>
          </a:bodyPr>
          <a:lstStyle/>
          <a:p>
            <a:pPr algn="r">
              <a:lnSpc>
                <a:spcPct val="116000"/>
              </a:lnSpc>
              <a:spcBef>
                <a:spcPts val="0"/>
              </a:spcBef>
              <a:spcAft>
                <a:spcPts val="0"/>
              </a:spcAft>
            </a:pPr>
            <a:r>
              <a:rPr sz="1100" b="0">
                <a:solidFill>
                  <a:srgbClr val="5E6E66"/>
                </a:solidFill>
                <a:latin typeface="Noto Sans CJK KR"/>
                <a:ea typeface="Noto Sans CJK KR"/>
                <a:latin typeface="Noto Sans CJK KR"/>
              </a:rPr>
              <a:t>본문 60로 →</a:t>
            </a:r>
          </a:p>
        </p:txBody>
      </p:sp>
      <p:sp>
        <p:nvSpPr>
          <p:cNvPr id="10" name="Rounded Rectangle 9"/>
          <p:cNvSpPr/>
          <p:nvPr/>
        </p:nvSpPr>
        <p:spPr>
          <a:xfrm>
            <a:off x="594360" y="2660904"/>
            <a:ext cx="3547872" cy="3154680"/>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94360" y="2660904"/>
            <a:ext cx="54864" cy="3154680"/>
          </a:xfrm>
          <a:prstGeom prst="rect">
            <a:avLst/>
          </a:prstGeom>
          <a:solidFill>
            <a:srgbClr val="1268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 복습"/>
          <p:cNvSpPr txBox="1"/>
          <p:nvPr/>
        </p:nvSpPr>
        <p:spPr>
          <a:xfrm>
            <a:off x="795528" y="2843784"/>
            <a:ext cx="314553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126858"/>
                </a:solidFill>
                <a:latin typeface="Noto Sans CJK KR"/>
                <a:ea typeface="Noto Sans CJK KR"/>
                <a:latin typeface="Noto Sans CJK KR"/>
              </a:rPr>
              <a:t>복습</a:t>
            </a:r>
          </a:p>
        </p:txBody>
      </p:sp>
      <p:sp>
        <p:nvSpPr>
          <p:cNvPr id="13" name="TEXT AI Agent 복습집&#10;C01–C12 · 36문항"/>
          <p:cNvSpPr txBox="1"/>
          <p:nvPr/>
        </p:nvSpPr>
        <p:spPr>
          <a:xfrm>
            <a:off x="795528" y="3529584"/>
            <a:ext cx="3145536" cy="2148840"/>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AI Agent 복습집</a:t>
            </a:r>
          </a:p>
          <a:p>
            <a:pPr algn="l">
              <a:lnSpc>
                <a:spcPct val="116000"/>
              </a:lnSpc>
              <a:spcBef>
                <a:spcPts val="0"/>
              </a:spcBef>
              <a:spcAft>
                <a:spcPts val="0"/>
              </a:spcAft>
            </a:pPr>
            <a:r>
              <a:rPr sz="2200" b="0">
                <a:solidFill>
                  <a:srgbClr val="172B2A"/>
                </a:solidFill>
                <a:latin typeface="Noto Sans CJK KR"/>
                <a:ea typeface="Noto Sans CJK KR"/>
                <a:latin typeface="Noto Sans CJK KR"/>
              </a:rPr>
              <a:t>C01–C12 · 36문항</a:t>
            </a:r>
          </a:p>
        </p:txBody>
      </p:sp>
      <p:sp>
        <p:nvSpPr>
          <p:cNvPr id="14" name="Rounded Rectangle 13"/>
          <p:cNvSpPr/>
          <p:nvPr/>
        </p:nvSpPr>
        <p:spPr>
          <a:xfrm>
            <a:off x="4315968" y="2660904"/>
            <a:ext cx="3547872" cy="3154680"/>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15968" y="2660904"/>
            <a:ext cx="54864" cy="3154680"/>
          </a:xfrm>
          <a:prstGeom prst="rect">
            <a:avLst/>
          </a:prstGeom>
          <a:solidFill>
            <a:srgbClr val="345C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 공식 기술 확인"/>
          <p:cNvSpPr txBox="1"/>
          <p:nvPr/>
        </p:nvSpPr>
        <p:spPr>
          <a:xfrm>
            <a:off x="4517136" y="2843784"/>
            <a:ext cx="314553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345CB5"/>
                </a:solidFill>
                <a:latin typeface="Noto Sans CJK KR"/>
                <a:ea typeface="Noto Sans CJK KR"/>
                <a:latin typeface="Noto Sans CJK KR"/>
              </a:rPr>
              <a:t>공식 기술 확인</a:t>
            </a:r>
          </a:p>
        </p:txBody>
      </p:sp>
      <p:sp>
        <p:nvSpPr>
          <p:cNvPr id="17" name="TEXT LangGraph Persistence·Interrupts&#10;LangChain St"/>
          <p:cNvSpPr txBox="1"/>
          <p:nvPr/>
        </p:nvSpPr>
        <p:spPr>
          <a:xfrm>
            <a:off x="4517136" y="3529584"/>
            <a:ext cx="3145536" cy="2148840"/>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LangGraph Persistence·Interrupts</a:t>
            </a:r>
          </a:p>
          <a:p>
            <a:pPr algn="l">
              <a:lnSpc>
                <a:spcPct val="116000"/>
              </a:lnSpc>
              <a:spcBef>
                <a:spcPts val="0"/>
              </a:spcBef>
              <a:spcAft>
                <a:spcPts val="0"/>
              </a:spcAft>
            </a:pPr>
            <a:r>
              <a:rPr sz="2200" b="0">
                <a:solidFill>
                  <a:srgbClr val="172B2A"/>
                </a:solidFill>
                <a:latin typeface="Noto Sans CJK KR"/>
                <a:ea typeface="Noto Sans CJK KR"/>
                <a:latin typeface="Noto Sans CJK KR"/>
              </a:rPr>
              <a:t>LangChain Structured Output·MCP</a:t>
            </a:r>
          </a:p>
        </p:txBody>
      </p:sp>
      <p:sp>
        <p:nvSpPr>
          <p:cNvPr id="18" name="Rounded Rectangle 17"/>
          <p:cNvSpPr/>
          <p:nvPr/>
        </p:nvSpPr>
        <p:spPr>
          <a:xfrm>
            <a:off x="8037576" y="2660904"/>
            <a:ext cx="3547872" cy="3154680"/>
          </a:xfrm>
          <a:prstGeom prst="roundRect">
            <a:avLst>
              <a:gd name="adj" fmla="val 8000"/>
            </a:avLst>
          </a:prstGeom>
          <a:solidFill>
            <a:srgbClr val="FFFEF9"/>
          </a:solidFill>
          <a:ln w="10160">
            <a:solidFill>
              <a:srgbClr val="D4DC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37576" y="2660904"/>
            <a:ext cx="54864" cy="3154680"/>
          </a:xfrm>
          <a:prstGeom prst="rect">
            <a:avLst/>
          </a:prstGeom>
          <a:solidFill>
            <a:srgbClr val="AD5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 다음 과정 · 예정"/>
          <p:cNvSpPr txBox="1"/>
          <p:nvPr/>
        </p:nvSpPr>
        <p:spPr>
          <a:xfrm>
            <a:off x="8238744" y="2843784"/>
            <a:ext cx="3145536" cy="502920"/>
          </a:xfrm>
          <a:prstGeom prst="rect">
            <a:avLst/>
          </a:prstGeom>
          <a:noFill/>
        </p:spPr>
        <p:txBody>
          <a:bodyPr wrap="square" lIns="0" rIns="0" tIns="0" bIns="0">
            <a:noAutofit/>
          </a:bodyPr>
          <a:lstStyle/>
          <a:p>
            <a:pPr algn="l">
              <a:lnSpc>
                <a:spcPct val="116000"/>
              </a:lnSpc>
              <a:spcBef>
                <a:spcPts val="0"/>
              </a:spcBef>
              <a:spcAft>
                <a:spcPts val="0"/>
              </a:spcAft>
            </a:pPr>
            <a:r>
              <a:rPr sz="2200" b="1">
                <a:solidFill>
                  <a:srgbClr val="AD572B"/>
                </a:solidFill>
                <a:latin typeface="Noto Sans CJK KR"/>
                <a:ea typeface="Noto Sans CJK KR"/>
                <a:latin typeface="Noto Sans CJK KR"/>
              </a:rPr>
              <a:t>다음 과정 · 예정</a:t>
            </a:r>
          </a:p>
        </p:txBody>
      </p:sp>
      <p:sp>
        <p:nvSpPr>
          <p:cNvPr id="21" name="TEXT Day 26 Application Server&#10;Day 27 Mini Server"/>
          <p:cNvSpPr txBox="1"/>
          <p:nvPr/>
        </p:nvSpPr>
        <p:spPr>
          <a:xfrm>
            <a:off x="8238744" y="3529584"/>
            <a:ext cx="3145536" cy="2148840"/>
          </a:xfrm>
          <a:prstGeom prst="rect">
            <a:avLst/>
          </a:prstGeom>
          <a:noFill/>
        </p:spPr>
        <p:txBody>
          <a:bodyPr wrap="square" lIns="0" rIns="0" tIns="0" bIns="0">
            <a:noAutofit/>
          </a:bodyPr>
          <a:lstStyle/>
          <a:p>
            <a:pPr algn="l">
              <a:lnSpc>
                <a:spcPct val="116000"/>
              </a:lnSpc>
              <a:spcBef>
                <a:spcPts val="0"/>
              </a:spcBef>
              <a:spcAft>
                <a:spcPts val="0"/>
              </a:spcAft>
            </a:pPr>
            <a:r>
              <a:rPr sz="2200" b="0">
                <a:solidFill>
                  <a:srgbClr val="172B2A"/>
                </a:solidFill>
                <a:latin typeface="Noto Sans CJK KR"/>
                <a:ea typeface="Noto Sans CJK KR"/>
                <a:latin typeface="Noto Sans CJK KR"/>
              </a:rPr>
              <a:t>Day 26 Application Server</a:t>
            </a:r>
          </a:p>
          <a:p>
            <a:pPr algn="l">
              <a:lnSpc>
                <a:spcPct val="116000"/>
              </a:lnSpc>
              <a:spcBef>
                <a:spcPts val="0"/>
              </a:spcBef>
              <a:spcAft>
                <a:spcPts val="0"/>
              </a:spcAft>
            </a:pPr>
            <a:r>
              <a:rPr sz="2200" b="0">
                <a:solidFill>
                  <a:srgbClr val="172B2A"/>
                </a:solidFill>
                <a:latin typeface="Noto Sans CJK KR"/>
                <a:ea typeface="Noto Sans CJK KR"/>
                <a:latin typeface="Noto Sans CJK KR"/>
              </a:rPr>
              <a:t>Day 27 Mini Server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Agent 내부 교육 · 설계와 검증</dc:title>
  <dc:subject>본문 60장 + 부록 12장 · 3회 6시간 · Fake 실습</dc:subject>
  <dc:creator>AI Agent Training</dc:creator>
  <cp:keywords>AI Agent, LangGraph, State, RAG, MCP, HITL, Korean</cp:keywords>
  <dc:description>Based on the supplied internal training plan. New offline educational implementation; not original Day 25 code.</dc:description>
  <cp:lastModifiedBy>Steve Canny</cp:lastModifiedBy>
  <cp:revision>1</cp:revision>
  <dcterms:created xsi:type="dcterms:W3CDTF">2013-01-27T09:14:16Z</dcterms:created>
  <dcterms:modified xsi:type="dcterms:W3CDTF">2013-01-27T09:15:58Z</dcterms:modified>
  <cp:category/>
</cp:coreProperties>
</file>